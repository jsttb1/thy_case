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8" r:id="rId6"/>
    <p:sldId id="259" r:id="rId7"/>
    <p:sldId id="260" r:id="rId8"/>
    <p:sldId id="261" r:id="rId9"/>
    <p:sldId id="264" r:id="rId10"/>
    <p:sldId id="263" r:id="rId11"/>
  </p:sldIdLst>
  <p:sldSz cx="18288000" cy="10287000"/>
  <p:notesSz cx="6858000" cy="9144000"/>
  <p:embeddedFontLst>
    <p:embeddedFont>
      <p:font typeface="Poppins" panose="00000500000000000000" pitchFamily="2" charset="-94"/>
      <p:regular r:id="rId12"/>
      <p:bold r:id="rId13"/>
      <p:italic r:id="rId14"/>
      <p:boldItalic r:id="rId15"/>
    </p:embeddedFont>
    <p:embeddedFont>
      <p:font typeface="Poppins Bold" panose="00000800000000000000" charset="0"/>
      <p:regular r:id="rId16"/>
      <p:bold r:id="rId17"/>
      <p:italic r:id="rId18"/>
      <p:boldItalic r:id="rId19"/>
    </p:embeddedFont>
    <p:embeddedFont>
      <p:font typeface="Poppins Semi-Bold" panose="020B0604020202020204" charset="-94"/>
      <p:regular r:id="rId20"/>
      <p:bold r:id="rId21"/>
      <p:italic r:id="rId22"/>
      <p:boldItalic r:id="rId23"/>
    </p:embeddedFont>
    <p:embeddedFont>
      <p:font typeface="Poppins Thin" panose="00000300000000000000" pitchFamily="2" charset="-94"/>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26" autoAdjust="0"/>
  </p:normalViewPr>
  <p:slideViewPr>
    <p:cSldViewPr>
      <p:cViewPr varScale="1">
        <p:scale>
          <a:sx n="60" d="100"/>
          <a:sy n="60" d="100"/>
        </p:scale>
        <p:origin x="39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font" Target="fonts/font5.fntdata"/><Relationship Id="rId17" Type="http://schemas.openxmlformats.org/officeDocument/2006/relationships/font" Target="fonts/font6.fntdata"/><Relationship Id="rId18" Type="http://schemas.openxmlformats.org/officeDocument/2006/relationships/font" Target="fonts/font7.fntdata"/><Relationship Id="rId19" Type="http://schemas.openxmlformats.org/officeDocument/2006/relationships/font" Target="fonts/font8.fntdata"/><Relationship Id="rId20" Type="http://schemas.openxmlformats.org/officeDocument/2006/relationships/font" Target="fonts/font9.fntdata"/><Relationship Id="rId21" Type="http://schemas.openxmlformats.org/officeDocument/2006/relationships/font" Target="fonts/font10.fntdata"/><Relationship Id="rId22" Type="http://schemas.openxmlformats.org/officeDocument/2006/relationships/font" Target="fonts/font11.fntdata"/><Relationship Id="rId23" Type="http://schemas.openxmlformats.org/officeDocument/2006/relationships/font" Target="fonts/font12.fntdata"/><Relationship Id="rId24" Type="http://schemas.openxmlformats.org/officeDocument/2006/relationships/font" Target="fonts/font13.fntdata"/><Relationship Id="rId25" Type="http://schemas.openxmlformats.org/officeDocument/2006/relationships/font" Target="fonts/font14.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Konsepti tek cümlede veriyoruz: uçaklar için bir kontrol kulesi var, komponentler için yok. Filo %67 büyürken talep %63 ile %68 arası artıyor. Asıl kırılma büyümede değil, talebin yer değiştirmesinde. Bütün sayılar üç resmi veri setinden geliyor ve yeniden üretilebilir.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ve mevcut boşluğu birlikte veriyoruz. 72 parçanın stoğu bitmek üzere ve sipariş bile açılmamış. Bu, azalmayı hesaplayan bir sürecin olmadığının kanıtı. Bu durumu resmi stok verisiyle ilk kez biz ölçtük.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Üç katmanı altı adımda anlatıyoruz. Bağlan ve birleştir ilk faz, öngör ve uyar ikinci faz, harekete geç ve prova et sonraki faz. Fazlar arası geçiş tarihe değil metriğe bağlı. En önemli nokta: mevcut sistemlere hiçbir şey yazmıyoruz, sadece okuyoruz.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Canlı demoyu bu beş ekranda yapıyoruz, altıncı kart güven veren kart. Dashboard tek bir HTML dosyası, USB’den açılıyor ve salon ağına ihtiyaç duymuyor. Her sayı koddan yeniden üretilebiliyor.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Burada dürüst davranıyoruz. Sadece 4 çeyrek veriyle sinir ağı klasik yöntemleri geçemez, çünkü mevsimi öğrenmek için 8 çeyrekten fazla veri gerekir. Ama toplam düzeyde hata binde 4. Yapay zekâ bugün öneri modunda, AMOS olay verisi bağlanınca gerçek değerini gösterecek.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slayt önceliklendirmeyi, kriz dayanıklılığını ve başarı ölçütlerini birlikte veriyor. Akılda kalması gerekenler: üç para kalemi 67,8, 23,3 ve 52 M$. Kabiliyet yatırımı yılda 12,1 M$. Motor krizinde riskli parça 134’ten 477’ye çıkıyor.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Kapanış cümlesini net söyleyip sorulara geçiyoruz. El notunun ikinci sayfasında sık gelen sorular için hazır cevaplar var.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9.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40C4AC15-954A-44BC-9468-D5B2235FAA48}"/>
              </a:ext>
            </a:extLst>
          </p:cNvPr>
          <p:cNvSpPr/>
          <p:nvPr userDrawn="1"/>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2" name="Title 1">
            <a:extLst>
              <a:ext uri="{FF2B5EF4-FFF2-40B4-BE49-F238E27FC236}">
                <a16:creationId xmlns:a16="http://schemas.microsoft.com/office/drawing/2014/main" id="{769AADC2-1C3F-460C-A6B0-A4C520D8B255}"/>
              </a:ext>
            </a:extLst>
          </p:cNvPr>
          <p:cNvSpPr>
            <a:spLocks noGrp="1"/>
          </p:cNvSpPr>
          <p:nvPr>
            <p:ph type="title"/>
          </p:nvPr>
        </p:nvSpPr>
        <p:spPr>
          <a:xfrm>
            <a:off x="9216675" y="4552950"/>
            <a:ext cx="8229600" cy="1143000"/>
          </a:xfrm>
        </p:spPr>
        <p:txBody>
          <a:bodyPr/>
          <a:lstStyle>
            <a:lvl1pPr>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grpSp>
        <p:nvGrpSpPr>
          <p:cNvPr id="7" name="Group 6">
            <a:extLst>
              <a:ext uri="{FF2B5EF4-FFF2-40B4-BE49-F238E27FC236}">
                <a16:creationId xmlns:a16="http://schemas.microsoft.com/office/drawing/2014/main" id="{176B7A02-A1C4-4F4B-87C8-FE783F5BF49D}"/>
              </a:ext>
            </a:extLst>
          </p:cNvPr>
          <p:cNvGrpSpPr/>
          <p:nvPr userDrawn="1"/>
        </p:nvGrpSpPr>
        <p:grpSpPr>
          <a:xfrm>
            <a:off x="6976643" y="9196504"/>
            <a:ext cx="4334713" cy="621106"/>
            <a:chOff x="0" y="0"/>
            <a:chExt cx="5779617" cy="828141"/>
          </a:xfrm>
        </p:grpSpPr>
        <p:grpSp>
          <p:nvGrpSpPr>
            <p:cNvPr id="8" name="Group 7">
              <a:extLst>
                <a:ext uri="{FF2B5EF4-FFF2-40B4-BE49-F238E27FC236}">
                  <a16:creationId xmlns:a16="http://schemas.microsoft.com/office/drawing/2014/main" id="{A12AA141-5B5D-4132-8536-48835EE13883}"/>
                </a:ext>
              </a:extLst>
            </p:cNvPr>
            <p:cNvGrpSpPr>
              <a:grpSpLocks noChangeAspect="1"/>
            </p:cNvGrpSpPr>
            <p:nvPr/>
          </p:nvGrpSpPr>
          <p:grpSpPr>
            <a:xfrm>
              <a:off x="0" y="0"/>
              <a:ext cx="828141" cy="828141"/>
              <a:chOff x="0" y="0"/>
              <a:chExt cx="1283043" cy="1283043"/>
            </a:xfrm>
          </p:grpSpPr>
          <p:sp>
            <p:nvSpPr>
              <p:cNvPr id="28" name="Freeform 9">
                <a:extLst>
                  <a:ext uri="{FF2B5EF4-FFF2-40B4-BE49-F238E27FC236}">
                    <a16:creationId xmlns:a16="http://schemas.microsoft.com/office/drawing/2014/main" id="{31CF3641-4E64-4EC8-A8A5-281A27AD1EA6}"/>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29" name="Freeform 10">
                <a:extLst>
                  <a:ext uri="{FF2B5EF4-FFF2-40B4-BE49-F238E27FC236}">
                    <a16:creationId xmlns:a16="http://schemas.microsoft.com/office/drawing/2014/main" id="{115E3711-7BE4-4F71-B24C-4C5719C8BB43}"/>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9" name="Group 11">
              <a:extLst>
                <a:ext uri="{FF2B5EF4-FFF2-40B4-BE49-F238E27FC236}">
                  <a16:creationId xmlns:a16="http://schemas.microsoft.com/office/drawing/2014/main" id="{C8E7BF4F-B3B1-434D-92DE-8C1125936B04}"/>
                </a:ext>
              </a:extLst>
            </p:cNvPr>
            <p:cNvGrpSpPr>
              <a:grpSpLocks noChangeAspect="1"/>
            </p:cNvGrpSpPr>
            <p:nvPr/>
          </p:nvGrpSpPr>
          <p:grpSpPr>
            <a:xfrm>
              <a:off x="947681" y="221817"/>
              <a:ext cx="1879107" cy="382761"/>
              <a:chOff x="0" y="0"/>
              <a:chExt cx="2911310" cy="593014"/>
            </a:xfrm>
          </p:grpSpPr>
          <p:sp>
            <p:nvSpPr>
              <p:cNvPr id="21" name="Freeform 12">
                <a:extLst>
                  <a:ext uri="{FF2B5EF4-FFF2-40B4-BE49-F238E27FC236}">
                    <a16:creationId xmlns:a16="http://schemas.microsoft.com/office/drawing/2014/main" id="{12748B4F-251C-4026-BF82-BB8C0DF11356}"/>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22" name="Freeform 13">
                <a:extLst>
                  <a:ext uri="{FF2B5EF4-FFF2-40B4-BE49-F238E27FC236}">
                    <a16:creationId xmlns:a16="http://schemas.microsoft.com/office/drawing/2014/main" id="{BF0945CF-C5E7-4D06-A42D-95740C880773}"/>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23" name="Freeform 14">
                <a:extLst>
                  <a:ext uri="{FF2B5EF4-FFF2-40B4-BE49-F238E27FC236}">
                    <a16:creationId xmlns:a16="http://schemas.microsoft.com/office/drawing/2014/main" id="{E46969E5-79AC-4215-B268-98190A393BC8}"/>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24" name="Freeform 15">
                <a:extLst>
                  <a:ext uri="{FF2B5EF4-FFF2-40B4-BE49-F238E27FC236}">
                    <a16:creationId xmlns:a16="http://schemas.microsoft.com/office/drawing/2014/main" id="{ED8D07EA-114F-4D85-B1AC-B69994846A28}"/>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25" name="Freeform 16">
                <a:extLst>
                  <a:ext uri="{FF2B5EF4-FFF2-40B4-BE49-F238E27FC236}">
                    <a16:creationId xmlns:a16="http://schemas.microsoft.com/office/drawing/2014/main" id="{C3A91E56-6A48-4A10-9850-81F1DE8C7856}"/>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26" name="Freeform 17">
                <a:extLst>
                  <a:ext uri="{FF2B5EF4-FFF2-40B4-BE49-F238E27FC236}">
                    <a16:creationId xmlns:a16="http://schemas.microsoft.com/office/drawing/2014/main" id="{5FA1BC0B-D615-473E-9F47-CC8242E88B94}"/>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27" name="Freeform 18">
                <a:extLst>
                  <a:ext uri="{FF2B5EF4-FFF2-40B4-BE49-F238E27FC236}">
                    <a16:creationId xmlns:a16="http://schemas.microsoft.com/office/drawing/2014/main" id="{CE204E05-A309-4083-AA20-1A736BE875B4}"/>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10" name="Group 19">
              <a:extLst>
                <a:ext uri="{FF2B5EF4-FFF2-40B4-BE49-F238E27FC236}">
                  <a16:creationId xmlns:a16="http://schemas.microsoft.com/office/drawing/2014/main" id="{BD658487-BAF0-4C73-9C3A-54368F7B3A95}"/>
                </a:ext>
              </a:extLst>
            </p:cNvPr>
            <p:cNvGrpSpPr>
              <a:grpSpLocks noChangeAspect="1"/>
            </p:cNvGrpSpPr>
            <p:nvPr/>
          </p:nvGrpSpPr>
          <p:grpSpPr>
            <a:xfrm>
              <a:off x="2945722" y="224424"/>
              <a:ext cx="2833895" cy="381901"/>
              <a:chOff x="0" y="0"/>
              <a:chExt cx="4390568" cy="591680"/>
            </a:xfrm>
          </p:grpSpPr>
          <p:sp>
            <p:nvSpPr>
              <p:cNvPr id="11" name="Freeform 20">
                <a:extLst>
                  <a:ext uri="{FF2B5EF4-FFF2-40B4-BE49-F238E27FC236}">
                    <a16:creationId xmlns:a16="http://schemas.microsoft.com/office/drawing/2014/main" id="{0549AEBF-005B-4510-A7EA-4B2835958AED}"/>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12" name="Freeform 21">
                <a:extLst>
                  <a:ext uri="{FF2B5EF4-FFF2-40B4-BE49-F238E27FC236}">
                    <a16:creationId xmlns:a16="http://schemas.microsoft.com/office/drawing/2014/main" id="{8D08EC5B-0B69-4AD0-A8E8-2BFD51985F2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3" name="Freeform 22">
                <a:extLst>
                  <a:ext uri="{FF2B5EF4-FFF2-40B4-BE49-F238E27FC236}">
                    <a16:creationId xmlns:a16="http://schemas.microsoft.com/office/drawing/2014/main" id="{7920755A-CECA-49D5-A680-247CF7E18005}"/>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4" name="Freeform 23">
                <a:extLst>
                  <a:ext uri="{FF2B5EF4-FFF2-40B4-BE49-F238E27FC236}">
                    <a16:creationId xmlns:a16="http://schemas.microsoft.com/office/drawing/2014/main" id="{FF46280E-F03F-439E-BB20-BD9A862AA192}"/>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15" name="Freeform 24">
                <a:extLst>
                  <a:ext uri="{FF2B5EF4-FFF2-40B4-BE49-F238E27FC236}">
                    <a16:creationId xmlns:a16="http://schemas.microsoft.com/office/drawing/2014/main" id="{84AD506E-2454-4FD3-A311-8CDA69E3B31B}"/>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16" name="Freeform 25">
                <a:extLst>
                  <a:ext uri="{FF2B5EF4-FFF2-40B4-BE49-F238E27FC236}">
                    <a16:creationId xmlns:a16="http://schemas.microsoft.com/office/drawing/2014/main" id="{80671D13-3FEA-40CF-B237-3A05DB8CB3C3}"/>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17" name="Freeform 26">
                <a:extLst>
                  <a:ext uri="{FF2B5EF4-FFF2-40B4-BE49-F238E27FC236}">
                    <a16:creationId xmlns:a16="http://schemas.microsoft.com/office/drawing/2014/main" id="{51C4A3F6-22B1-44D0-994E-2BB1BD67DF92}"/>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18" name="Freeform 27">
                <a:extLst>
                  <a:ext uri="{FF2B5EF4-FFF2-40B4-BE49-F238E27FC236}">
                    <a16:creationId xmlns:a16="http://schemas.microsoft.com/office/drawing/2014/main" id="{C6D2EE4D-799B-4F3E-8B4D-E0DB83F6EFB8}"/>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19" name="Freeform 28">
                <a:extLst>
                  <a:ext uri="{FF2B5EF4-FFF2-40B4-BE49-F238E27FC236}">
                    <a16:creationId xmlns:a16="http://schemas.microsoft.com/office/drawing/2014/main" id="{7DBA7BDC-4674-48AC-B828-35508A5E7EA8}"/>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20" name="Freeform 29">
                <a:extLst>
                  <a:ext uri="{FF2B5EF4-FFF2-40B4-BE49-F238E27FC236}">
                    <a16:creationId xmlns:a16="http://schemas.microsoft.com/office/drawing/2014/main" id="{AA7D8E4A-18AD-4852-9669-83FC41A29BF4}"/>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2851136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8" name="Freeform 2">
            <a:extLst>
              <a:ext uri="{FF2B5EF4-FFF2-40B4-BE49-F238E27FC236}">
                <a16:creationId xmlns:a16="http://schemas.microsoft.com/office/drawing/2014/main" id="{508216EF-A89F-4D58-8E44-45CE1261C1A2}"/>
              </a:ext>
            </a:extLst>
          </p:cNvPr>
          <p:cNvSpPr/>
          <p:nvPr userDrawn="1"/>
        </p:nvSpPr>
        <p:spPr>
          <a:xfrm>
            <a:off x="0" y="0"/>
            <a:ext cx="18288000" cy="10287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stretch>
              <a:fillRect t="-1" b="-18518"/>
            </a:stretch>
          </a:blipFill>
        </p:spPr>
        <p:txBody>
          <a:bodyPr/>
          <a:lstStyle/>
          <a:p>
            <a:endParaRPr lang="tr-TR" dirty="0"/>
          </a:p>
        </p:txBody>
      </p:sp>
      <p:sp>
        <p:nvSpPr>
          <p:cNvPr id="34" name="Title 1">
            <a:extLst>
              <a:ext uri="{FF2B5EF4-FFF2-40B4-BE49-F238E27FC236}">
                <a16:creationId xmlns:a16="http://schemas.microsoft.com/office/drawing/2014/main" id="{70760D11-C4FA-427E-8722-C00F5C68E954}"/>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grpSp>
        <p:nvGrpSpPr>
          <p:cNvPr id="35" name="Group 4">
            <a:extLst>
              <a:ext uri="{FF2B5EF4-FFF2-40B4-BE49-F238E27FC236}">
                <a16:creationId xmlns:a16="http://schemas.microsoft.com/office/drawing/2014/main" id="{CEFD4E07-C615-492B-B1FC-AF3BFE06D172}"/>
              </a:ext>
            </a:extLst>
          </p:cNvPr>
          <p:cNvGrpSpPr/>
          <p:nvPr userDrawn="1"/>
        </p:nvGrpSpPr>
        <p:grpSpPr>
          <a:xfrm>
            <a:off x="13518898" y="718147"/>
            <a:ext cx="4334713" cy="621106"/>
            <a:chOff x="0" y="0"/>
            <a:chExt cx="5779617" cy="828141"/>
          </a:xfrm>
        </p:grpSpPr>
        <p:grpSp>
          <p:nvGrpSpPr>
            <p:cNvPr id="36" name="Group 5">
              <a:extLst>
                <a:ext uri="{FF2B5EF4-FFF2-40B4-BE49-F238E27FC236}">
                  <a16:creationId xmlns:a16="http://schemas.microsoft.com/office/drawing/2014/main" id="{63901E4B-AEEB-4E94-9CC2-EF91635FF260}"/>
                </a:ext>
              </a:extLst>
            </p:cNvPr>
            <p:cNvGrpSpPr>
              <a:grpSpLocks noChangeAspect="1"/>
            </p:cNvGrpSpPr>
            <p:nvPr/>
          </p:nvGrpSpPr>
          <p:grpSpPr>
            <a:xfrm>
              <a:off x="0" y="0"/>
              <a:ext cx="828141" cy="828141"/>
              <a:chOff x="0" y="0"/>
              <a:chExt cx="1283043" cy="1283043"/>
            </a:xfrm>
          </p:grpSpPr>
          <p:sp>
            <p:nvSpPr>
              <p:cNvPr id="56" name="Freeform 6">
                <a:extLst>
                  <a:ext uri="{FF2B5EF4-FFF2-40B4-BE49-F238E27FC236}">
                    <a16:creationId xmlns:a16="http://schemas.microsoft.com/office/drawing/2014/main" id="{E3A37A19-C2DC-4157-8E9C-326067E4B53E}"/>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7" name="Freeform 7">
                <a:extLst>
                  <a:ext uri="{FF2B5EF4-FFF2-40B4-BE49-F238E27FC236}">
                    <a16:creationId xmlns:a16="http://schemas.microsoft.com/office/drawing/2014/main" id="{973D83A2-E4E2-47AA-AF74-299944A4B5DF}"/>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7" name="Group 8">
              <a:extLst>
                <a:ext uri="{FF2B5EF4-FFF2-40B4-BE49-F238E27FC236}">
                  <a16:creationId xmlns:a16="http://schemas.microsoft.com/office/drawing/2014/main" id="{FE3D0489-9F37-4E04-9F31-3B41A467D79A}"/>
                </a:ext>
              </a:extLst>
            </p:cNvPr>
            <p:cNvGrpSpPr>
              <a:grpSpLocks noChangeAspect="1"/>
            </p:cNvGrpSpPr>
            <p:nvPr/>
          </p:nvGrpSpPr>
          <p:grpSpPr>
            <a:xfrm>
              <a:off x="947681" y="221817"/>
              <a:ext cx="1879107" cy="382761"/>
              <a:chOff x="0" y="0"/>
              <a:chExt cx="2911310" cy="593014"/>
            </a:xfrm>
          </p:grpSpPr>
          <p:sp>
            <p:nvSpPr>
              <p:cNvPr id="49" name="Freeform 9">
                <a:extLst>
                  <a:ext uri="{FF2B5EF4-FFF2-40B4-BE49-F238E27FC236}">
                    <a16:creationId xmlns:a16="http://schemas.microsoft.com/office/drawing/2014/main" id="{66EE2414-CC9F-4157-ABA4-9EB54A12AE2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50" name="Freeform 10">
                <a:extLst>
                  <a:ext uri="{FF2B5EF4-FFF2-40B4-BE49-F238E27FC236}">
                    <a16:creationId xmlns:a16="http://schemas.microsoft.com/office/drawing/2014/main" id="{D736DEDA-62F8-4D44-9BD6-9D5BAE52188A}"/>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51" name="Freeform 11">
                <a:extLst>
                  <a:ext uri="{FF2B5EF4-FFF2-40B4-BE49-F238E27FC236}">
                    <a16:creationId xmlns:a16="http://schemas.microsoft.com/office/drawing/2014/main" id="{C4283476-0867-466C-9FAF-8E955BFBB3A8}"/>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2" name="Freeform 12">
                <a:extLst>
                  <a:ext uri="{FF2B5EF4-FFF2-40B4-BE49-F238E27FC236}">
                    <a16:creationId xmlns:a16="http://schemas.microsoft.com/office/drawing/2014/main" id="{0D37A1C9-53E2-40B7-9584-22603D638F27}"/>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3" name="Freeform 13">
                <a:extLst>
                  <a:ext uri="{FF2B5EF4-FFF2-40B4-BE49-F238E27FC236}">
                    <a16:creationId xmlns:a16="http://schemas.microsoft.com/office/drawing/2014/main" id="{5D2CE67F-2091-485E-9D7C-0DF111781B33}"/>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4" name="Freeform 14">
                <a:extLst>
                  <a:ext uri="{FF2B5EF4-FFF2-40B4-BE49-F238E27FC236}">
                    <a16:creationId xmlns:a16="http://schemas.microsoft.com/office/drawing/2014/main" id="{4D387D02-7888-48D1-B427-78324A42E7B0}"/>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5" name="Freeform 15">
                <a:extLst>
                  <a:ext uri="{FF2B5EF4-FFF2-40B4-BE49-F238E27FC236}">
                    <a16:creationId xmlns:a16="http://schemas.microsoft.com/office/drawing/2014/main" id="{6FACC14B-D67E-4B97-A61E-33CB170122FB}"/>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8" name="Group 16">
              <a:extLst>
                <a:ext uri="{FF2B5EF4-FFF2-40B4-BE49-F238E27FC236}">
                  <a16:creationId xmlns:a16="http://schemas.microsoft.com/office/drawing/2014/main" id="{8F441BDC-0C84-44EC-AD57-9B00A3942B2D}"/>
                </a:ext>
              </a:extLst>
            </p:cNvPr>
            <p:cNvGrpSpPr>
              <a:grpSpLocks noChangeAspect="1"/>
            </p:cNvGrpSpPr>
            <p:nvPr/>
          </p:nvGrpSpPr>
          <p:grpSpPr>
            <a:xfrm>
              <a:off x="2945722" y="224424"/>
              <a:ext cx="2833895" cy="381901"/>
              <a:chOff x="0" y="0"/>
              <a:chExt cx="4390568" cy="591680"/>
            </a:xfrm>
          </p:grpSpPr>
          <p:sp>
            <p:nvSpPr>
              <p:cNvPr id="39" name="Freeform 17">
                <a:extLst>
                  <a:ext uri="{FF2B5EF4-FFF2-40B4-BE49-F238E27FC236}">
                    <a16:creationId xmlns:a16="http://schemas.microsoft.com/office/drawing/2014/main" id="{08C68AF8-5140-4C0F-A904-9CA24C766E2A}"/>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40" name="Freeform 18">
                <a:extLst>
                  <a:ext uri="{FF2B5EF4-FFF2-40B4-BE49-F238E27FC236}">
                    <a16:creationId xmlns:a16="http://schemas.microsoft.com/office/drawing/2014/main" id="{7796FC22-33C6-4B5C-8DC7-000F591EF3B7}"/>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1" name="Freeform 19">
                <a:extLst>
                  <a:ext uri="{FF2B5EF4-FFF2-40B4-BE49-F238E27FC236}">
                    <a16:creationId xmlns:a16="http://schemas.microsoft.com/office/drawing/2014/main" id="{FC40512E-113A-40C9-BC8F-A778FAE01414}"/>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2" name="Freeform 20">
                <a:extLst>
                  <a:ext uri="{FF2B5EF4-FFF2-40B4-BE49-F238E27FC236}">
                    <a16:creationId xmlns:a16="http://schemas.microsoft.com/office/drawing/2014/main" id="{8C4BF50B-2838-464A-971D-5B6EBF6E91B9}"/>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3" name="Freeform 21">
                <a:extLst>
                  <a:ext uri="{FF2B5EF4-FFF2-40B4-BE49-F238E27FC236}">
                    <a16:creationId xmlns:a16="http://schemas.microsoft.com/office/drawing/2014/main" id="{28A67A83-00B4-4C5E-A3B4-952B46473FCC}"/>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4" name="Freeform 22">
                <a:extLst>
                  <a:ext uri="{FF2B5EF4-FFF2-40B4-BE49-F238E27FC236}">
                    <a16:creationId xmlns:a16="http://schemas.microsoft.com/office/drawing/2014/main" id="{60174425-7552-45FB-8B8A-5D3FDC61EF39}"/>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5" name="Freeform 23">
                <a:extLst>
                  <a:ext uri="{FF2B5EF4-FFF2-40B4-BE49-F238E27FC236}">
                    <a16:creationId xmlns:a16="http://schemas.microsoft.com/office/drawing/2014/main" id="{F26A273A-6738-4B21-A393-135451136725}"/>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6" name="Freeform 24">
                <a:extLst>
                  <a:ext uri="{FF2B5EF4-FFF2-40B4-BE49-F238E27FC236}">
                    <a16:creationId xmlns:a16="http://schemas.microsoft.com/office/drawing/2014/main" id="{2E8E12EB-2639-4AB9-9DD8-E8586E0E98D7}"/>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7" name="Freeform 25">
                <a:extLst>
                  <a:ext uri="{FF2B5EF4-FFF2-40B4-BE49-F238E27FC236}">
                    <a16:creationId xmlns:a16="http://schemas.microsoft.com/office/drawing/2014/main" id="{B3B2333A-D6AC-4696-85BA-506DB474F919}"/>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8" name="Freeform 26">
                <a:extLst>
                  <a:ext uri="{FF2B5EF4-FFF2-40B4-BE49-F238E27FC236}">
                    <a16:creationId xmlns:a16="http://schemas.microsoft.com/office/drawing/2014/main" id="{FCB85B5F-6249-4B9E-A528-0777324D291A}"/>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1050738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843B346-0BDA-48EC-90EA-8C0CB7CDF898}"/>
              </a:ext>
            </a:extLst>
          </p:cNvPr>
          <p:cNvSpPr/>
          <p:nvPr userDrawn="1"/>
        </p:nvSpPr>
        <p:spPr>
          <a:xfrm>
            <a:off x="4119"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Freeform 3">
            <a:extLst>
              <a:ext uri="{FF2B5EF4-FFF2-40B4-BE49-F238E27FC236}">
                <a16:creationId xmlns:a16="http://schemas.microsoft.com/office/drawing/2014/main" id="{1C771FF6-6185-4792-A104-F45147685D95}"/>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2">
              <a:alphaModFix amt="52000"/>
              <a:extLst>
                <a:ext uri="{96DAC541-7B7A-43D3-8B79-37D633B846F1}">
                  <asvg:svgBlip xmlns:asvg="http://schemas.microsoft.com/office/drawing/2016/SVG/main" r:embed="rId3"/>
                </a:ext>
              </a:extLst>
            </a:blip>
            <a:stretch>
              <a:fillRect/>
            </a:stretch>
          </a:blipFill>
        </p:spPr>
      </p:sp>
      <p:sp>
        <p:nvSpPr>
          <p:cNvPr id="32" name="Freeform 2">
            <a:extLst>
              <a:ext uri="{FF2B5EF4-FFF2-40B4-BE49-F238E27FC236}">
                <a16:creationId xmlns:a16="http://schemas.microsoft.com/office/drawing/2014/main" id="{992514EF-E9CA-4249-B47D-29640FE39AA3}"/>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4">
              <a:alphaModFix amt="57000"/>
              <a:extLst>
                <a:ext uri="{96DAC541-7B7A-43D3-8B79-37D633B846F1}">
                  <asvg:svgBlip xmlns:asvg="http://schemas.microsoft.com/office/drawing/2016/SVG/main" r:embed="rId5"/>
                </a:ext>
              </a:extLst>
            </a:blip>
            <a:stretch>
              <a:fillRect/>
            </a:stretch>
          </a:blipFill>
        </p:spPr>
      </p:sp>
      <p:grpSp>
        <p:nvGrpSpPr>
          <p:cNvPr id="33" name="Group 4">
            <a:extLst>
              <a:ext uri="{FF2B5EF4-FFF2-40B4-BE49-F238E27FC236}">
                <a16:creationId xmlns:a16="http://schemas.microsoft.com/office/drawing/2014/main" id="{0932FD14-02B2-433D-B50F-BBA0ABBA1DFC}"/>
              </a:ext>
            </a:extLst>
          </p:cNvPr>
          <p:cNvGrpSpPr/>
          <p:nvPr userDrawn="1"/>
        </p:nvGrpSpPr>
        <p:grpSpPr>
          <a:xfrm>
            <a:off x="13518898" y="718147"/>
            <a:ext cx="4334713" cy="621106"/>
            <a:chOff x="0" y="0"/>
            <a:chExt cx="5779617" cy="828141"/>
          </a:xfrm>
        </p:grpSpPr>
        <p:grpSp>
          <p:nvGrpSpPr>
            <p:cNvPr id="34" name="Group 5">
              <a:extLst>
                <a:ext uri="{FF2B5EF4-FFF2-40B4-BE49-F238E27FC236}">
                  <a16:creationId xmlns:a16="http://schemas.microsoft.com/office/drawing/2014/main" id="{19FEB6D3-1F91-4FA3-9786-17D88D1B16BD}"/>
                </a:ext>
              </a:extLst>
            </p:cNvPr>
            <p:cNvGrpSpPr>
              <a:grpSpLocks noChangeAspect="1"/>
            </p:cNvGrpSpPr>
            <p:nvPr/>
          </p:nvGrpSpPr>
          <p:grpSpPr>
            <a:xfrm>
              <a:off x="0" y="0"/>
              <a:ext cx="828141" cy="828141"/>
              <a:chOff x="0" y="0"/>
              <a:chExt cx="1283043" cy="1283043"/>
            </a:xfrm>
          </p:grpSpPr>
          <p:sp>
            <p:nvSpPr>
              <p:cNvPr id="54" name="Freeform 6">
                <a:extLst>
                  <a:ext uri="{FF2B5EF4-FFF2-40B4-BE49-F238E27FC236}">
                    <a16:creationId xmlns:a16="http://schemas.microsoft.com/office/drawing/2014/main" id="{AE993564-4ED4-4A01-95A3-B93BE0E728FF}"/>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5" name="Freeform 7">
                <a:extLst>
                  <a:ext uri="{FF2B5EF4-FFF2-40B4-BE49-F238E27FC236}">
                    <a16:creationId xmlns:a16="http://schemas.microsoft.com/office/drawing/2014/main" id="{64124EF2-AEAD-4D2C-B2C5-23BB228434D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5" name="Group 8">
              <a:extLst>
                <a:ext uri="{FF2B5EF4-FFF2-40B4-BE49-F238E27FC236}">
                  <a16:creationId xmlns:a16="http://schemas.microsoft.com/office/drawing/2014/main" id="{2BB34548-B27D-4244-A58E-0FAF1D4FE79F}"/>
                </a:ext>
              </a:extLst>
            </p:cNvPr>
            <p:cNvGrpSpPr>
              <a:grpSpLocks noChangeAspect="1"/>
            </p:cNvGrpSpPr>
            <p:nvPr/>
          </p:nvGrpSpPr>
          <p:grpSpPr>
            <a:xfrm>
              <a:off x="947681" y="221817"/>
              <a:ext cx="1879107" cy="382761"/>
              <a:chOff x="0" y="0"/>
              <a:chExt cx="2911310" cy="593014"/>
            </a:xfrm>
          </p:grpSpPr>
          <p:sp>
            <p:nvSpPr>
              <p:cNvPr id="47" name="Freeform 9">
                <a:extLst>
                  <a:ext uri="{FF2B5EF4-FFF2-40B4-BE49-F238E27FC236}">
                    <a16:creationId xmlns:a16="http://schemas.microsoft.com/office/drawing/2014/main" id="{0F7663D9-4013-4C9F-9C9C-41455CF1D69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48" name="Freeform 10">
                <a:extLst>
                  <a:ext uri="{FF2B5EF4-FFF2-40B4-BE49-F238E27FC236}">
                    <a16:creationId xmlns:a16="http://schemas.microsoft.com/office/drawing/2014/main" id="{F45A11AC-A88D-4517-AF75-A08C8CF2600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49" name="Freeform 11">
                <a:extLst>
                  <a:ext uri="{FF2B5EF4-FFF2-40B4-BE49-F238E27FC236}">
                    <a16:creationId xmlns:a16="http://schemas.microsoft.com/office/drawing/2014/main" id="{F2779BA5-04A9-44D2-85A0-BCDABFFB6A8F}"/>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0" name="Freeform 12">
                <a:extLst>
                  <a:ext uri="{FF2B5EF4-FFF2-40B4-BE49-F238E27FC236}">
                    <a16:creationId xmlns:a16="http://schemas.microsoft.com/office/drawing/2014/main" id="{2C40D997-0D94-42F7-8FF9-635D09AFD0A3}"/>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1" name="Freeform 13">
                <a:extLst>
                  <a:ext uri="{FF2B5EF4-FFF2-40B4-BE49-F238E27FC236}">
                    <a16:creationId xmlns:a16="http://schemas.microsoft.com/office/drawing/2014/main" id="{9D759767-8702-4FEB-A633-CD1F3ACBF3B4}"/>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2" name="Freeform 14">
                <a:extLst>
                  <a:ext uri="{FF2B5EF4-FFF2-40B4-BE49-F238E27FC236}">
                    <a16:creationId xmlns:a16="http://schemas.microsoft.com/office/drawing/2014/main" id="{7A2F4CE0-EA9B-4F94-8261-EB12D277E0FF}"/>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3" name="Freeform 15">
                <a:extLst>
                  <a:ext uri="{FF2B5EF4-FFF2-40B4-BE49-F238E27FC236}">
                    <a16:creationId xmlns:a16="http://schemas.microsoft.com/office/drawing/2014/main" id="{41DF17C3-3128-4C56-AAE4-6ABA6CFD0009}"/>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6" name="Group 16">
              <a:extLst>
                <a:ext uri="{FF2B5EF4-FFF2-40B4-BE49-F238E27FC236}">
                  <a16:creationId xmlns:a16="http://schemas.microsoft.com/office/drawing/2014/main" id="{8EC8E79F-1B7A-44AE-96E9-2057A6B65584}"/>
                </a:ext>
              </a:extLst>
            </p:cNvPr>
            <p:cNvGrpSpPr>
              <a:grpSpLocks noChangeAspect="1"/>
            </p:cNvGrpSpPr>
            <p:nvPr/>
          </p:nvGrpSpPr>
          <p:grpSpPr>
            <a:xfrm>
              <a:off x="2945722" y="224424"/>
              <a:ext cx="2833895" cy="381901"/>
              <a:chOff x="0" y="0"/>
              <a:chExt cx="4390568" cy="591680"/>
            </a:xfrm>
          </p:grpSpPr>
          <p:sp>
            <p:nvSpPr>
              <p:cNvPr id="37" name="Freeform 17">
                <a:extLst>
                  <a:ext uri="{FF2B5EF4-FFF2-40B4-BE49-F238E27FC236}">
                    <a16:creationId xmlns:a16="http://schemas.microsoft.com/office/drawing/2014/main" id="{32A4972F-9207-4FF3-B359-2B89379248F3}"/>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38" name="Freeform 18">
                <a:extLst>
                  <a:ext uri="{FF2B5EF4-FFF2-40B4-BE49-F238E27FC236}">
                    <a16:creationId xmlns:a16="http://schemas.microsoft.com/office/drawing/2014/main" id="{B7067479-4723-4FC5-86E5-3980C4C364C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39" name="Freeform 19">
                <a:extLst>
                  <a:ext uri="{FF2B5EF4-FFF2-40B4-BE49-F238E27FC236}">
                    <a16:creationId xmlns:a16="http://schemas.microsoft.com/office/drawing/2014/main" id="{D2A04E69-568D-47F8-8740-45FF536D7BFE}"/>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0" name="Freeform 20">
                <a:extLst>
                  <a:ext uri="{FF2B5EF4-FFF2-40B4-BE49-F238E27FC236}">
                    <a16:creationId xmlns:a16="http://schemas.microsoft.com/office/drawing/2014/main" id="{4A22F991-2EF5-40C2-B66E-11453E5593F0}"/>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1" name="Freeform 21">
                <a:extLst>
                  <a:ext uri="{FF2B5EF4-FFF2-40B4-BE49-F238E27FC236}">
                    <a16:creationId xmlns:a16="http://schemas.microsoft.com/office/drawing/2014/main" id="{41B8589B-998A-4253-97B6-A1C867D78C07}"/>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2" name="Freeform 22">
                <a:extLst>
                  <a:ext uri="{FF2B5EF4-FFF2-40B4-BE49-F238E27FC236}">
                    <a16:creationId xmlns:a16="http://schemas.microsoft.com/office/drawing/2014/main" id="{7DDB87FD-2D87-44BE-AB0F-CD439261811E}"/>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3" name="Freeform 23">
                <a:extLst>
                  <a:ext uri="{FF2B5EF4-FFF2-40B4-BE49-F238E27FC236}">
                    <a16:creationId xmlns:a16="http://schemas.microsoft.com/office/drawing/2014/main" id="{522BA807-47DC-4CBD-A184-9C6672308A5E}"/>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4" name="Freeform 24">
                <a:extLst>
                  <a:ext uri="{FF2B5EF4-FFF2-40B4-BE49-F238E27FC236}">
                    <a16:creationId xmlns:a16="http://schemas.microsoft.com/office/drawing/2014/main" id="{4A27304F-C8FA-4F23-A266-014452F2F1FF}"/>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5" name="Freeform 25">
                <a:extLst>
                  <a:ext uri="{FF2B5EF4-FFF2-40B4-BE49-F238E27FC236}">
                    <a16:creationId xmlns:a16="http://schemas.microsoft.com/office/drawing/2014/main" id="{E56175CA-CA1F-4F51-AC08-A9CDB10D8C21}"/>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6" name="Freeform 26">
                <a:extLst>
                  <a:ext uri="{FF2B5EF4-FFF2-40B4-BE49-F238E27FC236}">
                    <a16:creationId xmlns:a16="http://schemas.microsoft.com/office/drawing/2014/main" id="{349958DF-31C4-4390-A2E1-FEF77DE4C570}"/>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
        <p:nvSpPr>
          <p:cNvPr id="56" name="Title 1">
            <a:extLst>
              <a:ext uri="{FF2B5EF4-FFF2-40B4-BE49-F238E27FC236}">
                <a16:creationId xmlns:a16="http://schemas.microsoft.com/office/drawing/2014/main" id="{389A56A2-FB3E-46F1-B449-8EC94C17F0C0}"/>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843B346-0BDA-48EC-90EA-8C0CB7CDF898}"/>
              </a:ext>
            </a:extLst>
          </p:cNvPr>
          <p:cNvSpPr/>
          <p:nvPr userDrawn="1"/>
        </p:nvSpPr>
        <p:spPr>
          <a:xfrm>
            <a:off x="4119"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Freeform 3">
            <a:extLst>
              <a:ext uri="{FF2B5EF4-FFF2-40B4-BE49-F238E27FC236}">
                <a16:creationId xmlns:a16="http://schemas.microsoft.com/office/drawing/2014/main" id="{1C771FF6-6185-4792-A104-F45147685D95}"/>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2">
              <a:alphaModFix amt="52000"/>
              <a:extLst>
                <a:ext uri="{96DAC541-7B7A-43D3-8B79-37D633B846F1}">
                  <asvg:svgBlip xmlns:asvg="http://schemas.microsoft.com/office/drawing/2016/SVG/main" r:embed="rId3"/>
                </a:ext>
              </a:extLst>
            </a:blip>
            <a:stretch>
              <a:fillRect/>
            </a:stretch>
          </a:blipFill>
        </p:spPr>
      </p:sp>
      <p:sp>
        <p:nvSpPr>
          <p:cNvPr id="32" name="Freeform 2">
            <a:extLst>
              <a:ext uri="{FF2B5EF4-FFF2-40B4-BE49-F238E27FC236}">
                <a16:creationId xmlns:a16="http://schemas.microsoft.com/office/drawing/2014/main" id="{992514EF-E9CA-4249-B47D-29640FE39AA3}"/>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4">
              <a:alphaModFix amt="57000"/>
              <a:extLst>
                <a:ext uri="{96DAC541-7B7A-43D3-8B79-37D633B846F1}">
                  <asvg:svgBlip xmlns:asvg="http://schemas.microsoft.com/office/drawing/2016/SVG/main" r:embed="rId5"/>
                </a:ext>
              </a:extLst>
            </a:blip>
            <a:stretch>
              <a:fillRect/>
            </a:stretch>
          </a:blipFill>
        </p:spPr>
      </p:sp>
      <p:grpSp>
        <p:nvGrpSpPr>
          <p:cNvPr id="33" name="Group 4">
            <a:extLst>
              <a:ext uri="{FF2B5EF4-FFF2-40B4-BE49-F238E27FC236}">
                <a16:creationId xmlns:a16="http://schemas.microsoft.com/office/drawing/2014/main" id="{0932FD14-02B2-433D-B50F-BBA0ABBA1DFC}"/>
              </a:ext>
            </a:extLst>
          </p:cNvPr>
          <p:cNvGrpSpPr/>
          <p:nvPr userDrawn="1"/>
        </p:nvGrpSpPr>
        <p:grpSpPr>
          <a:xfrm>
            <a:off x="13518898" y="718147"/>
            <a:ext cx="4334713" cy="621106"/>
            <a:chOff x="0" y="0"/>
            <a:chExt cx="5779617" cy="828141"/>
          </a:xfrm>
        </p:grpSpPr>
        <p:grpSp>
          <p:nvGrpSpPr>
            <p:cNvPr id="34" name="Group 5">
              <a:extLst>
                <a:ext uri="{FF2B5EF4-FFF2-40B4-BE49-F238E27FC236}">
                  <a16:creationId xmlns:a16="http://schemas.microsoft.com/office/drawing/2014/main" id="{19FEB6D3-1F91-4FA3-9786-17D88D1B16BD}"/>
                </a:ext>
              </a:extLst>
            </p:cNvPr>
            <p:cNvGrpSpPr>
              <a:grpSpLocks noChangeAspect="1"/>
            </p:cNvGrpSpPr>
            <p:nvPr/>
          </p:nvGrpSpPr>
          <p:grpSpPr>
            <a:xfrm>
              <a:off x="0" y="0"/>
              <a:ext cx="828141" cy="828141"/>
              <a:chOff x="0" y="0"/>
              <a:chExt cx="1283043" cy="1283043"/>
            </a:xfrm>
          </p:grpSpPr>
          <p:sp>
            <p:nvSpPr>
              <p:cNvPr id="54" name="Freeform 6">
                <a:extLst>
                  <a:ext uri="{FF2B5EF4-FFF2-40B4-BE49-F238E27FC236}">
                    <a16:creationId xmlns:a16="http://schemas.microsoft.com/office/drawing/2014/main" id="{AE993564-4ED4-4A01-95A3-B93BE0E728FF}"/>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5" name="Freeform 7">
                <a:extLst>
                  <a:ext uri="{FF2B5EF4-FFF2-40B4-BE49-F238E27FC236}">
                    <a16:creationId xmlns:a16="http://schemas.microsoft.com/office/drawing/2014/main" id="{64124EF2-AEAD-4D2C-B2C5-23BB228434D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5" name="Group 8">
              <a:extLst>
                <a:ext uri="{FF2B5EF4-FFF2-40B4-BE49-F238E27FC236}">
                  <a16:creationId xmlns:a16="http://schemas.microsoft.com/office/drawing/2014/main" id="{2BB34548-B27D-4244-A58E-0FAF1D4FE79F}"/>
                </a:ext>
              </a:extLst>
            </p:cNvPr>
            <p:cNvGrpSpPr>
              <a:grpSpLocks noChangeAspect="1"/>
            </p:cNvGrpSpPr>
            <p:nvPr/>
          </p:nvGrpSpPr>
          <p:grpSpPr>
            <a:xfrm>
              <a:off x="947681" y="221817"/>
              <a:ext cx="1879107" cy="382761"/>
              <a:chOff x="0" y="0"/>
              <a:chExt cx="2911310" cy="593014"/>
            </a:xfrm>
          </p:grpSpPr>
          <p:sp>
            <p:nvSpPr>
              <p:cNvPr id="47" name="Freeform 9">
                <a:extLst>
                  <a:ext uri="{FF2B5EF4-FFF2-40B4-BE49-F238E27FC236}">
                    <a16:creationId xmlns:a16="http://schemas.microsoft.com/office/drawing/2014/main" id="{0F7663D9-4013-4C9F-9C9C-41455CF1D69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48" name="Freeform 10">
                <a:extLst>
                  <a:ext uri="{FF2B5EF4-FFF2-40B4-BE49-F238E27FC236}">
                    <a16:creationId xmlns:a16="http://schemas.microsoft.com/office/drawing/2014/main" id="{F45A11AC-A88D-4517-AF75-A08C8CF2600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49" name="Freeform 11">
                <a:extLst>
                  <a:ext uri="{FF2B5EF4-FFF2-40B4-BE49-F238E27FC236}">
                    <a16:creationId xmlns:a16="http://schemas.microsoft.com/office/drawing/2014/main" id="{F2779BA5-04A9-44D2-85A0-BCDABFFB6A8F}"/>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0" name="Freeform 12">
                <a:extLst>
                  <a:ext uri="{FF2B5EF4-FFF2-40B4-BE49-F238E27FC236}">
                    <a16:creationId xmlns:a16="http://schemas.microsoft.com/office/drawing/2014/main" id="{2C40D997-0D94-42F7-8FF9-635D09AFD0A3}"/>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1" name="Freeform 13">
                <a:extLst>
                  <a:ext uri="{FF2B5EF4-FFF2-40B4-BE49-F238E27FC236}">
                    <a16:creationId xmlns:a16="http://schemas.microsoft.com/office/drawing/2014/main" id="{9D759767-8702-4FEB-A633-CD1F3ACBF3B4}"/>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2" name="Freeform 14">
                <a:extLst>
                  <a:ext uri="{FF2B5EF4-FFF2-40B4-BE49-F238E27FC236}">
                    <a16:creationId xmlns:a16="http://schemas.microsoft.com/office/drawing/2014/main" id="{7A2F4CE0-EA9B-4F94-8261-EB12D277E0FF}"/>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3" name="Freeform 15">
                <a:extLst>
                  <a:ext uri="{FF2B5EF4-FFF2-40B4-BE49-F238E27FC236}">
                    <a16:creationId xmlns:a16="http://schemas.microsoft.com/office/drawing/2014/main" id="{41DF17C3-3128-4C56-AAE4-6ABA6CFD0009}"/>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6" name="Group 16">
              <a:extLst>
                <a:ext uri="{FF2B5EF4-FFF2-40B4-BE49-F238E27FC236}">
                  <a16:creationId xmlns:a16="http://schemas.microsoft.com/office/drawing/2014/main" id="{8EC8E79F-1B7A-44AE-96E9-2057A6B65584}"/>
                </a:ext>
              </a:extLst>
            </p:cNvPr>
            <p:cNvGrpSpPr>
              <a:grpSpLocks noChangeAspect="1"/>
            </p:cNvGrpSpPr>
            <p:nvPr/>
          </p:nvGrpSpPr>
          <p:grpSpPr>
            <a:xfrm>
              <a:off x="2945722" y="224424"/>
              <a:ext cx="2833895" cy="381901"/>
              <a:chOff x="0" y="0"/>
              <a:chExt cx="4390568" cy="591680"/>
            </a:xfrm>
          </p:grpSpPr>
          <p:sp>
            <p:nvSpPr>
              <p:cNvPr id="37" name="Freeform 17">
                <a:extLst>
                  <a:ext uri="{FF2B5EF4-FFF2-40B4-BE49-F238E27FC236}">
                    <a16:creationId xmlns:a16="http://schemas.microsoft.com/office/drawing/2014/main" id="{32A4972F-9207-4FF3-B359-2B89379248F3}"/>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38" name="Freeform 18">
                <a:extLst>
                  <a:ext uri="{FF2B5EF4-FFF2-40B4-BE49-F238E27FC236}">
                    <a16:creationId xmlns:a16="http://schemas.microsoft.com/office/drawing/2014/main" id="{B7067479-4723-4FC5-86E5-3980C4C364C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39" name="Freeform 19">
                <a:extLst>
                  <a:ext uri="{FF2B5EF4-FFF2-40B4-BE49-F238E27FC236}">
                    <a16:creationId xmlns:a16="http://schemas.microsoft.com/office/drawing/2014/main" id="{D2A04E69-568D-47F8-8740-45FF536D7BFE}"/>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0" name="Freeform 20">
                <a:extLst>
                  <a:ext uri="{FF2B5EF4-FFF2-40B4-BE49-F238E27FC236}">
                    <a16:creationId xmlns:a16="http://schemas.microsoft.com/office/drawing/2014/main" id="{4A22F991-2EF5-40C2-B66E-11453E5593F0}"/>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1" name="Freeform 21">
                <a:extLst>
                  <a:ext uri="{FF2B5EF4-FFF2-40B4-BE49-F238E27FC236}">
                    <a16:creationId xmlns:a16="http://schemas.microsoft.com/office/drawing/2014/main" id="{41B8589B-998A-4253-97B6-A1C867D78C07}"/>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2" name="Freeform 22">
                <a:extLst>
                  <a:ext uri="{FF2B5EF4-FFF2-40B4-BE49-F238E27FC236}">
                    <a16:creationId xmlns:a16="http://schemas.microsoft.com/office/drawing/2014/main" id="{7DDB87FD-2D87-44BE-AB0F-CD439261811E}"/>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3" name="Freeform 23">
                <a:extLst>
                  <a:ext uri="{FF2B5EF4-FFF2-40B4-BE49-F238E27FC236}">
                    <a16:creationId xmlns:a16="http://schemas.microsoft.com/office/drawing/2014/main" id="{522BA807-47DC-4CBD-A184-9C6672308A5E}"/>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4" name="Freeform 24">
                <a:extLst>
                  <a:ext uri="{FF2B5EF4-FFF2-40B4-BE49-F238E27FC236}">
                    <a16:creationId xmlns:a16="http://schemas.microsoft.com/office/drawing/2014/main" id="{4A27304F-C8FA-4F23-A266-014452F2F1FF}"/>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5" name="Freeform 25">
                <a:extLst>
                  <a:ext uri="{FF2B5EF4-FFF2-40B4-BE49-F238E27FC236}">
                    <a16:creationId xmlns:a16="http://schemas.microsoft.com/office/drawing/2014/main" id="{E56175CA-CA1F-4F51-AC08-A9CDB10D8C21}"/>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6" name="Freeform 26">
                <a:extLst>
                  <a:ext uri="{FF2B5EF4-FFF2-40B4-BE49-F238E27FC236}">
                    <a16:creationId xmlns:a16="http://schemas.microsoft.com/office/drawing/2014/main" id="{349958DF-31C4-4390-A2E1-FEF77DE4C570}"/>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
        <p:nvSpPr>
          <p:cNvPr id="56" name="Title 1">
            <a:extLst>
              <a:ext uri="{FF2B5EF4-FFF2-40B4-BE49-F238E27FC236}">
                <a16:creationId xmlns:a16="http://schemas.microsoft.com/office/drawing/2014/main" id="{389A56A2-FB3E-46F1-B449-8EC94C17F0C0}"/>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sp>
        <p:nvSpPr>
          <p:cNvPr id="57" name="Freeform 3">
            <a:extLst>
              <a:ext uri="{FF2B5EF4-FFF2-40B4-BE49-F238E27FC236}">
                <a16:creationId xmlns:a16="http://schemas.microsoft.com/office/drawing/2014/main" id="{0CA88CA4-9A37-43E0-96C7-4259C1A98B42}"/>
              </a:ext>
            </a:extLst>
          </p:cNvPr>
          <p:cNvSpPr/>
          <p:nvPr userDrawn="1"/>
        </p:nvSpPr>
        <p:spPr>
          <a:xfrm>
            <a:off x="0" y="-1260399"/>
            <a:ext cx="8274515" cy="11553097"/>
          </a:xfrm>
          <a:custGeom>
            <a:avLst/>
            <a:gdLst/>
            <a:ahLst/>
            <a:cxnLst/>
            <a:rect l="l" t="t" r="r" b="b"/>
            <a:pathLst>
              <a:path w="8274515" h="11553097">
                <a:moveTo>
                  <a:pt x="0" y="0"/>
                </a:moveTo>
                <a:lnTo>
                  <a:pt x="8274515" y="0"/>
                </a:lnTo>
                <a:lnTo>
                  <a:pt x="8274515" y="11553096"/>
                </a:lnTo>
                <a:lnTo>
                  <a:pt x="0" y="11553096"/>
                </a:lnTo>
                <a:lnTo>
                  <a:pt x="0" y="0"/>
                </a:lnTo>
                <a:close/>
              </a:path>
            </a:pathLst>
          </a:custGeom>
          <a:blipFill>
            <a:blip r:embed="rId6">
              <a:alphaModFix amt="67000"/>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tr-TR" dirty="0"/>
          </a:p>
        </p:txBody>
      </p:sp>
    </p:spTree>
    <p:extLst>
      <p:ext uri="{BB962C8B-B14F-4D97-AF65-F5344CB8AC3E}">
        <p14:creationId xmlns:p14="http://schemas.microsoft.com/office/powerpoint/2010/main" val="186695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843B346-0BDA-48EC-90EA-8C0CB7CDF898}"/>
              </a:ext>
            </a:extLst>
          </p:cNvPr>
          <p:cNvSpPr/>
          <p:nvPr userDrawn="1"/>
        </p:nvSpPr>
        <p:spPr>
          <a:xfrm>
            <a:off x="4119"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Freeform 3">
            <a:extLst>
              <a:ext uri="{FF2B5EF4-FFF2-40B4-BE49-F238E27FC236}">
                <a16:creationId xmlns:a16="http://schemas.microsoft.com/office/drawing/2014/main" id="{1C771FF6-6185-4792-A104-F45147685D95}"/>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2">
              <a:alphaModFix amt="52000"/>
              <a:extLst>
                <a:ext uri="{96DAC541-7B7A-43D3-8B79-37D633B846F1}">
                  <asvg:svgBlip xmlns:asvg="http://schemas.microsoft.com/office/drawing/2016/SVG/main" r:embed="rId3"/>
                </a:ext>
              </a:extLst>
            </a:blip>
            <a:stretch>
              <a:fillRect/>
            </a:stretch>
          </a:blipFill>
        </p:spPr>
      </p:sp>
      <p:sp>
        <p:nvSpPr>
          <p:cNvPr id="32" name="Freeform 2">
            <a:extLst>
              <a:ext uri="{FF2B5EF4-FFF2-40B4-BE49-F238E27FC236}">
                <a16:creationId xmlns:a16="http://schemas.microsoft.com/office/drawing/2014/main" id="{992514EF-E9CA-4249-B47D-29640FE39AA3}"/>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4">
              <a:alphaModFix amt="57000"/>
              <a:extLst>
                <a:ext uri="{96DAC541-7B7A-43D3-8B79-37D633B846F1}">
                  <asvg:svgBlip xmlns:asvg="http://schemas.microsoft.com/office/drawing/2016/SVG/main" r:embed="rId5"/>
                </a:ext>
              </a:extLst>
            </a:blip>
            <a:stretch>
              <a:fillRect/>
            </a:stretch>
          </a:blipFill>
        </p:spPr>
      </p:sp>
      <p:grpSp>
        <p:nvGrpSpPr>
          <p:cNvPr id="33" name="Group 4">
            <a:extLst>
              <a:ext uri="{FF2B5EF4-FFF2-40B4-BE49-F238E27FC236}">
                <a16:creationId xmlns:a16="http://schemas.microsoft.com/office/drawing/2014/main" id="{0932FD14-02B2-433D-B50F-BBA0ABBA1DFC}"/>
              </a:ext>
            </a:extLst>
          </p:cNvPr>
          <p:cNvGrpSpPr/>
          <p:nvPr userDrawn="1"/>
        </p:nvGrpSpPr>
        <p:grpSpPr>
          <a:xfrm>
            <a:off x="13518898" y="718147"/>
            <a:ext cx="4334713" cy="621106"/>
            <a:chOff x="0" y="0"/>
            <a:chExt cx="5779617" cy="828141"/>
          </a:xfrm>
        </p:grpSpPr>
        <p:grpSp>
          <p:nvGrpSpPr>
            <p:cNvPr id="34" name="Group 5">
              <a:extLst>
                <a:ext uri="{FF2B5EF4-FFF2-40B4-BE49-F238E27FC236}">
                  <a16:creationId xmlns:a16="http://schemas.microsoft.com/office/drawing/2014/main" id="{19FEB6D3-1F91-4FA3-9786-17D88D1B16BD}"/>
                </a:ext>
              </a:extLst>
            </p:cNvPr>
            <p:cNvGrpSpPr>
              <a:grpSpLocks noChangeAspect="1"/>
            </p:cNvGrpSpPr>
            <p:nvPr/>
          </p:nvGrpSpPr>
          <p:grpSpPr>
            <a:xfrm>
              <a:off x="0" y="0"/>
              <a:ext cx="828141" cy="828141"/>
              <a:chOff x="0" y="0"/>
              <a:chExt cx="1283043" cy="1283043"/>
            </a:xfrm>
          </p:grpSpPr>
          <p:sp>
            <p:nvSpPr>
              <p:cNvPr id="54" name="Freeform 6">
                <a:extLst>
                  <a:ext uri="{FF2B5EF4-FFF2-40B4-BE49-F238E27FC236}">
                    <a16:creationId xmlns:a16="http://schemas.microsoft.com/office/drawing/2014/main" id="{AE993564-4ED4-4A01-95A3-B93BE0E728FF}"/>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5" name="Freeform 7">
                <a:extLst>
                  <a:ext uri="{FF2B5EF4-FFF2-40B4-BE49-F238E27FC236}">
                    <a16:creationId xmlns:a16="http://schemas.microsoft.com/office/drawing/2014/main" id="{64124EF2-AEAD-4D2C-B2C5-23BB228434D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5" name="Group 8">
              <a:extLst>
                <a:ext uri="{FF2B5EF4-FFF2-40B4-BE49-F238E27FC236}">
                  <a16:creationId xmlns:a16="http://schemas.microsoft.com/office/drawing/2014/main" id="{2BB34548-B27D-4244-A58E-0FAF1D4FE79F}"/>
                </a:ext>
              </a:extLst>
            </p:cNvPr>
            <p:cNvGrpSpPr>
              <a:grpSpLocks noChangeAspect="1"/>
            </p:cNvGrpSpPr>
            <p:nvPr/>
          </p:nvGrpSpPr>
          <p:grpSpPr>
            <a:xfrm>
              <a:off x="947681" y="221817"/>
              <a:ext cx="1879107" cy="382761"/>
              <a:chOff x="0" y="0"/>
              <a:chExt cx="2911310" cy="593014"/>
            </a:xfrm>
          </p:grpSpPr>
          <p:sp>
            <p:nvSpPr>
              <p:cNvPr id="47" name="Freeform 9">
                <a:extLst>
                  <a:ext uri="{FF2B5EF4-FFF2-40B4-BE49-F238E27FC236}">
                    <a16:creationId xmlns:a16="http://schemas.microsoft.com/office/drawing/2014/main" id="{0F7663D9-4013-4C9F-9C9C-41455CF1D69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48" name="Freeform 10">
                <a:extLst>
                  <a:ext uri="{FF2B5EF4-FFF2-40B4-BE49-F238E27FC236}">
                    <a16:creationId xmlns:a16="http://schemas.microsoft.com/office/drawing/2014/main" id="{F45A11AC-A88D-4517-AF75-A08C8CF2600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49" name="Freeform 11">
                <a:extLst>
                  <a:ext uri="{FF2B5EF4-FFF2-40B4-BE49-F238E27FC236}">
                    <a16:creationId xmlns:a16="http://schemas.microsoft.com/office/drawing/2014/main" id="{F2779BA5-04A9-44D2-85A0-BCDABFFB6A8F}"/>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0" name="Freeform 12">
                <a:extLst>
                  <a:ext uri="{FF2B5EF4-FFF2-40B4-BE49-F238E27FC236}">
                    <a16:creationId xmlns:a16="http://schemas.microsoft.com/office/drawing/2014/main" id="{2C40D997-0D94-42F7-8FF9-635D09AFD0A3}"/>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1" name="Freeform 13">
                <a:extLst>
                  <a:ext uri="{FF2B5EF4-FFF2-40B4-BE49-F238E27FC236}">
                    <a16:creationId xmlns:a16="http://schemas.microsoft.com/office/drawing/2014/main" id="{9D759767-8702-4FEB-A633-CD1F3ACBF3B4}"/>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2" name="Freeform 14">
                <a:extLst>
                  <a:ext uri="{FF2B5EF4-FFF2-40B4-BE49-F238E27FC236}">
                    <a16:creationId xmlns:a16="http://schemas.microsoft.com/office/drawing/2014/main" id="{7A2F4CE0-EA9B-4F94-8261-EB12D277E0FF}"/>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3" name="Freeform 15">
                <a:extLst>
                  <a:ext uri="{FF2B5EF4-FFF2-40B4-BE49-F238E27FC236}">
                    <a16:creationId xmlns:a16="http://schemas.microsoft.com/office/drawing/2014/main" id="{41DF17C3-3128-4C56-AAE4-6ABA6CFD0009}"/>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6" name="Group 16">
              <a:extLst>
                <a:ext uri="{FF2B5EF4-FFF2-40B4-BE49-F238E27FC236}">
                  <a16:creationId xmlns:a16="http://schemas.microsoft.com/office/drawing/2014/main" id="{8EC8E79F-1B7A-44AE-96E9-2057A6B65584}"/>
                </a:ext>
              </a:extLst>
            </p:cNvPr>
            <p:cNvGrpSpPr>
              <a:grpSpLocks noChangeAspect="1"/>
            </p:cNvGrpSpPr>
            <p:nvPr/>
          </p:nvGrpSpPr>
          <p:grpSpPr>
            <a:xfrm>
              <a:off x="2945722" y="224424"/>
              <a:ext cx="2833895" cy="381901"/>
              <a:chOff x="0" y="0"/>
              <a:chExt cx="4390568" cy="591680"/>
            </a:xfrm>
          </p:grpSpPr>
          <p:sp>
            <p:nvSpPr>
              <p:cNvPr id="37" name="Freeform 17">
                <a:extLst>
                  <a:ext uri="{FF2B5EF4-FFF2-40B4-BE49-F238E27FC236}">
                    <a16:creationId xmlns:a16="http://schemas.microsoft.com/office/drawing/2014/main" id="{32A4972F-9207-4FF3-B359-2B89379248F3}"/>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38" name="Freeform 18">
                <a:extLst>
                  <a:ext uri="{FF2B5EF4-FFF2-40B4-BE49-F238E27FC236}">
                    <a16:creationId xmlns:a16="http://schemas.microsoft.com/office/drawing/2014/main" id="{B7067479-4723-4FC5-86E5-3980C4C364C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39" name="Freeform 19">
                <a:extLst>
                  <a:ext uri="{FF2B5EF4-FFF2-40B4-BE49-F238E27FC236}">
                    <a16:creationId xmlns:a16="http://schemas.microsoft.com/office/drawing/2014/main" id="{D2A04E69-568D-47F8-8740-45FF536D7BFE}"/>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0" name="Freeform 20">
                <a:extLst>
                  <a:ext uri="{FF2B5EF4-FFF2-40B4-BE49-F238E27FC236}">
                    <a16:creationId xmlns:a16="http://schemas.microsoft.com/office/drawing/2014/main" id="{4A22F991-2EF5-40C2-B66E-11453E5593F0}"/>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1" name="Freeform 21">
                <a:extLst>
                  <a:ext uri="{FF2B5EF4-FFF2-40B4-BE49-F238E27FC236}">
                    <a16:creationId xmlns:a16="http://schemas.microsoft.com/office/drawing/2014/main" id="{41B8589B-998A-4253-97B6-A1C867D78C07}"/>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2" name="Freeform 22">
                <a:extLst>
                  <a:ext uri="{FF2B5EF4-FFF2-40B4-BE49-F238E27FC236}">
                    <a16:creationId xmlns:a16="http://schemas.microsoft.com/office/drawing/2014/main" id="{7DDB87FD-2D87-44BE-AB0F-CD439261811E}"/>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3" name="Freeform 23">
                <a:extLst>
                  <a:ext uri="{FF2B5EF4-FFF2-40B4-BE49-F238E27FC236}">
                    <a16:creationId xmlns:a16="http://schemas.microsoft.com/office/drawing/2014/main" id="{522BA807-47DC-4CBD-A184-9C6672308A5E}"/>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4" name="Freeform 24">
                <a:extLst>
                  <a:ext uri="{FF2B5EF4-FFF2-40B4-BE49-F238E27FC236}">
                    <a16:creationId xmlns:a16="http://schemas.microsoft.com/office/drawing/2014/main" id="{4A27304F-C8FA-4F23-A266-014452F2F1FF}"/>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5" name="Freeform 25">
                <a:extLst>
                  <a:ext uri="{FF2B5EF4-FFF2-40B4-BE49-F238E27FC236}">
                    <a16:creationId xmlns:a16="http://schemas.microsoft.com/office/drawing/2014/main" id="{E56175CA-CA1F-4F51-AC08-A9CDB10D8C21}"/>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6" name="Freeform 26">
                <a:extLst>
                  <a:ext uri="{FF2B5EF4-FFF2-40B4-BE49-F238E27FC236}">
                    <a16:creationId xmlns:a16="http://schemas.microsoft.com/office/drawing/2014/main" id="{349958DF-31C4-4390-A2E1-FEF77DE4C570}"/>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
        <p:nvSpPr>
          <p:cNvPr id="56" name="Title 1">
            <a:extLst>
              <a:ext uri="{FF2B5EF4-FFF2-40B4-BE49-F238E27FC236}">
                <a16:creationId xmlns:a16="http://schemas.microsoft.com/office/drawing/2014/main" id="{389A56A2-FB3E-46F1-B449-8EC94C17F0C0}"/>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grpSp>
        <p:nvGrpSpPr>
          <p:cNvPr id="58" name="Group 27">
            <a:extLst>
              <a:ext uri="{FF2B5EF4-FFF2-40B4-BE49-F238E27FC236}">
                <a16:creationId xmlns:a16="http://schemas.microsoft.com/office/drawing/2014/main" id="{ED74713C-1FA8-4FF6-81D3-2171ADC5754C}"/>
              </a:ext>
            </a:extLst>
          </p:cNvPr>
          <p:cNvGrpSpPr/>
          <p:nvPr userDrawn="1"/>
        </p:nvGrpSpPr>
        <p:grpSpPr>
          <a:xfrm>
            <a:off x="0" y="7796027"/>
            <a:ext cx="18288000" cy="2610016"/>
            <a:chOff x="0" y="0"/>
            <a:chExt cx="3091051" cy="437292"/>
          </a:xfrm>
        </p:grpSpPr>
        <p:sp>
          <p:nvSpPr>
            <p:cNvPr id="59" name="Freeform 28">
              <a:extLst>
                <a:ext uri="{FF2B5EF4-FFF2-40B4-BE49-F238E27FC236}">
                  <a16:creationId xmlns:a16="http://schemas.microsoft.com/office/drawing/2014/main" id="{1DD3DC35-3FCA-4565-8F1C-47AB4386E1D1}"/>
                </a:ext>
              </a:extLst>
            </p:cNvPr>
            <p:cNvSpPr/>
            <p:nvPr/>
          </p:nvSpPr>
          <p:spPr>
            <a:xfrm>
              <a:off x="0" y="0"/>
              <a:ext cx="3091051" cy="437292"/>
            </a:xfrm>
            <a:custGeom>
              <a:avLst/>
              <a:gdLst/>
              <a:ahLst/>
              <a:cxnLst/>
              <a:rect l="l" t="t" r="r" b="b"/>
              <a:pathLst>
                <a:path w="3091051" h="437292">
                  <a:moveTo>
                    <a:pt x="0" y="0"/>
                  </a:moveTo>
                  <a:lnTo>
                    <a:pt x="3091051" y="0"/>
                  </a:lnTo>
                  <a:lnTo>
                    <a:pt x="3091051" y="437292"/>
                  </a:lnTo>
                  <a:lnTo>
                    <a:pt x="0" y="437292"/>
                  </a:lnTo>
                  <a:close/>
                </a:path>
              </a:pathLst>
            </a:custGeom>
            <a:blipFill>
              <a:blip r:embed="rId6"/>
              <a:stretch>
                <a:fillRect t="-215134" b="-197339"/>
              </a:stretch>
            </a:blipFill>
          </p:spPr>
        </p:sp>
      </p:grpSp>
    </p:spTree>
    <p:extLst>
      <p:ext uri="{BB962C8B-B14F-4D97-AF65-F5344CB8AC3E}">
        <p14:creationId xmlns:p14="http://schemas.microsoft.com/office/powerpoint/2010/main" val="3236593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lides copy">
    <p:bg>
      <p:bgPr>
        <a:solidFill>
          <a:srgbClr val="160923"/>
        </a:solidFill>
        <a:effectLst/>
      </p:bgPr>
    </p:bg>
    <p:spTree>
      <p:nvGrpSpPr>
        <p:cNvPr id="1" name=""/>
        <p:cNvGrpSpPr/>
        <p:nvPr/>
      </p:nvGrpSpPr>
      <p:grpSpPr>
        <a:xfrm>
          <a:off x="0" y="0"/>
          <a:ext cx="0" cy="0"/>
          <a:chOff x="0" y="0"/>
          <a:chExt cx="0" cy="0"/>
        </a:xfrm>
      </p:grpSpPr>
      <p:pic>
        <p:nvPicPr>
          <p:cNvPr id="2" name="Image">
            <a:extLst>
              <a:ext uri="{FF2B5EF4-FFF2-40B4-BE49-F238E27FC236}">
                <a16:creationId xmlns:a16="http://schemas.microsoft.com/office/drawing/2014/main" id="{0487B23B-773C-4BE7-A61A-E494832E8CF2}"/>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rcRect l="1216" r="1216" b="5213"/>
          <a:stretch>
            <a:fillRect/>
          </a:stretch>
        </p:blipFill>
        <p:spPr>
          <a:xfrm>
            <a:off x="715" y="-204"/>
            <a:ext cx="18287285" cy="10287204"/>
          </a:xfrm>
          <a:prstGeom prst="rect">
            <a:avLst/>
          </a:prstGeom>
          <a:ln w="12700">
            <a:miter lim="400000"/>
          </a:ln>
        </p:spPr>
      </p:pic>
      <p:sp>
        <p:nvSpPr>
          <p:cNvPr id="3" name="Freeform 3">
            <a:extLst>
              <a:ext uri="{FF2B5EF4-FFF2-40B4-BE49-F238E27FC236}">
                <a16:creationId xmlns:a16="http://schemas.microsoft.com/office/drawing/2014/main" id="{6929B7F7-6D72-41BF-A2F9-3AD54A0AADF2}"/>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3">
              <a:alphaModFix amt="52000"/>
              <a:extLst>
                <a:ext uri="{96DAC541-7B7A-43D3-8B79-37D633B846F1}">
                  <asvg:svgBlip xmlns:asvg="http://schemas.microsoft.com/office/drawing/2016/SVG/main" r:embed="rId4"/>
                </a:ext>
              </a:extLst>
            </a:blip>
            <a:stretch>
              <a:fillRect/>
            </a:stretch>
          </a:blipFill>
        </p:spPr>
      </p:sp>
      <p:sp>
        <p:nvSpPr>
          <p:cNvPr id="4" name="Freeform 2">
            <a:extLst>
              <a:ext uri="{FF2B5EF4-FFF2-40B4-BE49-F238E27FC236}">
                <a16:creationId xmlns:a16="http://schemas.microsoft.com/office/drawing/2014/main" id="{23241B54-3CF3-4316-866A-B64CB95F4018}"/>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5">
              <a:alphaModFix amt="57000"/>
              <a:extLst>
                <a:ext uri="{96DAC541-7B7A-43D3-8B79-37D633B846F1}">
                  <asvg:svgBlip xmlns:asvg="http://schemas.microsoft.com/office/drawing/2016/SVG/main" r:embed="rId6"/>
                </a:ext>
              </a:extLst>
            </a:blip>
            <a:stretch>
              <a:fillRect/>
            </a:stretch>
          </a:blipFill>
        </p:spPr>
      </p:sp>
      <p:grpSp>
        <p:nvGrpSpPr>
          <p:cNvPr id="5" name="Group 4">
            <a:extLst>
              <a:ext uri="{FF2B5EF4-FFF2-40B4-BE49-F238E27FC236}">
                <a16:creationId xmlns:a16="http://schemas.microsoft.com/office/drawing/2014/main" id="{3C2A5813-9B75-4456-BC08-465017A01F41}"/>
              </a:ext>
            </a:extLst>
          </p:cNvPr>
          <p:cNvGrpSpPr/>
          <p:nvPr userDrawn="1"/>
        </p:nvGrpSpPr>
        <p:grpSpPr>
          <a:xfrm>
            <a:off x="13518898" y="718147"/>
            <a:ext cx="4334713" cy="621106"/>
            <a:chOff x="0" y="0"/>
            <a:chExt cx="5779617" cy="828141"/>
          </a:xfrm>
        </p:grpSpPr>
        <p:grpSp>
          <p:nvGrpSpPr>
            <p:cNvPr id="6" name="Group 5">
              <a:extLst>
                <a:ext uri="{FF2B5EF4-FFF2-40B4-BE49-F238E27FC236}">
                  <a16:creationId xmlns:a16="http://schemas.microsoft.com/office/drawing/2014/main" id="{2ADC3554-0EB6-40E5-A683-E776DC2A1B41}"/>
                </a:ext>
              </a:extLst>
            </p:cNvPr>
            <p:cNvGrpSpPr>
              <a:grpSpLocks noChangeAspect="1"/>
            </p:cNvGrpSpPr>
            <p:nvPr/>
          </p:nvGrpSpPr>
          <p:grpSpPr>
            <a:xfrm>
              <a:off x="0" y="0"/>
              <a:ext cx="828141" cy="828141"/>
              <a:chOff x="0" y="0"/>
              <a:chExt cx="1283043" cy="1283043"/>
            </a:xfrm>
          </p:grpSpPr>
          <p:sp>
            <p:nvSpPr>
              <p:cNvPr id="26" name="Freeform 6">
                <a:extLst>
                  <a:ext uri="{FF2B5EF4-FFF2-40B4-BE49-F238E27FC236}">
                    <a16:creationId xmlns:a16="http://schemas.microsoft.com/office/drawing/2014/main" id="{2D150E8F-7A4C-4169-88AD-97D231BF7893}"/>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27" name="Freeform 7">
                <a:extLst>
                  <a:ext uri="{FF2B5EF4-FFF2-40B4-BE49-F238E27FC236}">
                    <a16:creationId xmlns:a16="http://schemas.microsoft.com/office/drawing/2014/main" id="{0F7F0A3C-8678-498A-A07E-97AB508F27F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7" name="Group 8">
              <a:extLst>
                <a:ext uri="{FF2B5EF4-FFF2-40B4-BE49-F238E27FC236}">
                  <a16:creationId xmlns:a16="http://schemas.microsoft.com/office/drawing/2014/main" id="{E7187EAE-430A-4595-844D-428351660A9D}"/>
                </a:ext>
              </a:extLst>
            </p:cNvPr>
            <p:cNvGrpSpPr>
              <a:grpSpLocks noChangeAspect="1"/>
            </p:cNvGrpSpPr>
            <p:nvPr/>
          </p:nvGrpSpPr>
          <p:grpSpPr>
            <a:xfrm>
              <a:off x="947681" y="221817"/>
              <a:ext cx="1879107" cy="382761"/>
              <a:chOff x="0" y="0"/>
              <a:chExt cx="2911310" cy="593014"/>
            </a:xfrm>
          </p:grpSpPr>
          <p:sp>
            <p:nvSpPr>
              <p:cNvPr id="19" name="Freeform 9">
                <a:extLst>
                  <a:ext uri="{FF2B5EF4-FFF2-40B4-BE49-F238E27FC236}">
                    <a16:creationId xmlns:a16="http://schemas.microsoft.com/office/drawing/2014/main" id="{6A1388F2-3D44-46DB-96F6-6B16AB2E7741}"/>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20" name="Freeform 10">
                <a:extLst>
                  <a:ext uri="{FF2B5EF4-FFF2-40B4-BE49-F238E27FC236}">
                    <a16:creationId xmlns:a16="http://schemas.microsoft.com/office/drawing/2014/main" id="{2ABBA7CA-B067-40D6-8507-D68AA47DBE09}"/>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21" name="Freeform 11">
                <a:extLst>
                  <a:ext uri="{FF2B5EF4-FFF2-40B4-BE49-F238E27FC236}">
                    <a16:creationId xmlns:a16="http://schemas.microsoft.com/office/drawing/2014/main" id="{0B06EB1F-F122-4048-AD1D-B7F022647299}"/>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22" name="Freeform 12">
                <a:extLst>
                  <a:ext uri="{FF2B5EF4-FFF2-40B4-BE49-F238E27FC236}">
                    <a16:creationId xmlns:a16="http://schemas.microsoft.com/office/drawing/2014/main" id="{0C5A5AF9-1EAD-4439-8267-989F89F8D875}"/>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23" name="Freeform 13">
                <a:extLst>
                  <a:ext uri="{FF2B5EF4-FFF2-40B4-BE49-F238E27FC236}">
                    <a16:creationId xmlns:a16="http://schemas.microsoft.com/office/drawing/2014/main" id="{D80E7767-6EF9-4DA0-AD2B-0F43BD5FE171}"/>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24" name="Freeform 14">
                <a:extLst>
                  <a:ext uri="{FF2B5EF4-FFF2-40B4-BE49-F238E27FC236}">
                    <a16:creationId xmlns:a16="http://schemas.microsoft.com/office/drawing/2014/main" id="{AADFDA4D-F481-4742-88E9-0837481F5F14}"/>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25" name="Freeform 15">
                <a:extLst>
                  <a:ext uri="{FF2B5EF4-FFF2-40B4-BE49-F238E27FC236}">
                    <a16:creationId xmlns:a16="http://schemas.microsoft.com/office/drawing/2014/main" id="{8197C88D-BEBF-4303-80F1-5BB55219393D}"/>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8" name="Group 16">
              <a:extLst>
                <a:ext uri="{FF2B5EF4-FFF2-40B4-BE49-F238E27FC236}">
                  <a16:creationId xmlns:a16="http://schemas.microsoft.com/office/drawing/2014/main" id="{AF17E8A2-F006-4126-8EE1-968515C94F17}"/>
                </a:ext>
              </a:extLst>
            </p:cNvPr>
            <p:cNvGrpSpPr>
              <a:grpSpLocks noChangeAspect="1"/>
            </p:cNvGrpSpPr>
            <p:nvPr/>
          </p:nvGrpSpPr>
          <p:grpSpPr>
            <a:xfrm>
              <a:off x="2945722" y="224424"/>
              <a:ext cx="2833895" cy="381901"/>
              <a:chOff x="0" y="0"/>
              <a:chExt cx="4390568" cy="591680"/>
            </a:xfrm>
          </p:grpSpPr>
          <p:sp>
            <p:nvSpPr>
              <p:cNvPr id="9" name="Freeform 17">
                <a:extLst>
                  <a:ext uri="{FF2B5EF4-FFF2-40B4-BE49-F238E27FC236}">
                    <a16:creationId xmlns:a16="http://schemas.microsoft.com/office/drawing/2014/main" id="{88299F4C-A159-48FB-8A70-1C8F176B918C}"/>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10" name="Freeform 18">
                <a:extLst>
                  <a:ext uri="{FF2B5EF4-FFF2-40B4-BE49-F238E27FC236}">
                    <a16:creationId xmlns:a16="http://schemas.microsoft.com/office/drawing/2014/main" id="{3EA3736A-06B3-4A71-A2AB-4AA37D1662EB}"/>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1" name="Freeform 19">
                <a:extLst>
                  <a:ext uri="{FF2B5EF4-FFF2-40B4-BE49-F238E27FC236}">
                    <a16:creationId xmlns:a16="http://schemas.microsoft.com/office/drawing/2014/main" id="{52337C49-9D27-4358-9A65-8EB230451C04}"/>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2" name="Freeform 20">
                <a:extLst>
                  <a:ext uri="{FF2B5EF4-FFF2-40B4-BE49-F238E27FC236}">
                    <a16:creationId xmlns:a16="http://schemas.microsoft.com/office/drawing/2014/main" id="{5F04B2BE-175F-4B2F-AC0F-E3DF8F891F55}"/>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13" name="Freeform 21">
                <a:extLst>
                  <a:ext uri="{FF2B5EF4-FFF2-40B4-BE49-F238E27FC236}">
                    <a16:creationId xmlns:a16="http://schemas.microsoft.com/office/drawing/2014/main" id="{019C3958-2266-40F7-9C94-EE0F7B65AA8A}"/>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14" name="Freeform 22">
                <a:extLst>
                  <a:ext uri="{FF2B5EF4-FFF2-40B4-BE49-F238E27FC236}">
                    <a16:creationId xmlns:a16="http://schemas.microsoft.com/office/drawing/2014/main" id="{D43BCBA9-415C-4090-9A01-F246AFAB4D57}"/>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15" name="Freeform 23">
                <a:extLst>
                  <a:ext uri="{FF2B5EF4-FFF2-40B4-BE49-F238E27FC236}">
                    <a16:creationId xmlns:a16="http://schemas.microsoft.com/office/drawing/2014/main" id="{36FF33B3-3698-439A-AFB6-58F2718A79E8}"/>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16" name="Freeform 24">
                <a:extLst>
                  <a:ext uri="{FF2B5EF4-FFF2-40B4-BE49-F238E27FC236}">
                    <a16:creationId xmlns:a16="http://schemas.microsoft.com/office/drawing/2014/main" id="{5AFB44FB-FDF6-43DD-8FDE-3FE82C330907}"/>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17" name="Freeform 25">
                <a:extLst>
                  <a:ext uri="{FF2B5EF4-FFF2-40B4-BE49-F238E27FC236}">
                    <a16:creationId xmlns:a16="http://schemas.microsoft.com/office/drawing/2014/main" id="{83EB4869-5135-4EEE-B1A6-1BBAE79AF846}"/>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18" name="Freeform 26">
                <a:extLst>
                  <a:ext uri="{FF2B5EF4-FFF2-40B4-BE49-F238E27FC236}">
                    <a16:creationId xmlns:a16="http://schemas.microsoft.com/office/drawing/2014/main" id="{14F47E6A-BF98-4E4E-8384-C31196A320E4}"/>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2395491339"/>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41F45-EEDE-461D-81BA-374B1697C1EE}"/>
              </a:ext>
            </a:extLst>
          </p:cNvPr>
          <p:cNvSpPr>
            <a:spLocks noGrp="1"/>
          </p:cNvSpPr>
          <p:nvPr>
            <p:ph type="title"/>
          </p:nvPr>
        </p:nvSpPr>
        <p:spPr/>
        <p:txBody>
          <a:bodyPr/>
          <a:lstStyle/>
          <a:p>
            <a:r>
              <a:rPr lang="en-US"/>
              <a:t>Click to edit Master title style</a:t>
            </a:r>
            <a:endParaRPr lang="tr-TR"/>
          </a:p>
        </p:txBody>
      </p:sp>
      <p:sp>
        <p:nvSpPr>
          <p:cNvPr id="3" name="Date Placeholder 2">
            <a:extLst>
              <a:ext uri="{FF2B5EF4-FFF2-40B4-BE49-F238E27FC236}">
                <a16:creationId xmlns:a16="http://schemas.microsoft.com/office/drawing/2014/main" id="{8C822803-75D0-4A8D-911D-7D6EBDA963D7}"/>
              </a:ext>
            </a:extLst>
          </p:cNvPr>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a:extLst>
              <a:ext uri="{FF2B5EF4-FFF2-40B4-BE49-F238E27FC236}">
                <a16:creationId xmlns:a16="http://schemas.microsoft.com/office/drawing/2014/main" id="{7DC60D32-6E6E-46A7-8C78-C5E3586FC4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C7B3CB-7CE4-439A-980D-CC1ED0150A1B}"/>
              </a:ext>
            </a:extLst>
          </p:cNvPr>
          <p:cNvSpPr>
            <a:spLocks noGrp="1"/>
          </p:cNvSpPr>
          <p:nvPr>
            <p:ph type="sldNum" sz="quarter" idx="12"/>
          </p:nvPr>
        </p:nvSpPr>
        <p:spPr/>
        <p:txBody>
          <a:bodyPr/>
          <a:lstStyle/>
          <a:p>
            <a:fld id="{B6F15528-21DE-4FAA-801E-634DDDAF4B2B}" type="slidenum">
              <a:rPr lang="en-US" smtClean="0"/>
              <a:pPr/>
              <a:t>‹#›</a:t>
            </a:fld>
            <a:endParaRPr lang="en-US"/>
          </a:p>
        </p:txBody>
      </p:sp>
      <p:sp>
        <p:nvSpPr>
          <p:cNvPr id="6" name="Freeform 5">
            <a:extLst>
              <a:ext uri="{FF2B5EF4-FFF2-40B4-BE49-F238E27FC236}">
                <a16:creationId xmlns:a16="http://schemas.microsoft.com/office/drawing/2014/main" id="{ADF564DB-4017-4843-9CF7-B855D922DCF0}"/>
              </a:ext>
            </a:extLst>
          </p:cNvPr>
          <p:cNvSpPr/>
          <p:nvPr userDrawn="1"/>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7" name="TextBox 6">
            <a:extLst>
              <a:ext uri="{FF2B5EF4-FFF2-40B4-BE49-F238E27FC236}">
                <a16:creationId xmlns:a16="http://schemas.microsoft.com/office/drawing/2014/main" id="{0BF9E468-BDFC-449E-9EE9-43397B4C94D5}"/>
              </a:ext>
            </a:extLst>
          </p:cNvPr>
          <p:cNvSpPr txBox="1"/>
          <p:nvPr userDrawn="1"/>
        </p:nvSpPr>
        <p:spPr>
          <a:xfrm>
            <a:off x="8032786" y="4576762"/>
            <a:ext cx="9813902" cy="1095375"/>
          </a:xfrm>
          <a:prstGeom prst="rect">
            <a:avLst/>
          </a:prstGeom>
        </p:spPr>
        <p:txBody>
          <a:bodyPr lIns="0" tIns="0" rIns="0" bIns="0" rtlCol="0" anchor="t">
            <a:spAutoFit/>
          </a:bodyPr>
          <a:lstStyle/>
          <a:p>
            <a:pPr algn="ctr">
              <a:lnSpc>
                <a:spcPts val="8400"/>
              </a:lnSpc>
            </a:pPr>
            <a:r>
              <a:rPr lang="en-US" sz="6000" b="1" dirty="0">
                <a:solidFill>
                  <a:srgbClr val="FFFFFF"/>
                </a:solidFill>
                <a:latin typeface="Poppins Bold"/>
                <a:ea typeface="Poppins Bold"/>
                <a:cs typeface="Poppins Bold"/>
                <a:sym typeface="Poppins Bold"/>
              </a:rPr>
              <a:t>TEŞEKKÜRLER</a:t>
            </a:r>
          </a:p>
        </p:txBody>
      </p:sp>
      <p:grpSp>
        <p:nvGrpSpPr>
          <p:cNvPr id="8" name="Group 7">
            <a:extLst>
              <a:ext uri="{FF2B5EF4-FFF2-40B4-BE49-F238E27FC236}">
                <a16:creationId xmlns:a16="http://schemas.microsoft.com/office/drawing/2014/main" id="{C56FEF34-B9D9-4B74-9E58-11685F4B2409}"/>
              </a:ext>
            </a:extLst>
          </p:cNvPr>
          <p:cNvGrpSpPr/>
          <p:nvPr userDrawn="1"/>
        </p:nvGrpSpPr>
        <p:grpSpPr>
          <a:xfrm>
            <a:off x="6976643" y="9196504"/>
            <a:ext cx="4334713" cy="621106"/>
            <a:chOff x="0" y="0"/>
            <a:chExt cx="5779617" cy="828141"/>
          </a:xfrm>
        </p:grpSpPr>
        <p:grpSp>
          <p:nvGrpSpPr>
            <p:cNvPr id="9" name="Group 8">
              <a:extLst>
                <a:ext uri="{FF2B5EF4-FFF2-40B4-BE49-F238E27FC236}">
                  <a16:creationId xmlns:a16="http://schemas.microsoft.com/office/drawing/2014/main" id="{8ED5D178-457C-43E3-A617-241CF08CE22A}"/>
                </a:ext>
              </a:extLst>
            </p:cNvPr>
            <p:cNvGrpSpPr>
              <a:grpSpLocks noChangeAspect="1"/>
            </p:cNvGrpSpPr>
            <p:nvPr/>
          </p:nvGrpSpPr>
          <p:grpSpPr>
            <a:xfrm>
              <a:off x="0" y="0"/>
              <a:ext cx="828141" cy="828141"/>
              <a:chOff x="0" y="0"/>
              <a:chExt cx="1283043" cy="1283043"/>
            </a:xfrm>
          </p:grpSpPr>
          <p:sp>
            <p:nvSpPr>
              <p:cNvPr id="29" name="Freeform 9">
                <a:extLst>
                  <a:ext uri="{FF2B5EF4-FFF2-40B4-BE49-F238E27FC236}">
                    <a16:creationId xmlns:a16="http://schemas.microsoft.com/office/drawing/2014/main" id="{09FDC33F-3C85-4932-846B-6039458391C5}"/>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30" name="Freeform 10">
                <a:extLst>
                  <a:ext uri="{FF2B5EF4-FFF2-40B4-BE49-F238E27FC236}">
                    <a16:creationId xmlns:a16="http://schemas.microsoft.com/office/drawing/2014/main" id="{4093D97F-1B97-44AF-8B0E-580C2356F98B}"/>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10" name="Group 11">
              <a:extLst>
                <a:ext uri="{FF2B5EF4-FFF2-40B4-BE49-F238E27FC236}">
                  <a16:creationId xmlns:a16="http://schemas.microsoft.com/office/drawing/2014/main" id="{8BD5800A-151B-4F1E-92DF-0F94B934AD71}"/>
                </a:ext>
              </a:extLst>
            </p:cNvPr>
            <p:cNvGrpSpPr>
              <a:grpSpLocks noChangeAspect="1"/>
            </p:cNvGrpSpPr>
            <p:nvPr/>
          </p:nvGrpSpPr>
          <p:grpSpPr>
            <a:xfrm>
              <a:off x="947681" y="221817"/>
              <a:ext cx="1879107" cy="382761"/>
              <a:chOff x="0" y="0"/>
              <a:chExt cx="2911310" cy="593014"/>
            </a:xfrm>
          </p:grpSpPr>
          <p:sp>
            <p:nvSpPr>
              <p:cNvPr id="22" name="Freeform 12">
                <a:extLst>
                  <a:ext uri="{FF2B5EF4-FFF2-40B4-BE49-F238E27FC236}">
                    <a16:creationId xmlns:a16="http://schemas.microsoft.com/office/drawing/2014/main" id="{6BF8A9B3-6975-4575-9DF9-1608A090CB65}"/>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23" name="Freeform 13">
                <a:extLst>
                  <a:ext uri="{FF2B5EF4-FFF2-40B4-BE49-F238E27FC236}">
                    <a16:creationId xmlns:a16="http://schemas.microsoft.com/office/drawing/2014/main" id="{FFCCE11B-0D2D-4821-A337-14680A4D4AC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24" name="Freeform 14">
                <a:extLst>
                  <a:ext uri="{FF2B5EF4-FFF2-40B4-BE49-F238E27FC236}">
                    <a16:creationId xmlns:a16="http://schemas.microsoft.com/office/drawing/2014/main" id="{DA12D2D8-980F-4C7D-8412-2AEF02FB8F71}"/>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25" name="Freeform 15">
                <a:extLst>
                  <a:ext uri="{FF2B5EF4-FFF2-40B4-BE49-F238E27FC236}">
                    <a16:creationId xmlns:a16="http://schemas.microsoft.com/office/drawing/2014/main" id="{327A7BB0-BE6A-4B2F-BE65-D535F4E1DCF0}"/>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26" name="Freeform 16">
                <a:extLst>
                  <a:ext uri="{FF2B5EF4-FFF2-40B4-BE49-F238E27FC236}">
                    <a16:creationId xmlns:a16="http://schemas.microsoft.com/office/drawing/2014/main" id="{1C9338D0-832D-46A6-A6FA-C2C81CCCC058}"/>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27" name="Freeform 17">
                <a:extLst>
                  <a:ext uri="{FF2B5EF4-FFF2-40B4-BE49-F238E27FC236}">
                    <a16:creationId xmlns:a16="http://schemas.microsoft.com/office/drawing/2014/main" id="{2F6B93B1-7064-40D9-8654-06B3A44E38C8}"/>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28" name="Freeform 18">
                <a:extLst>
                  <a:ext uri="{FF2B5EF4-FFF2-40B4-BE49-F238E27FC236}">
                    <a16:creationId xmlns:a16="http://schemas.microsoft.com/office/drawing/2014/main" id="{D3C8325C-1705-4798-9D1F-12B6F95FF17F}"/>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11" name="Group 19">
              <a:extLst>
                <a:ext uri="{FF2B5EF4-FFF2-40B4-BE49-F238E27FC236}">
                  <a16:creationId xmlns:a16="http://schemas.microsoft.com/office/drawing/2014/main" id="{6788B8E5-AB8D-4F84-9A17-252B97DF93E4}"/>
                </a:ext>
              </a:extLst>
            </p:cNvPr>
            <p:cNvGrpSpPr>
              <a:grpSpLocks noChangeAspect="1"/>
            </p:cNvGrpSpPr>
            <p:nvPr/>
          </p:nvGrpSpPr>
          <p:grpSpPr>
            <a:xfrm>
              <a:off x="2945722" y="224424"/>
              <a:ext cx="2833895" cy="381901"/>
              <a:chOff x="0" y="0"/>
              <a:chExt cx="4390568" cy="591680"/>
            </a:xfrm>
          </p:grpSpPr>
          <p:sp>
            <p:nvSpPr>
              <p:cNvPr id="12" name="Freeform 20">
                <a:extLst>
                  <a:ext uri="{FF2B5EF4-FFF2-40B4-BE49-F238E27FC236}">
                    <a16:creationId xmlns:a16="http://schemas.microsoft.com/office/drawing/2014/main" id="{525EFEEF-874D-4D9B-A619-83D3D12D20E8}"/>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13" name="Freeform 21">
                <a:extLst>
                  <a:ext uri="{FF2B5EF4-FFF2-40B4-BE49-F238E27FC236}">
                    <a16:creationId xmlns:a16="http://schemas.microsoft.com/office/drawing/2014/main" id="{2F1B9E99-B5BF-43BC-8543-B7F0980B60BF}"/>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4" name="Freeform 22">
                <a:extLst>
                  <a:ext uri="{FF2B5EF4-FFF2-40B4-BE49-F238E27FC236}">
                    <a16:creationId xmlns:a16="http://schemas.microsoft.com/office/drawing/2014/main" id="{436D8703-820B-4DC1-900A-620CA51EDFD2}"/>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5" name="Freeform 23">
                <a:extLst>
                  <a:ext uri="{FF2B5EF4-FFF2-40B4-BE49-F238E27FC236}">
                    <a16:creationId xmlns:a16="http://schemas.microsoft.com/office/drawing/2014/main" id="{92DA6159-C13A-49C5-B167-9D7BA332C61E}"/>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16" name="Freeform 24">
                <a:extLst>
                  <a:ext uri="{FF2B5EF4-FFF2-40B4-BE49-F238E27FC236}">
                    <a16:creationId xmlns:a16="http://schemas.microsoft.com/office/drawing/2014/main" id="{D4C093A8-90B4-4B07-87A2-A75684766FA1}"/>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17" name="Freeform 25">
                <a:extLst>
                  <a:ext uri="{FF2B5EF4-FFF2-40B4-BE49-F238E27FC236}">
                    <a16:creationId xmlns:a16="http://schemas.microsoft.com/office/drawing/2014/main" id="{038A7F9D-D28F-4CCB-9870-1A6B1E589031}"/>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18" name="Freeform 26">
                <a:extLst>
                  <a:ext uri="{FF2B5EF4-FFF2-40B4-BE49-F238E27FC236}">
                    <a16:creationId xmlns:a16="http://schemas.microsoft.com/office/drawing/2014/main" id="{4E594AAA-B5A4-48A0-897B-9DFED59AC05D}"/>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19" name="Freeform 27">
                <a:extLst>
                  <a:ext uri="{FF2B5EF4-FFF2-40B4-BE49-F238E27FC236}">
                    <a16:creationId xmlns:a16="http://schemas.microsoft.com/office/drawing/2014/main" id="{B4B00DC7-F078-4BD8-8C38-A070FF7740C5}"/>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20" name="Freeform 28">
                <a:extLst>
                  <a:ext uri="{FF2B5EF4-FFF2-40B4-BE49-F238E27FC236}">
                    <a16:creationId xmlns:a16="http://schemas.microsoft.com/office/drawing/2014/main" id="{3D310B2C-73EE-4605-B1ED-2FC7750D52ED}"/>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21" name="Freeform 29">
                <a:extLst>
                  <a:ext uri="{FF2B5EF4-FFF2-40B4-BE49-F238E27FC236}">
                    <a16:creationId xmlns:a16="http://schemas.microsoft.com/office/drawing/2014/main" id="{6ABE9C5B-83EA-4770-A4FF-9807A000AC6B}"/>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24652042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MSIPCMContentMarking" descr="{&quot;HashCode&quot;:227230681,&quot;Placement&quot;:&quot;Header&quot;,&quot;Top&quot;:0.0,&quot;Left&quot;:1357.09619,&quot;SlideWidth&quot;:1440,&quot;SlideHeight&quot;:810}">
            <a:extLst>
              <a:ext uri="{FF2B5EF4-FFF2-40B4-BE49-F238E27FC236}">
                <a16:creationId xmlns:a16="http://schemas.microsoft.com/office/drawing/2014/main" id="{8B1B9B5A-B7E0-488C-B75B-FE96B83930C0}"/>
              </a:ext>
            </a:extLst>
          </p:cNvPr>
          <p:cNvSpPr txBox="1"/>
          <p:nvPr userDrawn="1"/>
        </p:nvSpPr>
        <p:spPr>
          <a:xfrm>
            <a:off x="17235122" y="0"/>
            <a:ext cx="1052878" cy="279435"/>
          </a:xfrm>
          <a:prstGeom prst="rect">
            <a:avLst/>
          </a:prstGeom>
          <a:noFill/>
        </p:spPr>
        <p:txBody>
          <a:bodyPr vert="horz" wrap="square" lIns="0" tIns="0" rIns="0" bIns="0" rtlCol="0" anchor="ctr" anchorCtr="1">
            <a:spAutoFit/>
          </a:bodyPr>
          <a:lstStyle/>
          <a:p>
            <a:pPr algn="r">
              <a:spcBef>
                <a:spcPts val="0"/>
              </a:spcBef>
              <a:spcAft>
                <a:spcPts val="0"/>
              </a:spcAft>
            </a:pPr>
            <a:r>
              <a:rPr lang="tr-TR" sz="1100">
                <a:solidFill>
                  <a:srgbClr val="0000FF"/>
                </a:solidFill>
                <a:latin typeface="Calibri" panose="020F0502020204030204" pitchFamily="34" charset="0"/>
              </a:rPr>
              <a:t>Hizmete Özel</a:t>
            </a:r>
          </a:p>
        </p:txBody>
      </p:sp>
    </p:spTree>
  </p:cSld>
  <p:clrMap bg1="lt1" tx1="dk1" bg2="lt2" tx2="dk2" accent1="accent1" accent2="accent2" accent3="accent3" accent4="accent4" accent5="accent5" accent6="accent6" hlink="hlink" folHlink="folHlink"/>
  <p:sldLayoutIdLst>
    <p:sldLayoutId id="2147483658" r:id="rId1"/>
    <p:sldLayoutId id="2147483657" r:id="rId2"/>
    <p:sldLayoutId id="2147483655" r:id="rId3"/>
    <p:sldLayoutId id="2147483659" r:id="rId4"/>
    <p:sldLayoutId id="2147483660" r:id="rId5"/>
    <p:sldLayoutId id="2147483662" r:id="rId6"/>
    <p:sldLayoutId id="2147483656"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1D52"/>
        </a:solidFill>
        <a:effectLst/>
      </p:bgPr>
    </p:bg>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ADA4E0B6-AB97-45FF-B4FB-1F68A719B850}"/>
              </a:ext>
            </a:extLst>
          </p:cNvPr>
          <p:cNvSpPr>
            <a:spLocks noGrp="1"/>
          </p:cNvSpPr>
          <p:nvPr>
            <p:ph type="title"/>
          </p:nvPr>
        </p:nvSpPr>
        <p:spPr/>
        <p:txBody>
          <a:bodyPr/>
          <a:lstStyle/>
          <a:p>
            <a:r>
              <a:rPr b="1">
                <a:latin typeface="Arial"/>
              </a:rPr>
              <a:t>Komponent Kontrol Kulesi</a:t>
            </a:r>
          </a:p>
        </p:txBody>
      </p:sp>
      <p:sp>
        <p:nvSpPr>
          <p:cNvPr id="32" name="TextBox 31"/>
          <p:cNvSpPr txBox="1"/>
          <p:nvPr/>
        </p:nvSpPr>
        <p:spPr>
          <a:xfrm>
            <a:off x="9281160" y="5806440"/>
            <a:ext cx="8138160" cy="2194560"/>
          </a:xfrm>
          <a:prstGeom prst="rect">
            <a:avLst/>
          </a:prstGeom>
          <a:noFill/>
        </p:spPr>
        <p:txBody>
          <a:bodyPr wrap="square">
            <a:spAutoFit/>
          </a:bodyPr>
          <a:lstStyle/>
          <a:p>
            <a:pPr>
              <a:spcAft>
                <a:spcPts val="600"/>
              </a:spcAft>
            </a:pPr>
            <a:r>
              <a:rPr sz="2000" b="0">
                <a:solidFill>
                  <a:srgbClr val="CBBCE6"/>
                </a:solidFill>
                <a:latin typeface="Arial"/>
              </a:rPr>
              <a:t>Filo Büyür, Envanter Hazır mı?  ·  Grup 9</a:t>
            </a:r>
          </a:p>
          <a:p>
            <a:pPr>
              <a:spcAft>
                <a:spcPts val="600"/>
              </a:spcAft>
            </a:pPr>
            <a:r>
              <a:rPr sz="1500" b="0">
                <a:solidFill>
                  <a:srgbClr val="9C8AC0"/>
                </a:solidFill>
                <a:latin typeface="Arial"/>
              </a:rPr>
              <a:t>Uçaklar için bir kontrol kulesi var, komponentler için yok.</a:t>
            </a:r>
          </a:p>
          <a:p>
            <a:pPr>
              <a:spcAft>
                <a:spcPts val="600"/>
              </a:spcAft>
            </a:pPr>
            <a:r>
              <a:rPr sz="1500" b="0">
                <a:solidFill>
                  <a:srgbClr val="9C8AC0"/>
                </a:solidFill>
                <a:latin typeface="Arial"/>
              </a:rPr>
              <a:t>5.000 parça için görünürlük, öngörü ve aksiyon katmanı.</a:t>
            </a:r>
          </a:p>
          <a:p>
            <a:pPr>
              <a:spcAft>
                <a:spcPts val="600"/>
              </a:spcAft>
            </a:pPr>
            <a:r>
              <a:rPr sz="1300" b="0">
                <a:solidFill>
                  <a:srgbClr val="E85BD0"/>
                </a:solidFill>
                <a:latin typeface="Arial"/>
              </a:rPr>
              <a:t>1.200 uçaktan 2.000 uçağa giden yol. Tüm veriler sentetiktir.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sp>
        <p:nvSpPr>
          <p:cNvPr id="52" name="Title 51">
            <a:extLst>
              <a:ext uri="{FF2B5EF4-FFF2-40B4-BE49-F238E27FC236}">
                <a16:creationId xmlns:a16="http://schemas.microsoft.com/office/drawing/2014/main" id="{3FA9B23E-82DE-40C5-B2A6-99C5F7922385}"/>
              </a:ext>
            </a:extLst>
          </p:cNvPr>
          <p:cNvSpPr>
            <a:spLocks noGrp="1"/>
          </p:cNvSpPr>
          <p:nvPr>
            <p:ph type="title"/>
          </p:nvPr>
        </p:nvSpPr>
        <p:spPr/>
        <p:txBody>
          <a:bodyPr/>
          <a:lstStyle/>
          <a:p>
            <a:r>
              <a:rPr lang="tr-TR" dirty="0" b="1">
                <a:latin typeface="Arial"/>
              </a:rPr>
              <a:t>Problem: Büyüme Değil, Talebin Yer Değiştirmesi</a:t>
            </a:r>
          </a:p>
        </p:txBody>
      </p:sp>
      <p:sp>
        <p:nvSpPr>
          <p:cNvPr id="53" name="TextBox 52"/>
          <p:cNvSpPr txBox="1"/>
          <p:nvPr/>
        </p:nvSpPr>
        <p:spPr>
          <a:xfrm>
            <a:off x="548640" y="1965960"/>
            <a:ext cx="8229600" cy="7863840"/>
          </a:xfrm>
          <a:prstGeom prst="rect">
            <a:avLst/>
          </a:prstGeom>
          <a:noFill/>
        </p:spPr>
        <p:txBody>
          <a:bodyPr wrap="square">
            <a:spAutoFit/>
          </a:bodyPr>
          <a:lstStyle/>
          <a:p>
            <a:pPr>
              <a:spcAft>
                <a:spcPts val="600"/>
              </a:spcAft>
            </a:pPr>
            <a:r>
              <a:rPr sz="1700" b="1">
                <a:solidFill>
                  <a:srgbClr val="FFFFFF"/>
                </a:solidFill>
                <a:latin typeface="Arial"/>
              </a:rPr>
              <a:t>Asıl mesele büyüme değil</a:t>
            </a:r>
          </a:p>
          <a:p>
            <a:pPr>
              <a:spcAft>
                <a:spcPts val="600"/>
              </a:spcAft>
            </a:pPr>
            <a:r>
              <a:rPr sz="1400" b="0">
                <a:solidFill>
                  <a:srgbClr val="CBBCE6"/>
                </a:solidFill>
                <a:latin typeface="Arial"/>
              </a:rPr>
              <a:t>2033 talebi bugüne göre %63 ile %68 arası artıyor. Kritik olan bu değil.</a:t>
            </a:r>
          </a:p>
          <a:p>
            <a:pPr>
              <a:spcAft>
                <a:spcPts val="600"/>
              </a:spcAft>
            </a:pPr>
            <a:r>
              <a:rPr sz="1700" b="1">
                <a:solidFill>
                  <a:srgbClr val="FFFFFF"/>
                </a:solidFill>
                <a:latin typeface="Arial"/>
              </a:rPr>
              <a:t>Talebin üçte ikisi yeni parçalara kayıyor</a:t>
            </a:r>
          </a:p>
          <a:p>
            <a:pPr>
              <a:spcAft>
                <a:spcPts val="600"/>
              </a:spcAft>
            </a:pPr>
            <a:r>
              <a:rPr sz="1400" b="0">
                <a:solidFill>
                  <a:srgbClr val="CBBCE6"/>
                </a:solidFill>
                <a:latin typeface="Arial"/>
              </a:rPr>
              <a:t>Yeni nesil modellerin payı %34’ten %65’e çıkıyor. Bu parçaların çoğunun geçmiş verisi yok.</a:t>
            </a:r>
          </a:p>
          <a:p>
            <a:pPr>
              <a:spcAft>
                <a:spcPts val="600"/>
              </a:spcAft>
            </a:pPr>
            <a:r>
              <a:rPr sz="1700" b="1">
                <a:solidFill>
                  <a:srgbClr val="FFFFFF"/>
                </a:solidFill>
                <a:latin typeface="Arial"/>
              </a:rPr>
              <a:t>Kategoriler farklı hızda büyüyor</a:t>
            </a:r>
          </a:p>
          <a:p>
            <a:pPr>
              <a:spcAft>
                <a:spcPts val="600"/>
              </a:spcAft>
            </a:pPr>
            <a:r>
              <a:rPr sz="1400" b="0">
                <a:solidFill>
                  <a:srgbClr val="CBBCE6"/>
                </a:solidFill>
                <a:latin typeface="Arial"/>
              </a:rPr>
              <a:t>Bir kategori %40 artarken bir diğeri %91 artıyor. Tek bir katsayıyla plan yapılamaz.</a:t>
            </a:r>
          </a:p>
          <a:p>
            <a:pPr>
              <a:spcAft>
                <a:spcPts val="600"/>
              </a:spcAft>
            </a:pPr>
            <a:r>
              <a:rPr sz="1700" b="1">
                <a:solidFill>
                  <a:srgbClr val="FFFFFF"/>
                </a:solidFill>
                <a:latin typeface="Arial"/>
              </a:rPr>
              <a:t>Kayıtlar dağınık, süreç görünmüyor</a:t>
            </a:r>
          </a:p>
          <a:p>
            <a:pPr>
              <a:spcAft>
                <a:spcPts val="600"/>
              </a:spcAft>
            </a:pPr>
            <a:r>
              <a:rPr sz="1400" b="0">
                <a:solidFill>
                  <a:srgbClr val="CBBCE6"/>
                </a:solidFill>
                <a:latin typeface="Arial"/>
              </a:rPr>
              <a:t>Bir parça yaklaşık 9 başkanlıktan geçiyor ve 4-5 ayrı sisteme kaydediliyor. Her geçişte veri kopuyor.</a:t>
            </a:r>
          </a:p>
        </p:txBody>
      </p:sp>
      <p:sp>
        <p:nvSpPr>
          <p:cNvPr id="54" name="Rounded Rectangle 53"/>
          <p:cNvSpPr/>
          <p:nvPr/>
        </p:nvSpPr>
        <p:spPr>
          <a:xfrm>
            <a:off x="9491472" y="2121408"/>
            <a:ext cx="7900415" cy="2843784"/>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692640" y="2286000"/>
            <a:ext cx="7498079" cy="2514600"/>
          </a:xfrm>
          <a:prstGeom prst="rect">
            <a:avLst/>
          </a:prstGeom>
          <a:noFill/>
        </p:spPr>
        <p:txBody>
          <a:bodyPr wrap="square">
            <a:spAutoFit/>
          </a:bodyPr>
          <a:lstStyle/>
          <a:p>
            <a:pPr>
              <a:spcAft>
                <a:spcPts val="600"/>
              </a:spcAft>
            </a:pPr>
            <a:r>
              <a:rPr sz="5400" b="1">
                <a:solidFill>
                  <a:srgbClr val="E85BD0"/>
                </a:solidFill>
                <a:latin typeface="Arial"/>
              </a:rPr>
              <a:t>72 parça</a:t>
            </a:r>
          </a:p>
          <a:p>
            <a:pPr>
              <a:spcAft>
                <a:spcPts val="600"/>
              </a:spcAft>
            </a:pPr>
            <a:r>
              <a:rPr sz="1500" b="0">
                <a:solidFill>
                  <a:srgbClr val="FFFFFF"/>
                </a:solidFill>
                <a:latin typeface="Arial"/>
              </a:rPr>
              <a:t>stoğu tükenmek üzere ama hiç sipariş açılmamış.</a:t>
            </a:r>
          </a:p>
          <a:p>
            <a:pPr>
              <a:spcAft>
                <a:spcPts val="600"/>
              </a:spcAft>
            </a:pPr>
            <a:r>
              <a:rPr sz="1500" b="0">
                <a:solidFill>
                  <a:srgbClr val="FFFFFF"/>
                </a:solidFill>
                <a:latin typeface="Arial"/>
              </a:rPr>
              <a:t>Bunların 11’i, yokluğunda uçağı yerde bırakan kritik parça.</a:t>
            </a:r>
          </a:p>
        </p:txBody>
      </p:sp>
      <p:sp>
        <p:nvSpPr>
          <p:cNvPr id="56" name="Rounded Rectangle 55"/>
          <p:cNvSpPr/>
          <p:nvPr/>
        </p:nvSpPr>
        <p:spPr>
          <a:xfrm>
            <a:off x="9491472" y="5276088"/>
            <a:ext cx="7900415" cy="3163824"/>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692640" y="5440680"/>
            <a:ext cx="7498079" cy="2834640"/>
          </a:xfrm>
          <a:prstGeom prst="rect">
            <a:avLst/>
          </a:prstGeom>
          <a:noFill/>
        </p:spPr>
        <p:txBody>
          <a:bodyPr wrap="square">
            <a:spAutoFit/>
          </a:bodyPr>
          <a:lstStyle/>
          <a:p>
            <a:pPr>
              <a:spcAft>
                <a:spcPts val="600"/>
              </a:spcAft>
            </a:pPr>
            <a:r>
              <a:rPr sz="1500" b="1">
                <a:solidFill>
                  <a:srgbClr val="F2B34C"/>
                </a:solidFill>
                <a:latin typeface="Arial"/>
              </a:rPr>
              <a:t>Stoğu riske giren toplam 134 parça var.</a:t>
            </a:r>
          </a:p>
          <a:p>
            <a:pPr>
              <a:spcAft>
                <a:spcPts val="600"/>
              </a:spcAft>
            </a:pPr>
            <a:r>
              <a:rPr sz="1400" b="0">
                <a:solidFill>
                  <a:srgbClr val="CBBCE6"/>
                </a:solidFill>
                <a:latin typeface="Arial"/>
              </a:rPr>
              <a:t>Hepsini yerine koymak yalnızca 0,7 M$. Yani sorun para değil.</a:t>
            </a:r>
          </a:p>
          <a:p>
            <a:pPr>
              <a:spcAft>
                <a:spcPts val="600"/>
              </a:spcAft>
            </a:pPr>
            <a:r>
              <a:rPr sz="1500" b="1">
                <a:solidFill>
                  <a:srgbClr val="FFFFFF"/>
                </a:solidFill>
                <a:latin typeface="Arial"/>
              </a:rPr>
              <a:t>Sorun, stoğun azaldığını kimsenin görememesi.</a:t>
            </a:r>
          </a:p>
          <a:p>
            <a:pPr>
              <a:spcAft>
                <a:spcPts val="600"/>
              </a:spcAft>
            </a:pPr>
            <a:r>
              <a:rPr sz="1400" b="0">
                <a:solidFill>
                  <a:srgbClr val="CBBCE6"/>
                </a:solidFill>
                <a:latin typeface="Arial"/>
              </a:rPr>
              <a:t>Bugün elle tutulan bu denge, 2.000 uçakta tutmaz.</a:t>
            </a:r>
          </a:p>
        </p:txBody>
      </p:sp>
      <p:pic>
        <p:nvPicPr>
          <p:cNvPr id="58" name="Picture 57" descr="s2_goc.png"/>
          <p:cNvPicPr>
            <a:picLocks noChangeAspect="1"/>
          </p:cNvPicPr>
          <p:nvPr/>
        </p:nvPicPr>
        <p:blipFill>
          <a:blip r:embed="rId3"/>
          <a:stretch>
            <a:fillRect/>
          </a:stretch>
        </p:blipFill>
        <p:spPr>
          <a:xfrm>
            <a:off x="548640" y="5120640"/>
            <a:ext cx="7772400" cy="36301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grpSp>
        <p:nvGrpSpPr>
          <p:cNvPr id="28" name="Group 28"/>
          <p:cNvGrpSpPr/>
          <p:nvPr/>
        </p:nvGrpSpPr>
        <p:grpSpPr>
          <a:xfrm>
            <a:off x="94069" y="4411093"/>
            <a:ext cx="2926994" cy="3758605"/>
            <a:chOff x="0" y="-19050"/>
            <a:chExt cx="1083733" cy="1391641"/>
          </a:xfrm>
        </p:grpSpPr>
        <p:sp>
          <p:nvSpPr>
            <p:cNvPr id="29" name="Freeform 29"/>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30" name="TextBox 30"/>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sp>
        <p:nvSpPr>
          <p:cNvPr id="32" name="AutoShape 32"/>
          <p:cNvSpPr/>
          <p:nvPr/>
        </p:nvSpPr>
        <p:spPr>
          <a:xfrm>
            <a:off x="1629656" y="2919598"/>
            <a:ext cx="15198091" cy="0"/>
          </a:xfrm>
          <a:prstGeom prst="line">
            <a:avLst/>
          </a:prstGeom>
          <a:ln w="19050" cap="flat">
            <a:solidFill>
              <a:srgbClr val="FFFFFF"/>
            </a:solidFill>
            <a:prstDash val="sysDot"/>
            <a:headEnd type="none" w="sm" len="sm"/>
            <a:tailEnd type="none" w="sm" len="sm"/>
          </a:ln>
        </p:spPr>
      </p:sp>
      <p:grpSp>
        <p:nvGrpSpPr>
          <p:cNvPr id="33" name="Group 33"/>
          <p:cNvGrpSpPr/>
          <p:nvPr/>
        </p:nvGrpSpPr>
        <p:grpSpPr>
          <a:xfrm>
            <a:off x="1460253" y="2834896"/>
            <a:ext cx="169403" cy="169403"/>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35" name="TextBox 35"/>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37" name="Group 37"/>
          <p:cNvGrpSpPr/>
          <p:nvPr/>
        </p:nvGrpSpPr>
        <p:grpSpPr>
          <a:xfrm>
            <a:off x="3121076" y="4484346"/>
            <a:ext cx="2926994" cy="3707154"/>
            <a:chOff x="0" y="0"/>
            <a:chExt cx="1083733" cy="1372591"/>
          </a:xfrm>
        </p:grpSpPr>
        <p:sp>
          <p:nvSpPr>
            <p:cNvPr id="38" name="Freeform 38"/>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39" name="TextBox 39"/>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41" name="Group 41"/>
          <p:cNvGrpSpPr/>
          <p:nvPr/>
        </p:nvGrpSpPr>
        <p:grpSpPr>
          <a:xfrm>
            <a:off x="4499871" y="2834896"/>
            <a:ext cx="169403" cy="169403"/>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43" name="TextBox 43"/>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45" name="Group 45"/>
          <p:cNvGrpSpPr/>
          <p:nvPr/>
        </p:nvGrpSpPr>
        <p:grpSpPr>
          <a:xfrm>
            <a:off x="6160694" y="4484346"/>
            <a:ext cx="2926994" cy="3707154"/>
            <a:chOff x="0" y="0"/>
            <a:chExt cx="1083733" cy="1372591"/>
          </a:xfrm>
        </p:grpSpPr>
        <p:sp>
          <p:nvSpPr>
            <p:cNvPr id="46" name="Freeform 46"/>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47" name="TextBox 47"/>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49" name="Group 49"/>
          <p:cNvGrpSpPr/>
          <p:nvPr/>
        </p:nvGrpSpPr>
        <p:grpSpPr>
          <a:xfrm>
            <a:off x="7539489" y="2835437"/>
            <a:ext cx="169403" cy="169403"/>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51" name="TextBox 51"/>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53" name="Group 53"/>
          <p:cNvGrpSpPr/>
          <p:nvPr/>
        </p:nvGrpSpPr>
        <p:grpSpPr>
          <a:xfrm>
            <a:off x="9200312" y="4484346"/>
            <a:ext cx="2926994" cy="3707154"/>
            <a:chOff x="0" y="0"/>
            <a:chExt cx="1083733" cy="1372591"/>
          </a:xfrm>
        </p:grpSpPr>
        <p:sp>
          <p:nvSpPr>
            <p:cNvPr id="54" name="Freeform 54"/>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55" name="TextBox 55"/>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57" name="Group 57"/>
          <p:cNvGrpSpPr/>
          <p:nvPr/>
        </p:nvGrpSpPr>
        <p:grpSpPr>
          <a:xfrm>
            <a:off x="10579107" y="2834896"/>
            <a:ext cx="169403" cy="169403"/>
            <a:chOff x="0" y="0"/>
            <a:chExt cx="812800" cy="812800"/>
          </a:xfrm>
        </p:grpSpPr>
        <p:sp>
          <p:nvSpPr>
            <p:cNvPr id="58" name="Freeform 5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59" name="TextBox 59"/>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61" name="Group 61"/>
          <p:cNvGrpSpPr/>
          <p:nvPr/>
        </p:nvGrpSpPr>
        <p:grpSpPr>
          <a:xfrm>
            <a:off x="12239930" y="4484346"/>
            <a:ext cx="2926994" cy="3707154"/>
            <a:chOff x="0" y="0"/>
            <a:chExt cx="1083733" cy="1372591"/>
          </a:xfrm>
        </p:grpSpPr>
        <p:sp>
          <p:nvSpPr>
            <p:cNvPr id="62" name="Freeform 62"/>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63" name="TextBox 63"/>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65" name="Group 65"/>
          <p:cNvGrpSpPr/>
          <p:nvPr/>
        </p:nvGrpSpPr>
        <p:grpSpPr>
          <a:xfrm>
            <a:off x="13618726" y="2834896"/>
            <a:ext cx="169403" cy="169403"/>
            <a:chOff x="0" y="0"/>
            <a:chExt cx="812800" cy="812800"/>
          </a:xfrm>
        </p:grpSpPr>
        <p:sp>
          <p:nvSpPr>
            <p:cNvPr id="66" name="Freeform 6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67" name="TextBox 67"/>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sp>
        <p:nvSpPr>
          <p:cNvPr id="68" name="Freeform 68"/>
          <p:cNvSpPr/>
          <p:nvPr/>
        </p:nvSpPr>
        <p:spPr>
          <a:xfrm rot="-5400000">
            <a:off x="971380"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9" name="TextBox 69"/>
          <p:cNvSpPr txBox="1"/>
          <p:nvPr/>
        </p:nvSpPr>
        <p:spPr>
          <a:xfrm>
            <a:off x="454351" y="3608251"/>
            <a:ext cx="2181207" cy="306705"/>
          </a:xfrm>
          <a:prstGeom prst="rect">
            <a:avLst/>
          </a:prstGeom>
        </p:spPr>
        <p:txBody>
          <a:bodyPr lIns="0" tIns="0" rIns="0" bIns="0" rtlCol="0" anchor="t">
            <a:spAutoFit/>
          </a:bodyPr>
          <a:lstStyle/>
          <a:p>
            <a:pPr marL="0" lvl="0" indent="0" algn="ctr">
              <a:lnSpc>
                <a:spcPts val="2519"/>
              </a:lnSpc>
              <a:spcBef>
                <a:spcPct val="0"/>
              </a:spcBef>
            </a:pPr>
            <a:r>
              <a:rPr lang="en-US" sz="1799" b="1" dirty="0">
                <a:solidFill>
                  <a:srgbClr val="FFFFFF"/>
                </a:solidFill>
                <a:latin typeface="Arial" panose="00000800000000000000" charset="0"/>
                <a:ea typeface="Garet Bold"/>
                <a:cs typeface="Poppins Bold" panose="00000800000000000000" charset="0"/>
                <a:sym typeface="Garet Bold"/>
              </a:rPr>
              <a:t>BAĞLAN</a:t>
            </a:r>
          </a:p>
        </p:txBody>
      </p:sp>
      <p:sp>
        <p:nvSpPr>
          <p:cNvPr id="70" name="Freeform 70"/>
          <p:cNvSpPr/>
          <p:nvPr/>
        </p:nvSpPr>
        <p:spPr>
          <a:xfrm rot="-5400000">
            <a:off x="4010998"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1" name="TextBox 71"/>
          <p:cNvSpPr txBox="1"/>
          <p:nvPr/>
        </p:nvSpPr>
        <p:spPr>
          <a:xfrm>
            <a:off x="3546082" y="3608251"/>
            <a:ext cx="2076983"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BİRLEŞTİR</a:t>
            </a:r>
          </a:p>
        </p:txBody>
      </p:sp>
      <p:sp>
        <p:nvSpPr>
          <p:cNvPr id="72" name="Freeform 72"/>
          <p:cNvSpPr/>
          <p:nvPr/>
        </p:nvSpPr>
        <p:spPr>
          <a:xfrm rot="-5400000">
            <a:off x="7050616" y="2583665"/>
            <a:ext cx="1147149" cy="2294298"/>
          </a:xfrm>
          <a:custGeom>
            <a:avLst/>
            <a:gdLst/>
            <a:ahLst/>
            <a:cxnLst/>
            <a:rect l="l" t="t" r="r" b="b"/>
            <a:pathLst>
              <a:path w="1147149" h="2294298">
                <a:moveTo>
                  <a:pt x="0" y="0"/>
                </a:moveTo>
                <a:lnTo>
                  <a:pt x="1147150" y="0"/>
                </a:lnTo>
                <a:lnTo>
                  <a:pt x="1147150"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3" name="TextBox 73"/>
          <p:cNvSpPr txBox="1"/>
          <p:nvPr/>
        </p:nvSpPr>
        <p:spPr>
          <a:xfrm>
            <a:off x="6683144" y="3608251"/>
            <a:ext cx="182386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ÖNGÖR</a:t>
            </a:r>
          </a:p>
        </p:txBody>
      </p:sp>
      <p:sp>
        <p:nvSpPr>
          <p:cNvPr id="74" name="Freeform 74"/>
          <p:cNvSpPr/>
          <p:nvPr/>
        </p:nvSpPr>
        <p:spPr>
          <a:xfrm rot="-5400000">
            <a:off x="10090234" y="2583665"/>
            <a:ext cx="1147149" cy="2294298"/>
          </a:xfrm>
          <a:custGeom>
            <a:avLst/>
            <a:gdLst/>
            <a:ahLst/>
            <a:cxnLst/>
            <a:rect l="l" t="t" r="r" b="b"/>
            <a:pathLst>
              <a:path w="1147149" h="2294298">
                <a:moveTo>
                  <a:pt x="0" y="0"/>
                </a:moveTo>
                <a:lnTo>
                  <a:pt x="1147150" y="0"/>
                </a:lnTo>
                <a:lnTo>
                  <a:pt x="1147150"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5" name="TextBox 75"/>
          <p:cNvSpPr txBox="1"/>
          <p:nvPr/>
        </p:nvSpPr>
        <p:spPr>
          <a:xfrm>
            <a:off x="9647101" y="3608251"/>
            <a:ext cx="203341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UYAR</a:t>
            </a:r>
          </a:p>
        </p:txBody>
      </p:sp>
      <p:sp>
        <p:nvSpPr>
          <p:cNvPr id="76" name="Freeform 76"/>
          <p:cNvSpPr/>
          <p:nvPr/>
        </p:nvSpPr>
        <p:spPr>
          <a:xfrm rot="-5400000">
            <a:off x="13129853"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7" name="TextBox 77"/>
          <p:cNvSpPr txBox="1"/>
          <p:nvPr/>
        </p:nvSpPr>
        <p:spPr>
          <a:xfrm>
            <a:off x="12792033" y="3608251"/>
            <a:ext cx="182386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HAREKETE GEÇ</a:t>
            </a:r>
          </a:p>
        </p:txBody>
      </p:sp>
      <p:grpSp>
        <p:nvGrpSpPr>
          <p:cNvPr id="79" name="Group 79"/>
          <p:cNvGrpSpPr/>
          <p:nvPr/>
        </p:nvGrpSpPr>
        <p:grpSpPr>
          <a:xfrm>
            <a:off x="15279548" y="4484346"/>
            <a:ext cx="2926994" cy="3707154"/>
            <a:chOff x="0" y="0"/>
            <a:chExt cx="1083733" cy="1372591"/>
          </a:xfrm>
        </p:grpSpPr>
        <p:sp>
          <p:nvSpPr>
            <p:cNvPr id="80" name="Freeform 80"/>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81" name="TextBox 81"/>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sp>
        <p:nvSpPr>
          <p:cNvPr id="83" name="Freeform 83"/>
          <p:cNvSpPr/>
          <p:nvPr/>
        </p:nvSpPr>
        <p:spPr>
          <a:xfrm rot="-5400000">
            <a:off x="16169471"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84" name="TextBox 84"/>
          <p:cNvSpPr txBox="1"/>
          <p:nvPr/>
        </p:nvSpPr>
        <p:spPr>
          <a:xfrm>
            <a:off x="15831651" y="3608251"/>
            <a:ext cx="182386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Arial" panose="00000800000000000000" charset="0"/>
                <a:ea typeface="Garet Bold"/>
                <a:cs typeface="Poppins Bold" panose="00000800000000000000" charset="0"/>
                <a:sym typeface="Garet Bold"/>
              </a:rPr>
              <a:t>PROVA ET</a:t>
            </a:r>
          </a:p>
        </p:txBody>
      </p:sp>
      <p:grpSp>
        <p:nvGrpSpPr>
          <p:cNvPr id="85" name="Group 85"/>
          <p:cNvGrpSpPr/>
          <p:nvPr/>
        </p:nvGrpSpPr>
        <p:grpSpPr>
          <a:xfrm>
            <a:off x="16658344" y="2834896"/>
            <a:ext cx="169403" cy="169403"/>
            <a:chOff x="0" y="0"/>
            <a:chExt cx="812800" cy="812800"/>
          </a:xfrm>
        </p:grpSpPr>
        <p:sp>
          <p:nvSpPr>
            <p:cNvPr id="86" name="Freeform 8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87" name="TextBox 87"/>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sp>
        <p:nvSpPr>
          <p:cNvPr id="88" name="TextBox 88"/>
          <p:cNvSpPr txBox="1"/>
          <p:nvPr/>
        </p:nvSpPr>
        <p:spPr>
          <a:xfrm>
            <a:off x="107715" y="4868293"/>
            <a:ext cx="2874480" cy="2869888"/>
          </a:xfrm>
          <a:prstGeom prst="rect">
            <a:avLst/>
          </a:prstGeom>
        </p:spPr>
        <p:txBody>
          <a:bodyPr lIns="0" tIns="0" rIns="0" bIns="0" rtlCol="0" anchor="t">
            <a:spAutoFit/>
          </a:bodyPr>
          <a:lstStyle/>
          <a:p>
            <a:pPr algn="ctr">
              <a:lnSpc>
                <a:spcPts val="2520"/>
              </a:lnSpc>
            </a:pPr>
            <a:r>
              <a:rPr lang="en-US" sz="1800" b="1" dirty="0">
                <a:solidFill>
                  <a:srgbClr val="FFFFFF"/>
                </a:solidFill>
                <a:latin typeface="Arial" panose="00000800000000000000" charset="0"/>
                <a:ea typeface="Garet Bold"/>
                <a:cs typeface="Poppins Bold" panose="00000800000000000000" charset="0"/>
                <a:sym typeface="Garet Bold"/>
              </a:rPr>
              <a:t>CDC ile salt-okunur</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Arial" panose="00000800000000000000" charset="0"/>
                <a:ea typeface="Garet Bold"/>
                <a:cs typeface="Poppins Bold" panose="00000800000000000000" charset="0"/>
                <a:sym typeface="Garet Bold"/>
              </a:rPr>
              <a:t>AMOS/TRAX değişmez</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Arial" panose="00000800000000000000" charset="0"/>
                <a:ea typeface="Garet Bold"/>
                <a:cs typeface="Poppins Bold" panose="00000800000000000000" charset="0"/>
                <a:sym typeface="Garet Bold"/>
              </a:rPr>
              <a:t>geri yazma yok</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Arial" panose="00000800000000000000" charset="0"/>
                <a:ea typeface="Garet Bold"/>
                <a:cs typeface="Poppins Bold" panose="00000800000000000000" charset="0"/>
                <a:sym typeface="Garet Bold"/>
              </a:rPr>
              <a:t>sıfır entegrasyon riski</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marL="0" lvl="0" indent="0" algn="ctr">
              <a:lnSpc>
                <a:spcPts val="2520"/>
              </a:lnSpc>
              <a:spcBef>
                <a:spcPct val="0"/>
              </a:spcBef>
            </a:pPr>
            <a:r>
              <a:rPr lang="en-US" sz="1800" b="1" dirty="0">
                <a:solidFill>
                  <a:srgbClr val="FFFFFF"/>
                </a:solidFill>
                <a:latin typeface="Arial" panose="00000800000000000000" charset="0"/>
                <a:ea typeface="Garet Bold"/>
                <a:cs typeface="Poppins Bold" panose="00000800000000000000" charset="0"/>
                <a:sym typeface="Garet Bold"/>
              </a:rPr>
              <a:t/>
            </a:r>
          </a:p>
        </p:txBody>
      </p:sp>
      <p:sp>
        <p:nvSpPr>
          <p:cNvPr id="89" name="TextBox 89"/>
          <p:cNvSpPr txBox="1"/>
          <p:nvPr/>
        </p:nvSpPr>
        <p:spPr>
          <a:xfrm>
            <a:off x="3064764" y="4868293"/>
            <a:ext cx="3039618" cy="2869888"/>
          </a:xfrm>
          <a:prstGeom prst="rect">
            <a:avLst/>
          </a:prstGeom>
        </p:spPr>
        <p:txBody>
          <a:bodyPr lIns="0" tIns="0" rIns="0" bIns="0" rtlCol="0" anchor="t">
            <a:spAutoFit/>
          </a:bodyPr>
          <a:lstStyle/>
          <a:p>
            <a:pPr algn="ctr">
              <a:lnSpc>
                <a:spcPts val="2520"/>
              </a:lnSpc>
            </a:pPr>
            <a:r>
              <a:rPr lang="en-US" sz="1800" b="1">
                <a:solidFill>
                  <a:srgbClr val="FFFFFF"/>
                </a:solidFill>
                <a:latin typeface="Arial" panose="00000800000000000000" charset="0"/>
                <a:ea typeface="Garet Bold"/>
                <a:cs typeface="Poppins Bold" panose="00000800000000000000" charset="0"/>
                <a:sym typeface="Garet Bold"/>
              </a:rPr>
              <a:t>olay omurgası</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Arial" panose="00000800000000000000" charset="0"/>
                <a:ea typeface="Garet Bold"/>
                <a:cs typeface="Poppins Bold" panose="00000800000000000000" charset="0"/>
                <a:sym typeface="Garet Bold"/>
              </a:rPr>
              <a:t>tek komponent kaydı</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Arial" panose="00000800000000000000" charset="0"/>
                <a:ea typeface="Garet Bold"/>
                <a:cs typeface="Poppins Bold" panose="00000800000000000000" charset="0"/>
                <a:sym typeface="Garet Bold"/>
              </a:rPr>
              <a:t>gerçek TAT olaydan</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Arial" panose="00000800000000000000" charset="0"/>
                <a:ea typeface="Garet Bold"/>
                <a:cs typeface="Poppins Bold" panose="00000800000000000000" charset="0"/>
                <a:sym typeface="Garet Bold"/>
              </a:rPr>
              <a:t>PN + durum + konum</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marL="0" lvl="0" indent="0" algn="ctr">
              <a:lnSpc>
                <a:spcPts val="2520"/>
              </a:lnSpc>
              <a:spcBef>
                <a:spcPct val="0"/>
              </a:spcBef>
            </a:pPr>
            <a:r>
              <a:rPr lang="en-US" sz="1800" b="1">
                <a:solidFill>
                  <a:srgbClr val="FFFFFF"/>
                </a:solidFill>
                <a:latin typeface="Arial" panose="00000800000000000000" charset="0"/>
                <a:ea typeface="Garet Bold"/>
                <a:cs typeface="Poppins Bold" panose="00000800000000000000" charset="0"/>
                <a:sym typeface="Garet Bold"/>
              </a:rPr>
              <a:t/>
            </a:r>
          </a:p>
        </p:txBody>
      </p:sp>
      <p:sp>
        <p:nvSpPr>
          <p:cNvPr id="90" name="TextBox 90"/>
          <p:cNvSpPr txBox="1"/>
          <p:nvPr/>
        </p:nvSpPr>
        <p:spPr>
          <a:xfrm>
            <a:off x="6191060" y="4868293"/>
            <a:ext cx="2808034" cy="2869888"/>
          </a:xfrm>
          <a:prstGeom prst="rect">
            <a:avLst/>
          </a:prstGeom>
        </p:spPr>
        <p:txBody>
          <a:bodyPr lIns="0" tIns="0" rIns="0" bIns="0" rtlCol="0" anchor="t">
            <a:spAutoFit/>
          </a:bodyPr>
          <a:lstStyle/>
          <a:p>
            <a:pPr algn="ctr">
              <a:lnSpc>
                <a:spcPts val="2520"/>
              </a:lnSpc>
            </a:pPr>
            <a:r>
              <a:rPr lang="en-US" sz="1800" b="1">
                <a:solidFill>
                  <a:srgbClr val="FFFFFF"/>
                </a:solidFill>
                <a:latin typeface="Arial" panose="00000800000000000000" charset="0"/>
                <a:ea typeface="Garet Bold"/>
                <a:cs typeface="Poppins Bold" panose="00000800000000000000" charset="0"/>
                <a:sym typeface="Garet Bold"/>
              </a:rPr>
              <a:t>ABC×XYZ segmentleri</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Arial" panose="00000800000000000000" charset="0"/>
                <a:ea typeface="Garet Bold"/>
                <a:cs typeface="Poppins Bold" panose="00000800000000000000" charset="0"/>
                <a:sym typeface="Garet Bold"/>
              </a:rPr>
              <a:t>Croston/SBA + AI</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Arial" panose="00000800000000000000" charset="0"/>
                <a:ea typeface="Garet Bold"/>
                <a:cs typeface="Poppins Bold" panose="00000800000000000000" charset="0"/>
                <a:sym typeface="Garet Bold"/>
              </a:rPr>
              <a:t>cold-start (Bayes)</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Arial" panose="00000800000000000000" charset="0"/>
                <a:ea typeface="Garet Bold"/>
                <a:cs typeface="Poppins Bold" panose="00000800000000000000" charset="0"/>
                <a:sym typeface="Garet Bold"/>
              </a:rPr>
              <a:t>mevsim katsayısı ×1,20</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marL="0" lvl="0" indent="0" algn="ctr">
              <a:lnSpc>
                <a:spcPts val="2520"/>
              </a:lnSpc>
              <a:spcBef>
                <a:spcPct val="0"/>
              </a:spcBef>
            </a:pPr>
            <a:r>
              <a:rPr lang="en-US" sz="1800" b="1">
                <a:solidFill>
                  <a:srgbClr val="FFFFFF"/>
                </a:solidFill>
                <a:latin typeface="Arial" panose="00000800000000000000" charset="0"/>
                <a:ea typeface="Garet Bold"/>
                <a:cs typeface="Poppins Bold" panose="00000800000000000000" charset="0"/>
                <a:sym typeface="Garet Bold"/>
              </a:rPr>
              <a:t/>
            </a:r>
          </a:p>
        </p:txBody>
      </p:sp>
      <p:sp>
        <p:nvSpPr>
          <p:cNvPr id="91" name="TextBox 91"/>
          <p:cNvSpPr txBox="1"/>
          <p:nvPr/>
        </p:nvSpPr>
        <p:spPr>
          <a:xfrm>
            <a:off x="15357424" y="4868293"/>
            <a:ext cx="2808034" cy="2869888"/>
          </a:xfrm>
          <a:prstGeom prst="rect">
            <a:avLst/>
          </a:prstGeom>
        </p:spPr>
        <p:txBody>
          <a:bodyPr lIns="0" tIns="0" rIns="0" bIns="0" rtlCol="0" anchor="t">
            <a:spAutoFit/>
          </a:bodyPr>
          <a:lstStyle/>
          <a:p>
            <a:pPr algn="ctr">
              <a:lnSpc>
                <a:spcPts val="2520"/>
              </a:lnSpc>
            </a:pPr>
            <a:r>
              <a:rPr lang="en-US" sz="1800" b="1" dirty="0">
                <a:solidFill>
                  <a:srgbClr val="FFFFFF"/>
                </a:solidFill>
                <a:latin typeface="Arial" panose="00000800000000000000" charset="0"/>
                <a:ea typeface="Garet Bold"/>
                <a:cs typeface="Poppins Bold" panose="00000800000000000000" charset="0"/>
                <a:sym typeface="Garet Bold"/>
              </a:rPr>
              <a:t>kriz senaryoları</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Arial" panose="00000800000000000000" charset="0"/>
                <a:ea typeface="Garet Bold"/>
                <a:cs typeface="Poppins Bold" panose="00000800000000000000" charset="0"/>
                <a:sym typeface="Garet Bold"/>
              </a:rPr>
              <a:t>Monte Carlo + duyarlılık</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Arial" panose="00000800000000000000" charset="0"/>
                <a:ea typeface="Garet Bold"/>
                <a:cs typeface="Poppins Bold" panose="00000800000000000000" charset="0"/>
                <a:sym typeface="Garet Bold"/>
              </a:rPr>
              <a:t>bütçe optimizasyonu</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Arial" panose="00000800000000000000" charset="0"/>
                <a:ea typeface="Garet Bold"/>
                <a:cs typeface="Poppins Bold" panose="00000800000000000000" charset="0"/>
                <a:sym typeface="Garet Bold"/>
              </a:rPr>
              <a:t>çeyreklik war-game</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marL="0" lvl="0" indent="0" algn="ctr">
              <a:lnSpc>
                <a:spcPts val="2520"/>
              </a:lnSpc>
              <a:spcBef>
                <a:spcPct val="0"/>
              </a:spcBef>
            </a:pPr>
            <a:r>
              <a:rPr lang="en-US" sz="1800" b="1" dirty="0">
                <a:solidFill>
                  <a:srgbClr val="FFFFFF"/>
                </a:solidFill>
                <a:latin typeface="Arial" panose="00000800000000000000" charset="0"/>
                <a:ea typeface="Garet Bold"/>
                <a:cs typeface="Poppins Bold" panose="00000800000000000000" charset="0"/>
                <a:sym typeface="Garet Bold"/>
              </a:rPr>
              <a:t/>
            </a:r>
          </a:p>
        </p:txBody>
      </p:sp>
      <p:sp>
        <p:nvSpPr>
          <p:cNvPr id="92" name="TextBox 92"/>
          <p:cNvSpPr txBox="1"/>
          <p:nvPr/>
        </p:nvSpPr>
        <p:spPr>
          <a:xfrm>
            <a:off x="12358890" y="4868293"/>
            <a:ext cx="2808034" cy="2869888"/>
          </a:xfrm>
          <a:prstGeom prst="rect">
            <a:avLst/>
          </a:prstGeom>
        </p:spPr>
        <p:txBody>
          <a:bodyPr lIns="0" tIns="0" rIns="0" bIns="0" rtlCol="0" anchor="t">
            <a:spAutoFit/>
          </a:bodyPr>
          <a:lstStyle/>
          <a:p>
            <a:pPr algn="ctr">
              <a:lnSpc>
                <a:spcPts val="2520"/>
              </a:lnSpc>
            </a:pPr>
            <a:r>
              <a:rPr lang="en-US" sz="1800" b="1" dirty="0">
                <a:solidFill>
                  <a:srgbClr val="FFFFFF"/>
                </a:solidFill>
                <a:latin typeface="Arial" panose="00000800000000000000" charset="0"/>
                <a:ea typeface="Garet Bold"/>
                <a:cs typeface="Poppins Bold" panose="00000800000000000000" charset="0"/>
                <a:sym typeface="Garet Bold"/>
              </a:rPr>
              <a:t>aksiyon merdiveni</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Arial" panose="00000800000000000000" charset="0"/>
                <a:ea typeface="Garet Bold"/>
                <a:cs typeface="Poppins Bold" panose="00000800000000000000" charset="0"/>
                <a:sym typeface="Garet Bold"/>
              </a:rPr>
              <a:t>BER · pool · phase-out</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Arial" panose="00000800000000000000" charset="0"/>
                <a:ea typeface="Garet Bold"/>
                <a:cs typeface="Poppins Bold" panose="00000800000000000000" charset="0"/>
                <a:sym typeface="Garet Bold"/>
              </a:rPr>
              <a:t>süre + maliyet puanı</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Arial" panose="00000800000000000000" charset="0"/>
                <a:ea typeface="Garet Bold"/>
                <a:cs typeface="Poppins Bold" panose="00000800000000000000" charset="0"/>
                <a:sym typeface="Garet Bold"/>
              </a:rPr>
              <a:t>AOG $/saat kıyası</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marL="0" lvl="0" indent="0" algn="ctr">
              <a:lnSpc>
                <a:spcPts val="2520"/>
              </a:lnSpc>
              <a:spcBef>
                <a:spcPct val="0"/>
              </a:spcBef>
            </a:pPr>
            <a:r>
              <a:rPr lang="en-US" sz="1800" b="1" dirty="0">
                <a:solidFill>
                  <a:srgbClr val="FFFFFF"/>
                </a:solidFill>
                <a:latin typeface="Arial" panose="00000800000000000000" charset="0"/>
                <a:ea typeface="Garet Bold"/>
                <a:cs typeface="Poppins Bold" panose="00000800000000000000" charset="0"/>
                <a:sym typeface="Garet Bold"/>
              </a:rPr>
              <a:t/>
            </a:r>
          </a:p>
        </p:txBody>
      </p:sp>
      <p:sp>
        <p:nvSpPr>
          <p:cNvPr id="93" name="TextBox 93"/>
          <p:cNvSpPr txBox="1"/>
          <p:nvPr/>
        </p:nvSpPr>
        <p:spPr>
          <a:xfrm>
            <a:off x="9249487" y="4868293"/>
            <a:ext cx="2808034" cy="2869888"/>
          </a:xfrm>
          <a:prstGeom prst="rect">
            <a:avLst/>
          </a:prstGeom>
        </p:spPr>
        <p:txBody>
          <a:bodyPr lIns="0" tIns="0" rIns="0" bIns="0" rtlCol="0" anchor="t">
            <a:spAutoFit/>
          </a:bodyPr>
          <a:lstStyle/>
          <a:p>
            <a:pPr algn="ctr">
              <a:lnSpc>
                <a:spcPts val="2520"/>
              </a:lnSpc>
            </a:pPr>
            <a:r>
              <a:rPr lang="en-US" sz="1800" b="1">
                <a:solidFill>
                  <a:srgbClr val="FFFFFF"/>
                </a:solidFill>
                <a:latin typeface="Arial" panose="00000800000000000000" charset="0"/>
                <a:ea typeface="Garet Bold"/>
                <a:cs typeface="Poppins Bold" panose="00000800000000000000" charset="0"/>
                <a:sym typeface="Garet Bold"/>
              </a:rPr>
              <a:t>TTS&lt;TTR alarmı</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Arial" panose="00000800000000000000" charset="0"/>
                <a:ea typeface="Garet Bold"/>
                <a:cs typeface="Poppins Bold" panose="00000800000000000000" charset="0"/>
                <a:sym typeface="Garet Bold"/>
              </a:rPr>
              <a:t>dinamik min–max</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Arial" panose="00000800000000000000" charset="0"/>
                <a:ea typeface="Garet Bold"/>
                <a:cs typeface="Poppins Bold" panose="00000800000000000000" charset="0"/>
                <a:sym typeface="Garet Bold"/>
              </a:rPr>
              <a:t>emniyet stoğu (Poisson)</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Arial" panose="00000800000000000000" charset="0"/>
                <a:ea typeface="Garet Bold"/>
                <a:cs typeface="Poppins Bold" panose="00000800000000000000" charset="0"/>
                <a:sym typeface="Garet Bold"/>
              </a:rPr>
              <a:t>siparişsiz kırmızı: 0</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marL="0" lvl="0" indent="0" algn="ctr">
              <a:lnSpc>
                <a:spcPts val="2520"/>
              </a:lnSpc>
              <a:spcBef>
                <a:spcPct val="0"/>
              </a:spcBef>
            </a:pPr>
            <a:r>
              <a:rPr lang="en-US" sz="1800" b="1">
                <a:solidFill>
                  <a:srgbClr val="FFFFFF"/>
                </a:solidFill>
                <a:latin typeface="Arial" panose="00000800000000000000" charset="0"/>
                <a:ea typeface="Garet Bold"/>
                <a:cs typeface="Poppins Bold" panose="00000800000000000000" charset="0"/>
                <a:sym typeface="Garet Bold"/>
              </a:rPr>
              <a:t/>
            </a:r>
          </a:p>
        </p:txBody>
      </p:sp>
      <p:sp>
        <p:nvSpPr>
          <p:cNvPr id="27" name="Title 26">
            <a:extLst>
              <a:ext uri="{FF2B5EF4-FFF2-40B4-BE49-F238E27FC236}">
                <a16:creationId xmlns:a16="http://schemas.microsoft.com/office/drawing/2014/main" id="{0EE0F353-4BFF-4B56-B331-A8DB49F4C0B4}"/>
              </a:ext>
            </a:extLst>
          </p:cNvPr>
          <p:cNvSpPr>
            <a:spLocks noGrp="1"/>
          </p:cNvSpPr>
          <p:nvPr>
            <p:ph type="title"/>
          </p:nvPr>
        </p:nvSpPr>
        <p:spPr>
          <a:xfrm>
            <a:off x="483800" y="456595"/>
            <a:ext cx="11756130" cy="1143000"/>
          </a:xfrm>
        </p:spPr>
        <p:txBody>
          <a:bodyPr>
            <a:normAutofit/>
          </a:bodyPr>
          <a:lstStyle/>
          <a:p>
            <a:r>
              <a:rPr lang="tr-TR" dirty="0" b="1">
                <a:latin typeface="Arial"/>
              </a:rPr>
              <a:t>Çözüm: Uçtan Uca Bir Karar Katmanı</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grpSp>
        <p:nvGrpSpPr>
          <p:cNvPr id="28" name="Group 28"/>
          <p:cNvGrpSpPr/>
          <p:nvPr/>
        </p:nvGrpSpPr>
        <p:grpSpPr>
          <a:xfrm>
            <a:off x="1604065" y="1943100"/>
            <a:ext cx="4859128" cy="3619359"/>
            <a:chOff x="0" y="0"/>
            <a:chExt cx="1266362" cy="943259"/>
          </a:xfrm>
        </p:grpSpPr>
        <p:sp>
          <p:nvSpPr>
            <p:cNvPr id="29" name="Freeform 29"/>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0" name="TextBox 30"/>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31" name="Group 31"/>
          <p:cNvGrpSpPr/>
          <p:nvPr/>
        </p:nvGrpSpPr>
        <p:grpSpPr>
          <a:xfrm>
            <a:off x="1604065" y="5829159"/>
            <a:ext cx="4859128" cy="3619359"/>
            <a:chOff x="0" y="0"/>
            <a:chExt cx="1266362" cy="943259"/>
          </a:xfrm>
        </p:grpSpPr>
        <p:sp>
          <p:nvSpPr>
            <p:cNvPr id="32" name="Freeform 32"/>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3" name="TextBox 33"/>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34" name="Group 34"/>
          <p:cNvGrpSpPr/>
          <p:nvPr/>
        </p:nvGrpSpPr>
        <p:grpSpPr>
          <a:xfrm>
            <a:off x="6632305" y="1943100"/>
            <a:ext cx="4859128" cy="3619359"/>
            <a:chOff x="0" y="0"/>
            <a:chExt cx="1266362" cy="943259"/>
          </a:xfrm>
        </p:grpSpPr>
        <p:sp>
          <p:nvSpPr>
            <p:cNvPr id="35" name="Freeform 35"/>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6" name="TextBox 36"/>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37" name="Group 37"/>
          <p:cNvGrpSpPr/>
          <p:nvPr/>
        </p:nvGrpSpPr>
        <p:grpSpPr>
          <a:xfrm>
            <a:off x="6632305" y="5829159"/>
            <a:ext cx="4859128" cy="3619359"/>
            <a:chOff x="0" y="0"/>
            <a:chExt cx="1266362" cy="943259"/>
          </a:xfrm>
        </p:grpSpPr>
        <p:sp>
          <p:nvSpPr>
            <p:cNvPr id="38" name="Freeform 38"/>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9" name="TextBox 39"/>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sp>
        <p:nvSpPr>
          <p:cNvPr id="40" name="TextBox 40"/>
          <p:cNvSpPr txBox="1"/>
          <p:nvPr/>
        </p:nvSpPr>
        <p:spPr>
          <a:xfrm>
            <a:off x="2502287" y="6178631"/>
            <a:ext cx="3637491" cy="290901"/>
          </a:xfrm>
          <a:prstGeom prst="rect">
            <a:avLst/>
          </a:prstGeom>
        </p:spPr>
        <p:txBody>
          <a:bodyPr lIns="0" tIns="0" rIns="0" bIns="0" rtlCol="0" anchor="t">
            <a:spAutoFit/>
          </a:bodyPr>
          <a:lstStyle/>
          <a:p>
            <a:pPr algn="l">
              <a:lnSpc>
                <a:spcPts val="2195"/>
              </a:lnSpc>
            </a:pPr>
            <a:r>
              <a:rPr lang="en-US" sz="1926" b="1">
                <a:solidFill>
                  <a:srgbClr val="FFFFFF"/>
                </a:solidFill>
                <a:latin typeface="Arial"/>
                <a:ea typeface="Poppins Semi-Bold"/>
                <a:cs typeface="Poppins Semi-Bold"/>
                <a:sym typeface="Poppins Semi-Bold"/>
              </a:rPr>
              <a:t/>
            </a:r>
          </a:p>
        </p:txBody>
      </p:sp>
      <p:sp>
        <p:nvSpPr>
          <p:cNvPr id="41" name="TextBox 41"/>
          <p:cNvSpPr txBox="1"/>
          <p:nvPr/>
        </p:nvSpPr>
        <p:spPr>
          <a:xfrm>
            <a:off x="7530527" y="5952984"/>
            <a:ext cx="3637491" cy="567126"/>
          </a:xfrm>
          <a:prstGeom prst="rect">
            <a:avLst/>
          </a:prstGeom>
        </p:spPr>
        <p:txBody>
          <a:bodyPr lIns="0" tIns="0" rIns="0" bIns="0" rtlCol="0" anchor="t">
            <a:spAutoFit/>
          </a:bodyPr>
          <a:lstStyle/>
          <a:p>
            <a:pPr algn="l">
              <a:lnSpc>
                <a:spcPts val="2195"/>
              </a:lnSpc>
            </a:pPr>
            <a:r>
              <a:rPr lang="en-US" sz="1926" b="1">
                <a:solidFill>
                  <a:srgbClr val="FFFFFF"/>
                </a:solidFill>
                <a:latin typeface="Arial"/>
                <a:ea typeface="Poppins Semi-Bold"/>
                <a:cs typeface="Poppins Semi-Bold"/>
                <a:sym typeface="Poppins Semi-Bold"/>
              </a:rPr>
              <a:t/>
            </a:r>
          </a:p>
        </p:txBody>
      </p:sp>
      <p:sp>
        <p:nvSpPr>
          <p:cNvPr id="42" name="TextBox 42"/>
          <p:cNvSpPr txBox="1"/>
          <p:nvPr/>
        </p:nvSpPr>
        <p:spPr>
          <a:xfrm>
            <a:off x="1898965" y="6651874"/>
            <a:ext cx="4240813" cy="2966720"/>
          </a:xfrm>
          <a:prstGeom prst="rect">
            <a:avLst/>
          </a:prstGeom>
        </p:spPr>
        <p:txBody>
          <a:bodyPr lIns="0" tIns="0" rIns="0" bIns="0" rtlCol="0" anchor="t">
            <a:spAutoFit/>
          </a:bodyPr>
          <a:lstStyle/>
          <a:p>
            <a:pPr algn="l">
              <a:lnSpc>
                <a:spcPts val="2380"/>
              </a:lnSpc>
            </a:pPr>
            <a:r>
              <a:rPr lang="en-US" sz="1700" spc="78">
                <a:solidFill>
                  <a:srgbClr val="FFFFFF"/>
                </a:solidFill>
                <a:latin typeface="Arial"/>
                <a:ea typeface="Poppins Thin"/>
                <a:cs typeface="Poppins Thin"/>
                <a:sym typeface="Poppins Thin"/>
              </a:rPr>
              <a:t/>
            </a:r>
          </a:p>
          <a:p>
            <a:pPr marL="0" lvl="0" indent="0" algn="l">
              <a:lnSpc>
                <a:spcPts val="2380"/>
              </a:lnSpc>
              <a:spcBef>
                <a:spcPct val="0"/>
              </a:spcBef>
            </a:pPr>
            <a:endParaRPr lang="en-US" sz="1700" spc="78">
              <a:solidFill>
                <a:srgbClr val="FFFFFF"/>
              </a:solidFill>
              <a:latin typeface="Poppins Thin"/>
              <a:ea typeface="Poppins Thin"/>
              <a:cs typeface="Poppins Thin"/>
              <a:sym typeface="Poppins Thin"/>
            </a:endParaRPr>
          </a:p>
        </p:txBody>
      </p:sp>
      <p:sp>
        <p:nvSpPr>
          <p:cNvPr id="43" name="TextBox 43"/>
          <p:cNvSpPr txBox="1"/>
          <p:nvPr/>
        </p:nvSpPr>
        <p:spPr>
          <a:xfrm>
            <a:off x="6929418" y="6901110"/>
            <a:ext cx="4403764" cy="1490345"/>
          </a:xfrm>
          <a:prstGeom prst="rect">
            <a:avLst/>
          </a:prstGeom>
        </p:spPr>
        <p:txBody>
          <a:bodyPr lIns="0" tIns="0" rIns="0" bIns="0" rtlCol="0" anchor="t">
            <a:spAutoFit/>
          </a:bodyPr>
          <a:lstStyle/>
          <a:p>
            <a:pPr marL="0" lvl="0" indent="0" algn="l">
              <a:lnSpc>
                <a:spcPts val="2380"/>
              </a:lnSpc>
              <a:spcBef>
                <a:spcPct val="0"/>
              </a:spcBef>
            </a:pPr>
            <a:r>
              <a:rPr lang="en-US" sz="1700" spc="78">
                <a:solidFill>
                  <a:srgbClr val="FFFFFF"/>
                </a:solidFill>
                <a:latin typeface="Arial"/>
                <a:ea typeface="Poppins Thin"/>
                <a:cs typeface="Poppins Thin"/>
                <a:sym typeface="Poppins Thin"/>
              </a:rPr>
              <a:t/>
            </a:r>
          </a:p>
        </p:txBody>
      </p:sp>
      <p:grpSp>
        <p:nvGrpSpPr>
          <p:cNvPr id="44" name="Group 44"/>
          <p:cNvGrpSpPr/>
          <p:nvPr/>
        </p:nvGrpSpPr>
        <p:grpSpPr>
          <a:xfrm>
            <a:off x="1604065" y="5829159"/>
            <a:ext cx="4859128" cy="3619359"/>
            <a:chOff x="0" y="0"/>
            <a:chExt cx="1266362" cy="943259"/>
          </a:xfrm>
        </p:grpSpPr>
        <p:sp>
          <p:nvSpPr>
            <p:cNvPr id="45" name="Freeform 45"/>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46" name="TextBox 46"/>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47" name="Group 47"/>
          <p:cNvGrpSpPr/>
          <p:nvPr/>
        </p:nvGrpSpPr>
        <p:grpSpPr>
          <a:xfrm>
            <a:off x="6632305" y="5829159"/>
            <a:ext cx="4859128" cy="3619359"/>
            <a:chOff x="0" y="0"/>
            <a:chExt cx="1266362" cy="943259"/>
          </a:xfrm>
        </p:grpSpPr>
        <p:sp>
          <p:nvSpPr>
            <p:cNvPr id="48" name="Freeform 48"/>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49" name="TextBox 49"/>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50" name="Group 50"/>
          <p:cNvGrpSpPr/>
          <p:nvPr/>
        </p:nvGrpSpPr>
        <p:grpSpPr>
          <a:xfrm>
            <a:off x="1896644" y="2294224"/>
            <a:ext cx="4240813" cy="2848046"/>
            <a:chOff x="0" y="0"/>
            <a:chExt cx="5654417" cy="3797395"/>
          </a:xfrm>
        </p:grpSpPr>
        <p:sp>
          <p:nvSpPr>
            <p:cNvPr id="51" name="TextBox 51"/>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dirty="0">
                  <a:solidFill>
                    <a:srgbClr val="FFFFFF"/>
                  </a:solidFill>
                  <a:latin typeface="Arial"/>
                  <a:ea typeface="Poppins Bold"/>
                  <a:cs typeface="Poppins Bold"/>
                  <a:sym typeface="Poppins Bold"/>
                </a:rPr>
                <a:t>Kokpit</a:t>
              </a:r>
              <a:r>
                <a:rPr lang="en-US" sz="1926" b="1" dirty="0" err="1">
                  <a:solidFill>
                    <a:srgbClr val="FFFFFF"/>
                  </a:solidFill>
                  <a:latin typeface="Poppins Bold"/>
                  <a:ea typeface="Poppins Bold"/>
                  <a:cs typeface="Poppins Bold"/>
                  <a:sym typeface="Poppins Bold"/>
                </a:rPr>
                <a:t/>
              </a:r>
              <a:endParaRPr lang="en-US" sz="1926" b="1" dirty="0">
                <a:solidFill>
                  <a:srgbClr val="FFFFFF"/>
                </a:solidFill>
                <a:latin typeface="Poppins Bold"/>
                <a:ea typeface="Poppins Bold"/>
                <a:cs typeface="Poppins Bold"/>
                <a:sym typeface="Poppins Bold"/>
              </a:endParaRPr>
            </a:p>
          </p:txBody>
        </p:sp>
        <p:sp>
          <p:nvSpPr>
            <p:cNvPr id="52" name="TextBox 52"/>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dirty="0">
                  <a:solidFill>
                    <a:srgbClr val="FFFFFF"/>
                  </a:solidFill>
                  <a:latin typeface="Arial"/>
                  <a:ea typeface="Poppins"/>
                  <a:cs typeface="Poppins"/>
                  <a:sym typeface="Poppins"/>
                </a:rPr>
                <a:t>Envanter, para kalemleri, 72 uyarı</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r>
                <a:rPr lang="en-US" sz="1700" spc="78" dirty="0" err="1">
                  <a:solidFill>
                    <a:srgbClr val="FFFFFF"/>
                  </a:solidFill>
                  <a:latin typeface="Poppins"/>
                  <a:ea typeface="Poppins"/>
                  <a:cs typeface="Poppins"/>
                  <a:sym typeface="Poppins"/>
                </a:rPr>
                <a:t/>
              </a:r>
              <a:r>
                <a:rPr lang="en-US" sz="1700" spc="78" dirty="0">
                  <a:solidFill>
                    <a:srgbClr val="FFFFFF"/>
                  </a:solidFill>
                  <a:latin typeface="Poppins"/>
                  <a:ea typeface="Poppins"/>
                  <a:cs typeface="Poppins"/>
                  <a:sym typeface="Poppins"/>
                </a:rPr>
                <a:t/>
              </a:r>
            </a:p>
          </p:txBody>
        </p:sp>
      </p:grpSp>
      <p:grpSp>
        <p:nvGrpSpPr>
          <p:cNvPr id="53" name="Group 53"/>
          <p:cNvGrpSpPr/>
          <p:nvPr/>
        </p:nvGrpSpPr>
        <p:grpSpPr>
          <a:xfrm>
            <a:off x="11824808" y="1943100"/>
            <a:ext cx="4859128" cy="3619359"/>
            <a:chOff x="0" y="0"/>
            <a:chExt cx="1266362" cy="943259"/>
          </a:xfrm>
        </p:grpSpPr>
        <p:sp>
          <p:nvSpPr>
            <p:cNvPr id="54" name="Freeform 54"/>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55" name="TextBox 55"/>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56" name="Group 56"/>
          <p:cNvGrpSpPr/>
          <p:nvPr/>
        </p:nvGrpSpPr>
        <p:grpSpPr>
          <a:xfrm>
            <a:off x="11824808" y="5829159"/>
            <a:ext cx="4859128" cy="3619359"/>
            <a:chOff x="0" y="0"/>
            <a:chExt cx="1266362" cy="943259"/>
          </a:xfrm>
        </p:grpSpPr>
        <p:sp>
          <p:nvSpPr>
            <p:cNvPr id="57" name="Freeform 57"/>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58" name="TextBox 58"/>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59" name="Group 59"/>
          <p:cNvGrpSpPr/>
          <p:nvPr/>
        </p:nvGrpSpPr>
        <p:grpSpPr>
          <a:xfrm>
            <a:off x="7050020" y="2294224"/>
            <a:ext cx="4240813" cy="2848046"/>
            <a:chOff x="0" y="0"/>
            <a:chExt cx="5654417" cy="3797395"/>
          </a:xfrm>
        </p:grpSpPr>
        <p:sp>
          <p:nvSpPr>
            <p:cNvPr id="60" name="TextBox 60"/>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Watchlist</a:t>
              </a:r>
            </a:p>
          </p:txBody>
        </p:sp>
        <p:sp>
          <p:nvSpPr>
            <p:cNvPr id="61" name="TextBox 61"/>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5.000 parça riske göre sıralı</a:t>
              </a:r>
            </a:p>
          </p:txBody>
        </p:sp>
      </p:grpSp>
      <p:grpSp>
        <p:nvGrpSpPr>
          <p:cNvPr id="62" name="Group 62"/>
          <p:cNvGrpSpPr/>
          <p:nvPr/>
        </p:nvGrpSpPr>
        <p:grpSpPr>
          <a:xfrm>
            <a:off x="12203397" y="2294224"/>
            <a:ext cx="4240813" cy="2848046"/>
            <a:chOff x="0" y="0"/>
            <a:chExt cx="5654417" cy="3797395"/>
          </a:xfrm>
        </p:grpSpPr>
        <p:sp>
          <p:nvSpPr>
            <p:cNvPr id="63" name="TextBox 63"/>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Öngörü &amp; AI</a:t>
              </a:r>
            </a:p>
          </p:txBody>
        </p:sp>
        <p:sp>
          <p:nvSpPr>
            <p:cNvPr id="64" name="TextBox 64"/>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Projeksiyon + canlı tahmin</a:t>
              </a:r>
            </a:p>
          </p:txBody>
        </p:sp>
      </p:grpSp>
      <p:grpSp>
        <p:nvGrpSpPr>
          <p:cNvPr id="65" name="Group 65"/>
          <p:cNvGrpSpPr/>
          <p:nvPr/>
        </p:nvGrpSpPr>
        <p:grpSpPr>
          <a:xfrm>
            <a:off x="1870217" y="6178631"/>
            <a:ext cx="4240813" cy="2848046"/>
            <a:chOff x="0" y="0"/>
            <a:chExt cx="5654417" cy="3797395"/>
          </a:xfrm>
        </p:grpSpPr>
        <p:sp>
          <p:nvSpPr>
            <p:cNvPr id="66" name="TextBox 66"/>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Harita</a:t>
              </a:r>
            </a:p>
          </p:txBody>
        </p:sp>
        <p:sp>
          <p:nvSpPr>
            <p:cNvPr id="67" name="TextBox 67"/>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25 istasyon, krizin ağa etkisi</a:t>
              </a:r>
            </a:p>
          </p:txBody>
        </p:sp>
      </p:grpSp>
      <p:grpSp>
        <p:nvGrpSpPr>
          <p:cNvPr id="68" name="Group 68"/>
          <p:cNvGrpSpPr/>
          <p:nvPr/>
        </p:nvGrpSpPr>
        <p:grpSpPr>
          <a:xfrm>
            <a:off x="7023594" y="6178631"/>
            <a:ext cx="4240813" cy="2848046"/>
            <a:chOff x="0" y="0"/>
            <a:chExt cx="5654417" cy="3797395"/>
          </a:xfrm>
        </p:grpSpPr>
        <p:sp>
          <p:nvSpPr>
            <p:cNvPr id="69" name="TextBox 69"/>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Senaryo ve Jüri Modu</a:t>
              </a:r>
            </a:p>
          </p:txBody>
        </p:sp>
        <p:sp>
          <p:nvSpPr>
            <p:cNvPr id="70" name="TextBox 70"/>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Krizi tek tıkla uygula</a:t>
              </a:r>
            </a:p>
          </p:txBody>
        </p:sp>
      </p:grpSp>
      <p:grpSp>
        <p:nvGrpSpPr>
          <p:cNvPr id="71" name="Group 71"/>
          <p:cNvGrpSpPr/>
          <p:nvPr/>
        </p:nvGrpSpPr>
        <p:grpSpPr>
          <a:xfrm>
            <a:off x="12176970" y="6178631"/>
            <a:ext cx="4240813" cy="2848046"/>
            <a:chOff x="0" y="0"/>
            <a:chExt cx="5654417" cy="3797395"/>
          </a:xfrm>
        </p:grpSpPr>
        <p:sp>
          <p:nvSpPr>
            <p:cNvPr id="72" name="TextBox 72"/>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Arial"/>
                  <a:ea typeface="Poppins Bold"/>
                  <a:cs typeface="Poppins Bold"/>
                  <a:sym typeface="Poppins Bold"/>
                </a:rPr>
                <a:t>Doğrulanmış Çekirdek</a:t>
              </a:r>
            </a:p>
          </p:txBody>
        </p:sp>
        <p:sp>
          <p:nvSpPr>
            <p:cNvPr id="73" name="TextBox 73"/>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Arial"/>
                  <a:ea typeface="Poppins"/>
                  <a:cs typeface="Poppins"/>
                  <a:sym typeface="Poppins"/>
                </a:rPr>
                <a:t>Float %97, geri test binde 4</a:t>
              </a:r>
            </a:p>
          </p:txBody>
        </p:sp>
      </p:grpSp>
      <p:sp>
        <p:nvSpPr>
          <p:cNvPr id="75" name="Title 74">
            <a:extLst>
              <a:ext uri="{FF2B5EF4-FFF2-40B4-BE49-F238E27FC236}">
                <a16:creationId xmlns:a16="http://schemas.microsoft.com/office/drawing/2014/main" id="{D6D58E3C-84C0-46E8-9CC0-9F447F34845A}"/>
              </a:ext>
            </a:extLst>
          </p:cNvPr>
          <p:cNvSpPr>
            <a:spLocks noGrp="1"/>
          </p:cNvSpPr>
          <p:nvPr>
            <p:ph type="title"/>
          </p:nvPr>
        </p:nvSpPr>
        <p:spPr/>
        <p:txBody>
          <a:bodyPr/>
          <a:lstStyle/>
          <a:p>
            <a:r>
              <a:rPr lang="tr-TR" dirty="0" b="1">
                <a:latin typeface="Arial"/>
              </a:rPr>
              <a:t>Prototip: Tek Dosyalık Canlı Dashboard</a:t>
            </a:r>
          </a:p>
        </p:txBody>
      </p:sp>
      <p:pic>
        <p:nvPicPr>
          <p:cNvPr id="76" name="Picture 75" descr="kokpit.png"/>
          <p:cNvPicPr>
            <a:picLocks noChangeAspect="1"/>
          </p:cNvPicPr>
          <p:nvPr/>
        </p:nvPicPr>
        <p:blipFill>
          <a:blip r:embed="rId2"/>
          <a:stretch>
            <a:fillRect/>
          </a:stretch>
        </p:blipFill>
        <p:spPr>
          <a:xfrm>
            <a:off x="2234972" y="3190336"/>
            <a:ext cx="3566160" cy="1883664"/>
          </a:xfrm>
          <a:prstGeom prst="rect">
            <a:avLst/>
          </a:prstGeom>
          <a:ln w="9525">
            <a:solidFill>
              <a:srgbClr val="6C4795"/>
            </a:solidFill>
          </a:ln>
        </p:spPr>
      </p:pic>
      <p:pic>
        <p:nvPicPr>
          <p:cNvPr id="77" name="Picture 76" descr="watch.png"/>
          <p:cNvPicPr>
            <a:picLocks noChangeAspect="1"/>
          </p:cNvPicPr>
          <p:nvPr/>
        </p:nvPicPr>
        <p:blipFill>
          <a:blip r:embed="rId3"/>
          <a:stretch>
            <a:fillRect/>
          </a:stretch>
        </p:blipFill>
        <p:spPr>
          <a:xfrm>
            <a:off x="7388347" y="3190336"/>
            <a:ext cx="3566160" cy="1883664"/>
          </a:xfrm>
          <a:prstGeom prst="rect">
            <a:avLst/>
          </a:prstGeom>
          <a:ln w="9525">
            <a:solidFill>
              <a:srgbClr val="6C4795"/>
            </a:solidFill>
          </a:ln>
        </p:spPr>
      </p:pic>
      <p:pic>
        <p:nvPicPr>
          <p:cNvPr id="78" name="Picture 77" descr="ongoru.png"/>
          <p:cNvPicPr>
            <a:picLocks noChangeAspect="1"/>
          </p:cNvPicPr>
          <p:nvPr/>
        </p:nvPicPr>
        <p:blipFill>
          <a:blip r:embed="rId4"/>
          <a:stretch>
            <a:fillRect/>
          </a:stretch>
        </p:blipFill>
        <p:spPr>
          <a:xfrm>
            <a:off x="12541724" y="3190336"/>
            <a:ext cx="3566160" cy="1883664"/>
          </a:xfrm>
          <a:prstGeom prst="rect">
            <a:avLst/>
          </a:prstGeom>
          <a:ln w="9525">
            <a:solidFill>
              <a:srgbClr val="6C4795"/>
            </a:solidFill>
          </a:ln>
        </p:spPr>
      </p:pic>
      <p:pic>
        <p:nvPicPr>
          <p:cNvPr id="79" name="Picture 78" descr="harita.png"/>
          <p:cNvPicPr>
            <a:picLocks noChangeAspect="1"/>
          </p:cNvPicPr>
          <p:nvPr/>
        </p:nvPicPr>
        <p:blipFill>
          <a:blip r:embed="rId5"/>
          <a:stretch>
            <a:fillRect/>
          </a:stretch>
        </p:blipFill>
        <p:spPr>
          <a:xfrm>
            <a:off x="2208545" y="7074743"/>
            <a:ext cx="3566160" cy="1883664"/>
          </a:xfrm>
          <a:prstGeom prst="rect">
            <a:avLst/>
          </a:prstGeom>
          <a:ln w="9525">
            <a:solidFill>
              <a:srgbClr val="6C4795"/>
            </a:solidFill>
          </a:ln>
        </p:spPr>
      </p:pic>
      <p:pic>
        <p:nvPicPr>
          <p:cNvPr id="80" name="Picture 79" descr="senaryo.png"/>
          <p:cNvPicPr>
            <a:picLocks noChangeAspect="1"/>
          </p:cNvPicPr>
          <p:nvPr/>
        </p:nvPicPr>
        <p:blipFill>
          <a:blip r:embed="rId6"/>
          <a:stretch>
            <a:fillRect/>
          </a:stretch>
        </p:blipFill>
        <p:spPr>
          <a:xfrm>
            <a:off x="7361921" y="7074743"/>
            <a:ext cx="3566160" cy="1883664"/>
          </a:xfrm>
          <a:prstGeom prst="rect">
            <a:avLst/>
          </a:prstGeom>
          <a:ln w="9525">
            <a:solidFill>
              <a:srgbClr val="6C4795"/>
            </a:solidFill>
          </a:ln>
        </p:spPr>
      </p:pic>
      <p:pic>
        <p:nvPicPr>
          <p:cNvPr id="81" name="Picture 80" descr="cekirdek.png"/>
          <p:cNvPicPr>
            <a:picLocks noChangeAspect="1"/>
          </p:cNvPicPr>
          <p:nvPr/>
        </p:nvPicPr>
        <p:blipFill>
          <a:blip r:embed="rId7"/>
          <a:stretch>
            <a:fillRect/>
          </a:stretch>
        </p:blipFill>
        <p:spPr>
          <a:xfrm>
            <a:off x="12515298" y="7074743"/>
            <a:ext cx="3566160" cy="1883664"/>
          </a:xfrm>
          <a:prstGeom prst="rect">
            <a:avLst/>
          </a:prstGeom>
          <a:ln w="9525">
            <a:solidFill>
              <a:srgbClr val="6C4795"/>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E7718AC1-ADD5-4499-8129-F3636A526937}"/>
              </a:ext>
            </a:extLst>
          </p:cNvPr>
          <p:cNvSpPr>
            <a:spLocks noGrp="1"/>
          </p:cNvSpPr>
          <p:nvPr>
            <p:ph type="title"/>
          </p:nvPr>
        </p:nvSpPr>
        <p:spPr/>
        <p:txBody>
          <a:bodyPr/>
          <a:lstStyle/>
          <a:p>
            <a:r>
              <a:rPr lang="tr-TR" dirty="0" b="1">
                <a:latin typeface="Arial"/>
              </a:rPr>
              <a:t>Yapay Zekâ: Hibrit ve Dürüst</a:t>
            </a:r>
          </a:p>
        </p:txBody>
      </p:sp>
      <p:sp>
        <p:nvSpPr>
          <p:cNvPr id="30" name="TextBox 29"/>
          <p:cNvSpPr txBox="1"/>
          <p:nvPr/>
        </p:nvSpPr>
        <p:spPr>
          <a:xfrm>
            <a:off x="548640" y="2011680"/>
            <a:ext cx="8412480" cy="7680960"/>
          </a:xfrm>
          <a:prstGeom prst="rect">
            <a:avLst/>
          </a:prstGeom>
          <a:noFill/>
        </p:spPr>
        <p:txBody>
          <a:bodyPr wrap="square">
            <a:spAutoFit/>
          </a:bodyPr>
          <a:lstStyle/>
          <a:p>
            <a:pPr>
              <a:spcAft>
                <a:spcPts val="600"/>
              </a:spcAft>
            </a:pPr>
            <a:r>
              <a:rPr sz="1900" b="1">
                <a:solidFill>
                  <a:srgbClr val="E85BD0"/>
                </a:solidFill>
                <a:latin typeface="Arial"/>
              </a:rPr>
              <a:t>İstatistik temel, yapay zekâ üstüne düzeltme</a:t>
            </a:r>
          </a:p>
          <a:p>
            <a:pPr>
              <a:spcAft>
                <a:spcPts val="600"/>
              </a:spcAft>
            </a:pPr>
            <a:r>
              <a:rPr sz="1400" b="0">
                <a:solidFill>
                  <a:srgbClr val="CBBCE6"/>
                </a:solidFill>
                <a:latin typeface="Arial"/>
              </a:rPr>
              <a:t>Ağ, istatistiksel tahminin üzerine çarpan bir düzeltme öğreniyor. Az veriyle bu yaklaşım daha kararlı kalıyor.</a:t>
            </a:r>
          </a:p>
          <a:p>
            <a:pPr>
              <a:spcAft>
                <a:spcPts val="600"/>
              </a:spcAft>
            </a:pPr>
            <a:r>
              <a:rPr sz="1600" b="1">
                <a:solidFill>
                  <a:srgbClr val="FFFFFF"/>
                </a:solidFill>
                <a:latin typeface="Arial"/>
              </a:rPr>
              <a:t>Parça talebi çok kesikli, medyanı yılda 11 adet</a:t>
            </a:r>
          </a:p>
          <a:p>
            <a:pPr>
              <a:spcAft>
                <a:spcPts val="600"/>
              </a:spcAft>
            </a:pPr>
            <a:r>
              <a:rPr sz="1400" b="0">
                <a:solidFill>
                  <a:srgbClr val="CBBCE6"/>
                </a:solidFill>
                <a:latin typeface="Arial"/>
              </a:rPr>
              <a:t>Bu yüzden tekil parçada klasik yöntemler kullanılıyor. Ağ şimdilik sadece öneri veriyor, kararı vermiyor.</a:t>
            </a:r>
          </a:p>
          <a:p>
            <a:pPr>
              <a:spcAft>
                <a:spcPts val="600"/>
              </a:spcAft>
            </a:pPr>
            <a:r>
              <a:rPr sz="1600" b="1">
                <a:solidFill>
                  <a:srgbClr val="FFFFFF"/>
                </a:solidFill>
                <a:latin typeface="Arial"/>
              </a:rPr>
              <a:t>Yeni parçaların geçmişi yok, 2033 talebinin %65’i bunlarda</a:t>
            </a:r>
          </a:p>
          <a:p>
            <a:pPr>
              <a:spcAft>
                <a:spcPts val="600"/>
              </a:spcAft>
            </a:pPr>
            <a:r>
              <a:rPr sz="1400" b="0">
                <a:solidFill>
                  <a:srgbClr val="CBBCE6"/>
                </a:solidFill>
                <a:latin typeface="Arial"/>
              </a:rPr>
              <a:t>Tahmine benzer parçalardan başlıyoruz. Gerçek veri geldikçe model o parçaya yakınsıyor.</a:t>
            </a:r>
          </a:p>
        </p:txBody>
      </p:sp>
      <p:sp>
        <p:nvSpPr>
          <p:cNvPr id="31" name="Rounded Rectangle 30"/>
          <p:cNvSpPr/>
          <p:nvPr/>
        </p:nvSpPr>
        <p:spPr>
          <a:xfrm>
            <a:off x="9491472" y="2121408"/>
            <a:ext cx="7900415" cy="2660903"/>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0" y="2286000"/>
            <a:ext cx="7498079" cy="2331720"/>
          </a:xfrm>
          <a:prstGeom prst="rect">
            <a:avLst/>
          </a:prstGeom>
          <a:noFill/>
        </p:spPr>
        <p:txBody>
          <a:bodyPr wrap="square">
            <a:spAutoFit/>
          </a:bodyPr>
          <a:lstStyle/>
          <a:p>
            <a:pPr>
              <a:spcAft>
                <a:spcPts val="600"/>
              </a:spcAft>
            </a:pPr>
            <a:r>
              <a:rPr sz="4400" b="1">
                <a:solidFill>
                  <a:srgbClr val="E85BD0"/>
                </a:solidFill>
                <a:latin typeface="Arial"/>
              </a:rPr>
              <a:t>%16,3 → %0,4</a:t>
            </a:r>
          </a:p>
          <a:p>
            <a:pPr>
              <a:spcAft>
                <a:spcPts val="600"/>
              </a:spcAft>
            </a:pPr>
            <a:r>
              <a:rPr sz="1400" b="0">
                <a:solidFill>
                  <a:srgbClr val="FFFFFF"/>
                </a:solidFill>
                <a:latin typeface="Arial"/>
              </a:rPr>
              <a:t>Modeli görmediği bir çeyrekle sınadık. Yılın ilk yarısıyla üçüncü</a:t>
            </a:r>
          </a:p>
          <a:p>
            <a:pPr>
              <a:spcAft>
                <a:spcPts val="600"/>
              </a:spcAft>
            </a:pPr>
            <a:r>
              <a:rPr sz="1400" b="0">
                <a:solidFill>
                  <a:srgbClr val="FFFFFF"/>
                </a:solidFill>
                <a:latin typeface="Arial"/>
              </a:rPr>
              <a:t>çeyreği tahmin etti ve toplam hata binde dörde indi.</a:t>
            </a:r>
          </a:p>
        </p:txBody>
      </p:sp>
      <p:sp>
        <p:nvSpPr>
          <p:cNvPr id="33" name="Rounded Rectangle 32"/>
          <p:cNvSpPr/>
          <p:nvPr/>
        </p:nvSpPr>
        <p:spPr>
          <a:xfrm>
            <a:off x="9491472" y="5093208"/>
            <a:ext cx="7900415" cy="3072384"/>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0" y="5257800"/>
            <a:ext cx="7498079" cy="2743200"/>
          </a:xfrm>
          <a:prstGeom prst="rect">
            <a:avLst/>
          </a:prstGeom>
          <a:noFill/>
        </p:spPr>
        <p:txBody>
          <a:bodyPr wrap="square">
            <a:spAutoFit/>
          </a:bodyPr>
          <a:lstStyle/>
          <a:p>
            <a:pPr>
              <a:spcAft>
                <a:spcPts val="600"/>
              </a:spcAft>
            </a:pPr>
            <a:r>
              <a:rPr sz="1600" b="1">
                <a:solidFill>
                  <a:srgbClr val="F2B34C"/>
                </a:solidFill>
                <a:latin typeface="Arial"/>
              </a:rPr>
              <a:t>Dört bağımsız doğrulama</a:t>
            </a:r>
          </a:p>
          <a:p>
            <a:pPr>
              <a:spcAft>
                <a:spcPts val="600"/>
              </a:spcAft>
            </a:pPr>
            <a:r>
              <a:rPr sz="1400" b="0">
                <a:solidFill>
                  <a:srgbClr val="CBBCE6"/>
                </a:solidFill>
                <a:latin typeface="Arial"/>
              </a:rPr>
              <a:t>Float tahmini sahayla %97 uyumlu. Risk sıralamasının birincisi gerçekten stokta riskli.</a:t>
            </a:r>
          </a:p>
          <a:p>
            <a:pPr>
              <a:spcAft>
                <a:spcPts val="600"/>
              </a:spcAft>
            </a:pPr>
            <a:r>
              <a:rPr sz="1400" b="0">
                <a:solidFill>
                  <a:srgbClr val="CBBCE6"/>
                </a:solidFill>
                <a:latin typeface="Arial"/>
              </a:rPr>
              <a:t>Geri test binde 4 hata verdi. Simülasyon, formülle %99,5 uyum gösterdi.</a:t>
            </a:r>
          </a:p>
          <a:p>
            <a:pPr>
              <a:spcAft>
                <a:spcPts val="600"/>
              </a:spcAft>
            </a:pPr>
            <a:r>
              <a:rPr sz="1400" b="1">
                <a:solidFill>
                  <a:srgbClr val="FFFFFF"/>
                </a:solidFill>
                <a:latin typeface="Arial"/>
              </a:rPr>
              <a:t>Kaydırıcılar, senaryolar ve optimizasyon hep bu doğrulanmış çekirdekte çalışıyor.</a:t>
            </a:r>
          </a:p>
        </p:txBody>
      </p:sp>
      <p:pic>
        <p:nvPicPr>
          <p:cNvPr id="35" name="Picture 34" descr="s5_backtest.png"/>
          <p:cNvPicPr>
            <a:picLocks noChangeAspect="1"/>
          </p:cNvPicPr>
          <p:nvPr/>
        </p:nvPicPr>
        <p:blipFill>
          <a:blip r:embed="rId3"/>
          <a:stretch>
            <a:fillRect/>
          </a:stretch>
        </p:blipFill>
        <p:spPr>
          <a:xfrm>
            <a:off x="548640" y="4480560"/>
            <a:ext cx="7680960" cy="23042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1">
            <a:extLst>
              <a:ext uri="{FF2B5EF4-FFF2-40B4-BE49-F238E27FC236}">
                <a16:creationId xmlns:a16="http://schemas.microsoft.com/office/drawing/2014/main" id="{2ED4C533-4AB7-3A49-D674-7EF861C21E70}"/>
              </a:ext>
            </a:extLst>
          </p:cNvPr>
          <p:cNvSpPr txBox="1">
            <a:spLocks/>
          </p:cNvSpPr>
          <p:nvPr/>
        </p:nvSpPr>
        <p:spPr>
          <a:xfrm>
            <a:off x="483800" y="456595"/>
            <a:ext cx="9344550" cy="1143000"/>
          </a:xfrm>
          <a:prstGeom prst="rect">
            <a:avLst/>
          </a:prstGeom>
        </p:spPr>
        <p:txBody>
          <a:bodyPr vert="horz" lIns="91440" tIns="45720" rIns="91440" bIns="45720" rtlCol="0" anchor="ctr">
            <a:normAutofit/>
          </a:bodyPr>
          <a:lstStyle>
            <a:lvl1pPr>
              <a:spcBef>
                <a:spcPct val="0"/>
              </a:spcBef>
              <a:buNone/>
              <a:defRPr sz="4400" b="1">
                <a:solidFill>
                  <a:schemeClr val="bg1"/>
                </a:solidFill>
                <a:latin typeface="Poppins Bold" panose="00000800000000000000" charset="0"/>
                <a:ea typeface="+mj-ea"/>
                <a:cs typeface="Poppins Bold" panose="00000800000000000000" charset="0"/>
              </a:defRPr>
            </a:lvl1pPr>
          </a:lstStyle>
          <a:p>
            <a:r>
              <a:rPr lang="tr-TR" dirty="0" b="1">
                <a:latin typeface="Arial"/>
              </a:rPr>
              <a:t>Önceliklendirme, Kriz Dayanıklılığı ve Başarı Ölçütü</a:t>
            </a:r>
          </a:p>
        </p:txBody>
      </p:sp>
      <p:sp>
        <p:nvSpPr>
          <p:cNvPr id="5" name="Rounded Rectangle 4"/>
          <p:cNvSpPr/>
          <p:nvPr/>
        </p:nvSpPr>
        <p:spPr>
          <a:xfrm>
            <a:off x="347472" y="1938527"/>
            <a:ext cx="5797296" cy="7278624"/>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03120"/>
            <a:ext cx="5394960" cy="6949440"/>
          </a:xfrm>
          <a:prstGeom prst="rect">
            <a:avLst/>
          </a:prstGeom>
          <a:noFill/>
        </p:spPr>
        <p:txBody>
          <a:bodyPr wrap="square">
            <a:spAutoFit/>
          </a:bodyPr>
          <a:lstStyle/>
          <a:p>
            <a:pPr>
              <a:spcAft>
                <a:spcPts val="600"/>
              </a:spcAft>
            </a:pPr>
            <a:r>
              <a:rPr sz="1500" b="1">
                <a:solidFill>
                  <a:srgbClr val="E85BD0"/>
                </a:solidFill>
                <a:latin typeface="Arial"/>
              </a:rPr>
              <a:t>ÖNCE NE YAPMALI?</a:t>
            </a:r>
          </a:p>
          <a:p>
            <a:pPr>
              <a:spcAft>
                <a:spcPts val="600"/>
              </a:spcAft>
            </a:pPr>
            <a:r>
              <a:rPr sz="1350" b="0">
                <a:solidFill>
                  <a:srgbClr val="CBBCE6"/>
                </a:solidFill>
                <a:latin typeface="Arial"/>
              </a:rPr>
              <a:t>Üç büyük para kalemi var: yılda 67,8 M$ hurda, 23,3 M$ tamir döngüsü ve 52,0 M$ emekli filo stoğu.</a:t>
            </a:r>
          </a:p>
          <a:p>
            <a:pPr>
              <a:spcAft>
                <a:spcPts val="600"/>
              </a:spcAft>
            </a:pPr>
            <a:r>
              <a:rPr sz="1350" b="0">
                <a:solidFill>
                  <a:srgbClr val="CBBCE6"/>
                </a:solidFill>
                <a:latin typeface="Arial"/>
              </a:rPr>
              <a:t>Her alım, harcanan para başına en çok riski azaltana göre sıralanıyor. İlk milyonlar en çok işe yarıyor.</a:t>
            </a:r>
          </a:p>
          <a:p>
            <a:pPr>
              <a:spcAft>
                <a:spcPts val="600"/>
              </a:spcAft>
            </a:pPr>
            <a:r>
              <a:rPr sz="1350" b="1">
                <a:solidFill>
                  <a:srgbClr val="FFFFFF"/>
                </a:solidFill>
                <a:latin typeface="Arial"/>
              </a:rPr>
              <a:t>Atölye kabiliyeti yatırımı 547 parçada yılda 12,1 M$ tasarruf getiriyor.</a:t>
            </a:r>
          </a:p>
          <a:p>
            <a:pPr>
              <a:spcAft>
                <a:spcPts val="600"/>
              </a:spcAft>
            </a:pPr>
            <a:r>
              <a:rPr sz="1350" b="0">
                <a:solidFill>
                  <a:srgbClr val="CBBCE6"/>
                </a:solidFill>
                <a:latin typeface="Arial"/>
              </a:rPr>
              <a:t>En büyük etken tedarik süresi. Yüzde 20 değişince maliyet 23 ile 45 M$ arasında oynuyor.</a:t>
            </a:r>
          </a:p>
          <a:p>
            <a:pPr>
              <a:spcAft>
                <a:spcPts val="600"/>
              </a:spcAft>
            </a:pPr>
            <a:r>
              <a:rPr sz="1350" b="0">
                <a:solidFill>
                  <a:srgbClr val="CBBCE6"/>
                </a:solidFill>
                <a:latin typeface="Arial"/>
              </a:rPr>
              <a:t>İlk faz sadece görünürlük. Daha ilk gün stoğu biten 72 parça yakalanıyor.</a:t>
            </a:r>
          </a:p>
        </p:txBody>
      </p:sp>
      <p:sp>
        <p:nvSpPr>
          <p:cNvPr id="7" name="Rounded Rectangle 6"/>
          <p:cNvSpPr/>
          <p:nvPr/>
        </p:nvSpPr>
        <p:spPr>
          <a:xfrm>
            <a:off x="6336792" y="1938527"/>
            <a:ext cx="5797296" cy="7278624"/>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2103120"/>
            <a:ext cx="5394960" cy="6949440"/>
          </a:xfrm>
          <a:prstGeom prst="rect">
            <a:avLst/>
          </a:prstGeom>
          <a:noFill/>
        </p:spPr>
        <p:txBody>
          <a:bodyPr wrap="square">
            <a:spAutoFit/>
          </a:bodyPr>
          <a:lstStyle/>
          <a:p>
            <a:pPr>
              <a:spcAft>
                <a:spcPts val="600"/>
              </a:spcAft>
            </a:pPr>
            <a:r>
              <a:rPr sz="1500" b="1">
                <a:solidFill>
                  <a:srgbClr val="E85BD0"/>
                </a:solidFill>
                <a:latin typeface="Arial"/>
              </a:rPr>
              <a:t>KRİZ BİR AYAR DEĞİŞİKLİĞİDİR</a:t>
            </a:r>
          </a:p>
          <a:p>
            <a:pPr>
              <a:spcAft>
                <a:spcPts val="600"/>
              </a:spcAft>
            </a:pPr>
            <a:r>
              <a:rPr sz="1350" b="0">
                <a:solidFill>
                  <a:srgbClr val="CBBCE6"/>
                </a:solidFill>
                <a:latin typeface="Arial"/>
              </a:rPr>
              <a:t>Her kriz ya stoğun dayanma süresini kısaltır ya da tedarik süresini uzatır. İkisi de birer ayar.</a:t>
            </a:r>
          </a:p>
          <a:p>
            <a:pPr>
              <a:spcAft>
                <a:spcPts val="600"/>
              </a:spcAft>
            </a:pPr>
            <a:r>
              <a:rPr sz="1350" b="1">
                <a:solidFill>
                  <a:srgbClr val="FFFFFF"/>
                </a:solidFill>
                <a:latin typeface="Arial"/>
              </a:rPr>
              <a:t>Motor ailesi krizini canlı deniyoruz. Riskli parça sayısı 134’ten 477’ye çıkıyor.</a:t>
            </a:r>
          </a:p>
          <a:p>
            <a:pPr>
              <a:spcAft>
                <a:spcPts val="600"/>
              </a:spcAft>
            </a:pPr>
            <a:r>
              <a:rPr sz="1350" b="0">
                <a:solidFill>
                  <a:srgbClr val="CBBCE6"/>
                </a:solidFill>
                <a:latin typeface="Arial"/>
              </a:rPr>
              <a:t>Simülasyon aynı senaryoda 796 parça ve 39,4 M$ ek ihtiyaç gösteriyor.</a:t>
            </a:r>
          </a:p>
          <a:p>
            <a:pPr>
              <a:spcAft>
                <a:spcPts val="600"/>
              </a:spcAft>
            </a:pPr>
            <a:r>
              <a:rPr sz="1350" b="0">
                <a:solidFill>
                  <a:srgbClr val="CBBCE6"/>
                </a:solidFill>
                <a:latin typeface="Arial"/>
              </a:rPr>
              <a:t>Kütüphanede pandemi, OEM gecikmesi, lojistik ve kur şoku senaryoları hazır.</a:t>
            </a:r>
          </a:p>
          <a:p>
            <a:pPr>
              <a:spcAft>
                <a:spcPts val="600"/>
              </a:spcAft>
            </a:pPr>
            <a:r>
              <a:rPr sz="1350" b="0">
                <a:solidFill>
                  <a:srgbClr val="CBBCE6"/>
                </a:solidFill>
                <a:latin typeface="Arial"/>
              </a:rPr>
              <a:t>Kriz planı önceden yazılıyor ve her çeyrek bir senaryo prova ediliyor.</a:t>
            </a:r>
          </a:p>
        </p:txBody>
      </p:sp>
      <p:sp>
        <p:nvSpPr>
          <p:cNvPr id="9" name="Rounded Rectangle 8"/>
          <p:cNvSpPr/>
          <p:nvPr/>
        </p:nvSpPr>
        <p:spPr>
          <a:xfrm>
            <a:off x="12326111" y="1938527"/>
            <a:ext cx="5522976" cy="7278624"/>
          </a:xfrm>
          <a:prstGeom prst="roundRect">
            <a:avLst>
              <a:gd name="adj" fmla="val 5500"/>
            </a:avLst>
          </a:prstGeom>
          <a:solidFill>
            <a:srgbClr val="432663"/>
          </a:solidFill>
          <a:ln w="12700">
            <a:solidFill>
              <a:srgbClr val="6C47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527280" y="2103120"/>
            <a:ext cx="5120640" cy="6949440"/>
          </a:xfrm>
          <a:prstGeom prst="rect">
            <a:avLst/>
          </a:prstGeom>
          <a:noFill/>
        </p:spPr>
        <p:txBody>
          <a:bodyPr wrap="square">
            <a:spAutoFit/>
          </a:bodyPr>
          <a:lstStyle/>
          <a:p>
            <a:pPr>
              <a:spcAft>
                <a:spcPts val="600"/>
              </a:spcAft>
            </a:pPr>
            <a:r>
              <a:rPr sz="1500" b="1">
                <a:solidFill>
                  <a:srgbClr val="E85BD0"/>
                </a:solidFill>
                <a:latin typeface="Arial"/>
              </a:rPr>
              <a:t>BAŞARIYI NASIL ÖLÇERİZ?</a:t>
            </a:r>
          </a:p>
          <a:p>
            <a:pPr>
              <a:spcAft>
                <a:spcPts val="600"/>
              </a:spcAft>
            </a:pPr>
            <a:r>
              <a:rPr sz="1350" b="1">
                <a:solidFill>
                  <a:srgbClr val="FFFFFF"/>
                </a:solidFill>
                <a:latin typeface="Arial"/>
              </a:rPr>
              <a:t>Ana ölçüt, parça yüzünden yerde bekleyen uçak oranının düşmesi. Her saati gelir kaybı.</a:t>
            </a:r>
          </a:p>
          <a:p>
            <a:pPr>
              <a:spcAft>
                <a:spcPts val="600"/>
              </a:spcAft>
            </a:pPr>
            <a:r>
              <a:rPr sz="1350" b="0">
                <a:solidFill>
                  <a:srgbClr val="CBBCE6"/>
                </a:solidFill>
                <a:latin typeface="Arial"/>
              </a:rPr>
              <a:t>Stoğu biten ama siparişi olmayan parça sayısı sıfıra iniyor. Her uyarı bir aksiyona bağlanıyor.</a:t>
            </a:r>
          </a:p>
          <a:p>
            <a:pPr>
              <a:spcAft>
                <a:spcPts val="600"/>
              </a:spcAft>
            </a:pPr>
            <a:r>
              <a:rPr sz="1350" b="0">
                <a:solidFill>
                  <a:srgbClr val="CBBCE6"/>
                </a:solidFill>
                <a:latin typeface="Arial"/>
              </a:rPr>
              <a:t>Kritik parça karşılama oranı %97-98’in üstünde tutuluyor.</a:t>
            </a:r>
          </a:p>
          <a:p>
            <a:pPr>
              <a:spcAft>
                <a:spcPts val="600"/>
              </a:spcAft>
            </a:pPr>
            <a:r>
              <a:rPr sz="1350" b="0">
                <a:solidFill>
                  <a:srgbClr val="CBBCE6"/>
                </a:solidFill>
                <a:latin typeface="Arial"/>
              </a:rPr>
              <a:t>Otomasyona geçiş, tahmin doğruluğu ve öneri kabul oranı eşiğine bağlı.</a:t>
            </a:r>
          </a:p>
          <a:p>
            <a:pPr>
              <a:spcAft>
                <a:spcPts val="600"/>
              </a:spcAft>
            </a:pPr>
            <a:r>
              <a:rPr sz="1350" b="0">
                <a:solidFill>
                  <a:srgbClr val="CBBCE6"/>
                </a:solidFill>
                <a:latin typeface="Arial"/>
              </a:rPr>
              <a:t>Servis, stok şişirilerek değil tedarik süresi kısaltılarak korunuyor.</a:t>
            </a:r>
          </a:p>
        </p:txBody>
      </p:sp>
      <p:pic>
        <p:nvPicPr>
          <p:cNvPr id="11" name="Picture 10" descr="s6_taps.png"/>
          <p:cNvPicPr>
            <a:picLocks noChangeAspect="1"/>
          </p:cNvPicPr>
          <p:nvPr/>
        </p:nvPicPr>
        <p:blipFill>
          <a:blip r:embed="rId3"/>
          <a:stretch>
            <a:fillRect/>
          </a:stretch>
        </p:blipFill>
        <p:spPr>
          <a:xfrm>
            <a:off x="1005840" y="5669280"/>
            <a:ext cx="4480560" cy="2770632"/>
          </a:xfrm>
          <a:prstGeom prst="rect">
            <a:avLst/>
          </a:prstGeom>
        </p:spPr>
      </p:pic>
      <p:pic>
        <p:nvPicPr>
          <p:cNvPr id="12" name="Picture 11" descr="s6_kriz.png"/>
          <p:cNvPicPr>
            <a:picLocks noChangeAspect="1"/>
          </p:cNvPicPr>
          <p:nvPr/>
        </p:nvPicPr>
        <p:blipFill>
          <a:blip r:embed="rId4"/>
          <a:stretch>
            <a:fillRect/>
          </a:stretch>
        </p:blipFill>
        <p:spPr>
          <a:xfrm>
            <a:off x="6995160" y="5669280"/>
            <a:ext cx="4480560" cy="2770632"/>
          </a:xfrm>
          <a:prstGeom prst="rect">
            <a:avLst/>
          </a:prstGeom>
        </p:spPr>
      </p:pic>
      <p:pic>
        <p:nvPicPr>
          <p:cNvPr id="13" name="Picture 12" descr="s6_basari.png"/>
          <p:cNvPicPr>
            <a:picLocks noChangeAspect="1"/>
          </p:cNvPicPr>
          <p:nvPr/>
        </p:nvPicPr>
        <p:blipFill>
          <a:blip r:embed="rId5"/>
          <a:stretch>
            <a:fillRect/>
          </a:stretch>
        </p:blipFill>
        <p:spPr>
          <a:xfrm>
            <a:off x="12938760" y="5669280"/>
            <a:ext cx="4297680" cy="2752344"/>
          </a:xfrm>
          <a:prstGeom prst="rect">
            <a:avLst/>
          </a:prstGeom>
        </p:spPr>
      </p:pic>
    </p:spTree>
    <p:extLst>
      <p:ext uri="{BB962C8B-B14F-4D97-AF65-F5344CB8AC3E}">
        <p14:creationId xmlns:p14="http://schemas.microsoft.com/office/powerpoint/2010/main" val="12516168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1D52"/>
        </a:solidFill>
        <a:effectLst/>
      </p:bgPr>
    </p:bg>
    <p:spTree>
      <p:nvGrpSpPr>
        <p:cNvPr id="1" name=""/>
        <p:cNvGrpSpPr/>
        <p:nvPr/>
      </p:nvGrpSpPr>
      <p:grpSpPr>
        <a:xfrm>
          <a:off x="0" y="0"/>
          <a:ext cx="0" cy="0"/>
          <a:chOff x="0" y="0"/>
          <a:chExt cx="0" cy="0"/>
        </a:xfrm>
      </p:grpSpPr>
      <p:sp>
        <p:nvSpPr>
          <p:cNvPr id="2" name="TextBox 1"/>
          <p:cNvSpPr txBox="1"/>
          <p:nvPr/>
        </p:nvSpPr>
        <p:spPr>
          <a:xfrm>
            <a:off x="1097280" y="1554480"/>
            <a:ext cx="16093440" cy="3291840"/>
          </a:xfrm>
          <a:prstGeom prst="rect">
            <a:avLst/>
          </a:prstGeom>
          <a:noFill/>
        </p:spPr>
        <p:txBody>
          <a:bodyPr wrap="square">
            <a:spAutoFit/>
          </a:bodyPr>
          <a:lstStyle/>
          <a:p>
            <a:pPr>
              <a:spcAft>
                <a:spcPts val="600"/>
              </a:spcAft>
            </a:pPr>
            <a:r>
              <a:rPr sz="2400" b="0">
                <a:solidFill>
                  <a:srgbClr val="FFFFFF"/>
                </a:solidFill>
                <a:latin typeface="Arial"/>
              </a:rPr>
              <a:t>“2033’e daha büyük bir depoyla değil, her parçanın görünür,</a:t>
            </a:r>
          </a:p>
          <a:p>
            <a:pPr>
              <a:spcAft>
                <a:spcPts val="600"/>
              </a:spcAft>
            </a:pPr>
            <a:r>
              <a:rPr sz="2400" b="0">
                <a:solidFill>
                  <a:srgbClr val="FFFFFF"/>
                </a:solidFill>
                <a:latin typeface="Arial"/>
              </a:rPr>
              <a:t>her kararın kurallı, her planın esnek ve her krizin önceden</a:t>
            </a:r>
          </a:p>
          <a:p>
            <a:pPr>
              <a:spcAft>
                <a:spcPts val="600"/>
              </a:spcAft>
            </a:pPr>
            <a:r>
              <a:rPr sz="2400" b="0">
                <a:solidFill>
                  <a:srgbClr val="FFFFFF"/>
                </a:solidFill>
                <a:latin typeface="Arial"/>
              </a:rPr>
              <a:t>prova edilmiş olduğu bir işletim modeliyle gidiyoruz.”</a:t>
            </a:r>
          </a:p>
          <a:p>
            <a:pPr>
              <a:spcAft>
                <a:spcPts val="600"/>
              </a:spcAft>
            </a:pPr>
            <a:r>
              <a:rPr sz="1900" b="1">
                <a:solidFill>
                  <a:srgbClr val="E85BD0"/>
                </a:solidFill>
                <a:latin typeface="Arial"/>
              </a:rPr>
              <a:t>Kontrol Kulesi, bu modelin yazılım hâli.</a:t>
            </a:r>
          </a:p>
        </p:txBody>
      </p:sp>
      <p:sp>
        <p:nvSpPr>
          <p:cNvPr id="3" name="TextBox 2"/>
          <p:cNvSpPr txBox="1"/>
          <p:nvPr/>
        </p:nvSpPr>
        <p:spPr>
          <a:xfrm>
            <a:off x="1097280" y="8732520"/>
            <a:ext cx="16093440" cy="822960"/>
          </a:xfrm>
          <a:prstGeom prst="rect">
            <a:avLst/>
          </a:prstGeom>
          <a:noFill/>
        </p:spPr>
        <p:txBody>
          <a:bodyPr wrap="square">
            <a:spAutoFit/>
          </a:bodyPr>
          <a:lstStyle/>
          <a:p>
            <a:pPr>
              <a:spcAft>
                <a:spcPts val="600"/>
              </a:spcAft>
            </a:pPr>
            <a:r>
              <a:rPr sz="1500" b="0">
                <a:solidFill>
                  <a:srgbClr val="CBBCE6"/>
                </a:solidFill>
                <a:latin typeface="Arial"/>
              </a:rPr>
              <a:t>Canlı demo ve tüm sayıların yeniden üretimi için hazırız  ·  Grup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2CE1E3FE0C01D54A87C70E2BF977E270" ma:contentTypeVersion="7" ma:contentTypeDescription="Yeni belge oluşturun." ma:contentTypeScope="" ma:versionID="29a5349e0f798aae68fe3c4020c37b51">
  <xsd:schema xmlns:xsd="http://www.w3.org/2001/XMLSchema" xmlns:xs="http://www.w3.org/2001/XMLSchema" xmlns:p="http://schemas.microsoft.com/office/2006/metadata/properties" xmlns:ns2="96915b1a-16ed-49c5-840b-d635c360daf3" targetNamespace="http://schemas.microsoft.com/office/2006/metadata/properties" ma:root="true" ma:fieldsID="3135bb095a10b3c87f1ffdea0eb2a1bf" ns2:_="">
    <xsd:import namespace="96915b1a-16ed-49c5-840b-d635c360daf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915b1a-16ed-49c5-840b-d635c360da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AC10EA-245A-415B-918F-539DB0265E82}"/>
</file>

<file path=customXml/itemProps2.xml><?xml version="1.0" encoding="utf-8"?>
<ds:datastoreItem xmlns:ds="http://schemas.openxmlformats.org/officeDocument/2006/customXml" ds:itemID="{EAAF031C-E53C-4C2E-8CD5-7D8A48378DBB}">
  <ds:schemaRefs>
    <ds:schemaRef ds:uri="http://schemas.microsoft.com/office/2006/metadata/properties"/>
    <ds:schemaRef ds:uri="http://schemas.microsoft.com/office/infopath/2007/PartnerControls"/>
    <ds:schemaRef ds:uri="f283dca3-71b7-4198-b50d-6ed96f6ac6c9"/>
    <ds:schemaRef ds:uri="ee289c5a-4b87-45fa-b5f5-c39abd7e0d6e"/>
  </ds:schemaRefs>
</ds:datastoreItem>
</file>

<file path=customXml/itemProps3.xml><?xml version="1.0" encoding="utf-8"?>
<ds:datastoreItem xmlns:ds="http://schemas.openxmlformats.org/officeDocument/2006/customXml" ds:itemID="{97C8B4AE-54BB-4FA3-9025-4AC34513C7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11597</TotalTime>
  <Words>432</Words>
  <Application>Microsoft Office PowerPoint</Application>
  <PresentationFormat>Özel</PresentationFormat>
  <Paragraphs>81</Paragraphs>
  <Slides>7</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7</vt:i4>
      </vt:variant>
    </vt:vector>
  </HeadingPairs>
  <TitlesOfParts>
    <vt:vector size="14" baseType="lpstr">
      <vt:lpstr>Calibri</vt:lpstr>
      <vt:lpstr>Poppins Bold</vt:lpstr>
      <vt:lpstr>Poppins Thin</vt:lpstr>
      <vt:lpstr>Poppins</vt:lpstr>
      <vt:lpstr>Poppins Semi-Bold</vt:lpstr>
      <vt:lpstr>Arial</vt:lpstr>
      <vt:lpstr>Office Theme</vt:lpstr>
      <vt:lpstr>PowerPoint Sunusu</vt:lpstr>
      <vt:lpstr>BAŞLIK</vt:lpstr>
      <vt:lpstr>BAŞLIK</vt:lpstr>
      <vt:lpstr>Başlık</vt:lpstr>
      <vt:lpstr>BAŞLIK</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Oryantasyon Sunum Şablonu</dc:title>
  <dc:creator>ELIF GUNAY - Insan Kaynaklari Mukemmeliyet Merkezi Mudurlugu</dc:creator>
  <cp:lastModifiedBy>Elif Günay</cp:lastModifiedBy>
  <cp:revision>14</cp:revision>
  <dcterms:created xsi:type="dcterms:W3CDTF">2006-08-16T00:00:00Z</dcterms:created>
  <dcterms:modified xsi:type="dcterms:W3CDTF">2026-04-22T09:22:01Z</dcterms:modified>
  <dc:identifier>DAG7TE8X8lM</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afd3599-0f4f-4f44-ad97-dd2909d383ab_Enabled">
    <vt:lpwstr>true</vt:lpwstr>
  </property>
  <property fmtid="{D5CDD505-2E9C-101B-9397-08002B2CF9AE}" pid="3" name="MSIP_Label_5afd3599-0f4f-4f44-ad97-dd2909d383ab_SetDate">
    <vt:lpwstr>2026-01-06T10:54:10Z</vt:lpwstr>
  </property>
  <property fmtid="{D5CDD505-2E9C-101B-9397-08002B2CF9AE}" pid="4" name="MSIP_Label_5afd3599-0f4f-4f44-ad97-dd2909d383ab_Method">
    <vt:lpwstr>Privileged</vt:lpwstr>
  </property>
  <property fmtid="{D5CDD505-2E9C-101B-9397-08002B2CF9AE}" pid="5" name="MSIP_Label_5afd3599-0f4f-4f44-ad97-dd2909d383ab_Name">
    <vt:lpwstr>Personal</vt:lpwstr>
  </property>
  <property fmtid="{D5CDD505-2E9C-101B-9397-08002B2CF9AE}" pid="6" name="MSIP_Label_5afd3599-0f4f-4f44-ad97-dd2909d383ab_SiteId">
    <vt:lpwstr>745a1b8b-9958-4d1e-ac1c-f741f0ff4eba</vt:lpwstr>
  </property>
  <property fmtid="{D5CDD505-2E9C-101B-9397-08002B2CF9AE}" pid="7" name="MSIP_Label_5afd3599-0f4f-4f44-ad97-dd2909d383ab_ActionId">
    <vt:lpwstr>b7861972-e192-446b-bcad-1cdfbe82ddbd</vt:lpwstr>
  </property>
  <property fmtid="{D5CDD505-2E9C-101B-9397-08002B2CF9AE}" pid="8" name="MSIP_Label_5afd3599-0f4f-4f44-ad97-dd2909d383ab_ContentBits">
    <vt:lpwstr>1</vt:lpwstr>
  </property>
  <property fmtid="{D5CDD505-2E9C-101B-9397-08002B2CF9AE}" pid="9" name="ContentTypeId">
    <vt:lpwstr>0x0101002CE1E3FE0C01D54A87C70E2BF977E270</vt:lpwstr>
  </property>
</Properties>
</file>