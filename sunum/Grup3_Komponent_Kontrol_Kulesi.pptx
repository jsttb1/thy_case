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4" r:id="rId10"/>
    <p:sldId id="263" r:id="rId11"/>
  </p:sldIdLst>
  <p:sldSz cx="18288000" cy="10287000"/>
  <p:notesSz cx="6858000" cy="9144000"/>
  <p:embeddedFontLst>
    <p:embeddedFont>
      <p:font typeface="Poppins" panose="00000500000000000000" pitchFamily="2" charset="-94"/>
      <p:regular r:id="rId12"/>
      <p:bold r:id="rId13"/>
      <p:italic r:id="rId14"/>
      <p:boldItalic r:id="rId15"/>
    </p:embeddedFont>
    <p:embeddedFont>
      <p:font typeface="Poppins Bold" panose="00000800000000000000" charset="0"/>
      <p:regular r:id="rId16"/>
      <p:bold r:id="rId17"/>
      <p:italic r:id="rId18"/>
      <p:boldItalic r:id="rId19"/>
    </p:embeddedFont>
    <p:embeddedFont>
      <p:font typeface="Poppins Semi-Bold" panose="020B0604020202020204" charset="-94"/>
      <p:regular r:id="rId20"/>
      <p:bold r:id="rId21"/>
      <p:italic r:id="rId22"/>
      <p:boldItalic r:id="rId23"/>
    </p:embeddedFont>
    <p:embeddedFont>
      <p:font typeface="Poppins Thin" panose="00000300000000000000" pitchFamily="2" charset="-94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6" autoAdjust="0"/>
  </p:normalViewPr>
  <p:slideViewPr>
    <p:cSldViewPr>
      <p:cViewPr varScale="1">
        <p:scale>
          <a:sx n="60" d="100"/>
          <a:sy n="60" d="100"/>
        </p:scale>
        <p:origin x="3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tek cümlede konsept — uçaklar için kule var, komponentler için yok. Filo %67 büyürken talep +%63–68 bandında; asıl kırılma göç. Hepsi üç resmi CSV'den, yeniden üretilebilir.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1+2 tek slaytta: problem (göç) + mevcut boşluk (72 siparişsiz kırmızı = alarmı hesaplayan süreç yok). Boşluğu nasıl bulduk: TTS&lt;TTR koşulunu resmi stok verisiyle ilk kez biz hesapladık.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katman (görünürlük/öngörü/aksiyon) altı adımda: bağlan-birleştir Faz 1, öngör-uyar Faz 2, harekete geç-prova et Faz 2–3. Kapılar takvim değil metrik. Kritik cümle: hiçbir kaynağa yazmıyoruz.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bu beş ekranda; altıncı kart güven kartı. Tek HTML dosyası — USB'den açılır, salon ağına muhtaç değiliz. Her sayı python ile yeniden üretilir (deterministik).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Dürüstlük stratejisi: 4 çeyrekle sinir ağı klasikleri geçemez — bunu biz söylüyoruz; sezon 8+ çeyrek ister. Ama toplam düzeyde binde 4. AI bugün öneri modunda; AMOS olay verisi bağlanınca değeri açılır.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5+6 + vizyonun kriz sütunu tek slaytta. Sayı ezberi: 67,8 / 23,3→39,0 / 52,0 M$ · 12,1+4,0 · 134→477 · 796/39,4 M$ · 72→0.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 cümlesi ezber. Sorulara geçilir; el notunun 2. sayfasında 8 hazır cevap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40C4AC15-954A-44BC-9468-D5B2235FAA48}"/>
              </a:ext>
            </a:extLst>
          </p:cNvPr>
          <p:cNvSpPr/>
          <p:nvPr userDrawn="1"/>
        </p:nvSpPr>
        <p:spPr>
          <a:xfrm>
            <a:off x="0" y="-3810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AADC2-1C3F-460C-A6B0-A4C520D8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6675" y="4552950"/>
            <a:ext cx="8229600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6B7A02-A1C4-4F4B-87C8-FE783F5BF49D}"/>
              </a:ext>
            </a:extLst>
          </p:cNvPr>
          <p:cNvGrpSpPr/>
          <p:nvPr userDrawn="1"/>
        </p:nvGrpSpPr>
        <p:grpSpPr>
          <a:xfrm>
            <a:off x="6976643" y="9196504"/>
            <a:ext cx="4334713" cy="621106"/>
            <a:chOff x="0" y="0"/>
            <a:chExt cx="5779617" cy="8281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2AA141-5B5D-4132-8536-48835EE138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1CF3641-4E64-4EC8-A8A5-281A27AD1EA6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115E3711-7BE4-4F71-B24C-4C5719C8BB43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id="{C8E7BF4F-B3B1-434D-92DE-8C1125936B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12748B4F-251C-4026-BF82-BB8C0DF11356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Freeform 13">
                <a:extLst>
                  <a:ext uri="{FF2B5EF4-FFF2-40B4-BE49-F238E27FC236}">
                    <a16:creationId xmlns:a16="http://schemas.microsoft.com/office/drawing/2014/main" id="{BF0945CF-C5E7-4D06-A42D-95740C880773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E46969E5-79AC-4215-B268-98190A393BC8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Freeform 15">
                <a:extLst>
                  <a:ext uri="{FF2B5EF4-FFF2-40B4-BE49-F238E27FC236}">
                    <a16:creationId xmlns:a16="http://schemas.microsoft.com/office/drawing/2014/main" id="{ED8D07EA-114F-4D85-B1AC-B69994846A28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Freeform 16">
                <a:extLst>
                  <a:ext uri="{FF2B5EF4-FFF2-40B4-BE49-F238E27FC236}">
                    <a16:creationId xmlns:a16="http://schemas.microsoft.com/office/drawing/2014/main" id="{C3A91E56-6A48-4A10-9850-81F1DE8C7856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Freeform 17">
                <a:extLst>
                  <a:ext uri="{FF2B5EF4-FFF2-40B4-BE49-F238E27FC236}">
                    <a16:creationId xmlns:a16="http://schemas.microsoft.com/office/drawing/2014/main" id="{5FA1BC0B-D615-473E-9F47-CC8242E88B94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Freeform 18">
                <a:extLst>
                  <a:ext uri="{FF2B5EF4-FFF2-40B4-BE49-F238E27FC236}">
                    <a16:creationId xmlns:a16="http://schemas.microsoft.com/office/drawing/2014/main" id="{CE204E05-A309-4083-AA20-1A736BE875B4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0" name="Group 19">
              <a:extLst>
                <a:ext uri="{FF2B5EF4-FFF2-40B4-BE49-F238E27FC236}">
                  <a16:creationId xmlns:a16="http://schemas.microsoft.com/office/drawing/2014/main" id="{BD658487-BAF0-4C73-9C3A-54368F7B3A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11" name="Freeform 20">
                <a:extLst>
                  <a:ext uri="{FF2B5EF4-FFF2-40B4-BE49-F238E27FC236}">
                    <a16:creationId xmlns:a16="http://schemas.microsoft.com/office/drawing/2014/main" id="{0549AEBF-005B-4510-A7EA-4B2835958AED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Freeform 21">
                <a:extLst>
                  <a:ext uri="{FF2B5EF4-FFF2-40B4-BE49-F238E27FC236}">
                    <a16:creationId xmlns:a16="http://schemas.microsoft.com/office/drawing/2014/main" id="{8D08EC5B-0B69-4AD0-A8E8-2BFD51985F20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22">
                <a:extLst>
                  <a:ext uri="{FF2B5EF4-FFF2-40B4-BE49-F238E27FC236}">
                    <a16:creationId xmlns:a16="http://schemas.microsoft.com/office/drawing/2014/main" id="{7920755A-CECA-49D5-A680-247CF7E18005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Freeform 23">
                <a:extLst>
                  <a:ext uri="{FF2B5EF4-FFF2-40B4-BE49-F238E27FC236}">
                    <a16:creationId xmlns:a16="http://schemas.microsoft.com/office/drawing/2014/main" id="{FF46280E-F03F-439E-BB20-BD9A862AA192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Freeform 24">
                <a:extLst>
                  <a:ext uri="{FF2B5EF4-FFF2-40B4-BE49-F238E27FC236}">
                    <a16:creationId xmlns:a16="http://schemas.microsoft.com/office/drawing/2014/main" id="{84AD506E-2454-4FD3-A311-8CDA69E3B31B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Freeform 25">
                <a:extLst>
                  <a:ext uri="{FF2B5EF4-FFF2-40B4-BE49-F238E27FC236}">
                    <a16:creationId xmlns:a16="http://schemas.microsoft.com/office/drawing/2014/main" id="{80671D13-3FEA-40CF-B237-3A05DB8CB3C3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Freeform 26">
                <a:extLst>
                  <a:ext uri="{FF2B5EF4-FFF2-40B4-BE49-F238E27FC236}">
                    <a16:creationId xmlns:a16="http://schemas.microsoft.com/office/drawing/2014/main" id="{51C4A3F6-22B1-44D0-994E-2BB1BD67DF92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Freeform 27">
                <a:extLst>
                  <a:ext uri="{FF2B5EF4-FFF2-40B4-BE49-F238E27FC236}">
                    <a16:creationId xmlns:a16="http://schemas.microsoft.com/office/drawing/2014/main" id="{C6D2EE4D-799B-4F3E-8B4D-E0DB83F6EFB8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Freeform 28">
                <a:extLst>
                  <a:ext uri="{FF2B5EF4-FFF2-40B4-BE49-F238E27FC236}">
                    <a16:creationId xmlns:a16="http://schemas.microsoft.com/office/drawing/2014/main" id="{7DBA7BDC-4674-48AC-B828-35508A5E7EA8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Freeform 29">
                <a:extLst>
                  <a:ext uri="{FF2B5EF4-FFF2-40B4-BE49-F238E27FC236}">
                    <a16:creationId xmlns:a16="http://schemas.microsoft.com/office/drawing/2014/main" id="{AA7D8E4A-18AD-4852-9669-83FC41A29BF4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285113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2">
            <a:extLst>
              <a:ext uri="{FF2B5EF4-FFF2-40B4-BE49-F238E27FC236}">
                <a16:creationId xmlns:a16="http://schemas.microsoft.com/office/drawing/2014/main" id="{508216EF-A89F-4D58-8E44-45CE1261C1A2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92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" b="-18518"/>
            </a:stretch>
          </a:blipFill>
        </p:spPr>
        <p:txBody>
          <a:bodyPr/>
          <a:lstStyle/>
          <a:p>
            <a:endParaRPr lang="tr-T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70760D11-C4FA-427E-8722-C00F5C68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0" y="456595"/>
            <a:ext cx="9344550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CEFD4E07-C615-492B-B1FC-AF3BFE06D172}"/>
              </a:ext>
            </a:extLst>
          </p:cNvPr>
          <p:cNvGrpSpPr/>
          <p:nvPr userDrawn="1"/>
        </p:nvGrpSpPr>
        <p:grpSpPr>
          <a:xfrm>
            <a:off x="13518898" y="718147"/>
            <a:ext cx="4334713" cy="621106"/>
            <a:chOff x="0" y="0"/>
            <a:chExt cx="5779617" cy="828141"/>
          </a:xfrm>
        </p:grpSpPr>
        <p:grpSp>
          <p:nvGrpSpPr>
            <p:cNvPr id="36" name="Group 5">
              <a:extLst>
                <a:ext uri="{FF2B5EF4-FFF2-40B4-BE49-F238E27FC236}">
                  <a16:creationId xmlns:a16="http://schemas.microsoft.com/office/drawing/2014/main" id="{63901E4B-AEEB-4E94-9CC2-EF91635FF26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E3A37A19-C2DC-4157-8E9C-326067E4B53E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973D83A2-E4E2-47AA-AF74-299944A4B5DF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37" name="Group 8">
              <a:extLst>
                <a:ext uri="{FF2B5EF4-FFF2-40B4-BE49-F238E27FC236}">
                  <a16:creationId xmlns:a16="http://schemas.microsoft.com/office/drawing/2014/main" id="{FE3D0489-9F37-4E04-9F31-3B41A467D7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49" name="Freeform 9">
                <a:extLst>
                  <a:ext uri="{FF2B5EF4-FFF2-40B4-BE49-F238E27FC236}">
                    <a16:creationId xmlns:a16="http://schemas.microsoft.com/office/drawing/2014/main" id="{66EE2414-CC9F-4157-ABA4-9EB54A12AE2C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Freeform 10">
                <a:extLst>
                  <a:ext uri="{FF2B5EF4-FFF2-40B4-BE49-F238E27FC236}">
                    <a16:creationId xmlns:a16="http://schemas.microsoft.com/office/drawing/2014/main" id="{D736DEDA-62F8-4D44-9BD6-9D5BAE52188A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1" name="Freeform 11">
                <a:extLst>
                  <a:ext uri="{FF2B5EF4-FFF2-40B4-BE49-F238E27FC236}">
                    <a16:creationId xmlns:a16="http://schemas.microsoft.com/office/drawing/2014/main" id="{C4283476-0867-466C-9FAF-8E955BFBB3A8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2" name="Freeform 12">
                <a:extLst>
                  <a:ext uri="{FF2B5EF4-FFF2-40B4-BE49-F238E27FC236}">
                    <a16:creationId xmlns:a16="http://schemas.microsoft.com/office/drawing/2014/main" id="{0D37A1C9-53E2-40B7-9584-22603D638F27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Freeform 13">
                <a:extLst>
                  <a:ext uri="{FF2B5EF4-FFF2-40B4-BE49-F238E27FC236}">
                    <a16:creationId xmlns:a16="http://schemas.microsoft.com/office/drawing/2014/main" id="{5D2CE67F-2091-485E-9D7C-0DF111781B33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4" name="Freeform 14">
                <a:extLst>
                  <a:ext uri="{FF2B5EF4-FFF2-40B4-BE49-F238E27FC236}">
                    <a16:creationId xmlns:a16="http://schemas.microsoft.com/office/drawing/2014/main" id="{4D387D02-7888-48D1-B427-78324A42E7B0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Freeform 15">
                <a:extLst>
                  <a:ext uri="{FF2B5EF4-FFF2-40B4-BE49-F238E27FC236}">
                    <a16:creationId xmlns:a16="http://schemas.microsoft.com/office/drawing/2014/main" id="{6FACC14B-D67E-4B97-A61E-33CB170122FB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8" name="Group 16">
              <a:extLst>
                <a:ext uri="{FF2B5EF4-FFF2-40B4-BE49-F238E27FC236}">
                  <a16:creationId xmlns:a16="http://schemas.microsoft.com/office/drawing/2014/main" id="{8F441BDC-0C84-44EC-AD57-9B00A3942B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08C68AF8-5140-4C0F-A904-9CA24C766E2A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7796FC22-33C6-4B5C-8DC7-000F591EF3B7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FC40512E-113A-40C9-BC8F-A778FAE01414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8C4BF50B-2838-464A-971D-5B6EBF6E91B9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Freeform 21">
                <a:extLst>
                  <a:ext uri="{FF2B5EF4-FFF2-40B4-BE49-F238E27FC236}">
                    <a16:creationId xmlns:a16="http://schemas.microsoft.com/office/drawing/2014/main" id="{28A67A83-00B4-4C5E-A3B4-952B46473FCC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60174425-7552-45FB-8B8A-5D3FDC61EF39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F26A273A-6738-4B21-A393-135451136725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2E8E12EB-2639-4AB9-9DD8-E8586E0E98D7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B3B2333A-D6AC-4696-85BA-506DB474F919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FCB85B5F-6249-4B9E-A528-0777324D291A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105073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843B346-0BDA-48EC-90EA-8C0CB7CDF898}"/>
              </a:ext>
            </a:extLst>
          </p:cNvPr>
          <p:cNvSpPr/>
          <p:nvPr userDrawn="1"/>
        </p:nvSpPr>
        <p:spPr>
          <a:xfrm>
            <a:off x="4119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1C771FF6-6185-4792-A104-F45147685D95}"/>
              </a:ext>
            </a:extLst>
          </p:cNvPr>
          <p:cNvSpPr/>
          <p:nvPr userDrawn="1"/>
        </p:nvSpPr>
        <p:spPr>
          <a:xfrm>
            <a:off x="6314743" y="-2448028"/>
            <a:ext cx="21760707" cy="20821428"/>
          </a:xfrm>
          <a:custGeom>
            <a:avLst/>
            <a:gdLst/>
            <a:ahLst/>
            <a:cxnLst/>
            <a:rect l="l" t="t" r="r" b="b"/>
            <a:pathLst>
              <a:path w="16564908" h="16564908">
                <a:moveTo>
                  <a:pt x="0" y="0"/>
                </a:moveTo>
                <a:lnTo>
                  <a:pt x="16564908" y="0"/>
                </a:lnTo>
                <a:lnTo>
                  <a:pt x="16564908" y="16564908"/>
                </a:lnTo>
                <a:lnTo>
                  <a:pt x="0" y="1656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992514EF-E9CA-4249-B47D-29640FE39AA3}"/>
              </a:ext>
            </a:extLst>
          </p:cNvPr>
          <p:cNvSpPr/>
          <p:nvPr userDrawn="1"/>
        </p:nvSpPr>
        <p:spPr>
          <a:xfrm>
            <a:off x="-8534400" y="-5862888"/>
            <a:ext cx="21760707" cy="19935056"/>
          </a:xfrm>
          <a:custGeom>
            <a:avLst/>
            <a:gdLst/>
            <a:ahLst/>
            <a:cxnLst/>
            <a:rect l="l" t="t" r="r" b="b"/>
            <a:pathLst>
              <a:path w="29526830" h="29526830">
                <a:moveTo>
                  <a:pt x="0" y="0"/>
                </a:moveTo>
                <a:lnTo>
                  <a:pt x="29526830" y="0"/>
                </a:lnTo>
                <a:lnTo>
                  <a:pt x="29526830" y="29526830"/>
                </a:lnTo>
                <a:lnTo>
                  <a:pt x="0" y="2952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0932FD14-02B2-433D-B50F-BBA0ABBA1DFC}"/>
              </a:ext>
            </a:extLst>
          </p:cNvPr>
          <p:cNvGrpSpPr/>
          <p:nvPr userDrawn="1"/>
        </p:nvGrpSpPr>
        <p:grpSpPr>
          <a:xfrm>
            <a:off x="13518898" y="718147"/>
            <a:ext cx="4334713" cy="621106"/>
            <a:chOff x="0" y="0"/>
            <a:chExt cx="5779617" cy="828141"/>
          </a:xfrm>
        </p:grpSpPr>
        <p:grpSp>
          <p:nvGrpSpPr>
            <p:cNvPr id="34" name="Group 5">
              <a:extLst>
                <a:ext uri="{FF2B5EF4-FFF2-40B4-BE49-F238E27FC236}">
                  <a16:creationId xmlns:a16="http://schemas.microsoft.com/office/drawing/2014/main" id="{19FEB6D3-1F91-4FA3-9786-17D88D1B16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AE993564-4ED4-4A01-95A3-B93BE0E728FF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Freeform 7">
                <a:extLst>
                  <a:ext uri="{FF2B5EF4-FFF2-40B4-BE49-F238E27FC236}">
                    <a16:creationId xmlns:a16="http://schemas.microsoft.com/office/drawing/2014/main" id="{64124EF2-AEAD-4D2C-B2C5-23BB228434D6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35" name="Group 8">
              <a:extLst>
                <a:ext uri="{FF2B5EF4-FFF2-40B4-BE49-F238E27FC236}">
                  <a16:creationId xmlns:a16="http://schemas.microsoft.com/office/drawing/2014/main" id="{2BB34548-B27D-4244-A58E-0FAF1D4FE7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47" name="Freeform 9">
                <a:extLst>
                  <a:ext uri="{FF2B5EF4-FFF2-40B4-BE49-F238E27FC236}">
                    <a16:creationId xmlns:a16="http://schemas.microsoft.com/office/drawing/2014/main" id="{0F7663D9-4013-4C9F-9C9C-41455CF1D69C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Freeform 10">
                <a:extLst>
                  <a:ext uri="{FF2B5EF4-FFF2-40B4-BE49-F238E27FC236}">
                    <a16:creationId xmlns:a16="http://schemas.microsoft.com/office/drawing/2014/main" id="{F45A11AC-A88D-4517-AF75-A08C8CF26005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9" name="Freeform 11">
                <a:extLst>
                  <a:ext uri="{FF2B5EF4-FFF2-40B4-BE49-F238E27FC236}">
                    <a16:creationId xmlns:a16="http://schemas.microsoft.com/office/drawing/2014/main" id="{F2779BA5-04A9-44D2-85A0-BCDABFFB6A8F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Freeform 12">
                <a:extLst>
                  <a:ext uri="{FF2B5EF4-FFF2-40B4-BE49-F238E27FC236}">
                    <a16:creationId xmlns:a16="http://schemas.microsoft.com/office/drawing/2014/main" id="{2C40D997-0D94-42F7-8FF9-635D09AFD0A3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1" name="Freeform 13">
                <a:extLst>
                  <a:ext uri="{FF2B5EF4-FFF2-40B4-BE49-F238E27FC236}">
                    <a16:creationId xmlns:a16="http://schemas.microsoft.com/office/drawing/2014/main" id="{9D759767-8702-4FEB-A633-CD1F3ACBF3B4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2" name="Freeform 14">
                <a:extLst>
                  <a:ext uri="{FF2B5EF4-FFF2-40B4-BE49-F238E27FC236}">
                    <a16:creationId xmlns:a16="http://schemas.microsoft.com/office/drawing/2014/main" id="{7A2F4CE0-EA9B-4F94-8261-EB12D277E0FF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Freeform 15">
                <a:extLst>
                  <a:ext uri="{FF2B5EF4-FFF2-40B4-BE49-F238E27FC236}">
                    <a16:creationId xmlns:a16="http://schemas.microsoft.com/office/drawing/2014/main" id="{41DF17C3-3128-4C56-AAE4-6ABA6CFD0009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6" name="Group 16">
              <a:extLst>
                <a:ext uri="{FF2B5EF4-FFF2-40B4-BE49-F238E27FC236}">
                  <a16:creationId xmlns:a16="http://schemas.microsoft.com/office/drawing/2014/main" id="{8EC8E79F-1B7A-44AE-96E9-2057A6B655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2A4972F-9207-4FF3-B359-2B89379248F3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B7067479-4723-4FC5-86E5-3980C4C364C0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D2A04E69-568D-47F8-8740-45FF536D7BFE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4A22F991-2EF5-40C2-B66E-11453E5593F0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41B8589B-998A-4253-97B6-A1C867D78C07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7DDB87FD-2D87-44BE-AB0F-CD439261811E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522BA807-47DC-4CBD-A184-9C6672308A5E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4A27304F-C8FA-4F23-A266-014452F2F1FF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E56175CA-CA1F-4F51-AC08-A9CDB10D8C21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349958DF-31C4-4390-A2E1-FEF77DE4C570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389A56A2-FB3E-46F1-B449-8EC94C17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0" y="456595"/>
            <a:ext cx="9344550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843B346-0BDA-48EC-90EA-8C0CB7CDF898}"/>
              </a:ext>
            </a:extLst>
          </p:cNvPr>
          <p:cNvSpPr/>
          <p:nvPr userDrawn="1"/>
        </p:nvSpPr>
        <p:spPr>
          <a:xfrm>
            <a:off x="4119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1C771FF6-6185-4792-A104-F45147685D95}"/>
              </a:ext>
            </a:extLst>
          </p:cNvPr>
          <p:cNvSpPr/>
          <p:nvPr userDrawn="1"/>
        </p:nvSpPr>
        <p:spPr>
          <a:xfrm>
            <a:off x="6314743" y="-2448028"/>
            <a:ext cx="21760707" cy="20821428"/>
          </a:xfrm>
          <a:custGeom>
            <a:avLst/>
            <a:gdLst/>
            <a:ahLst/>
            <a:cxnLst/>
            <a:rect l="l" t="t" r="r" b="b"/>
            <a:pathLst>
              <a:path w="16564908" h="16564908">
                <a:moveTo>
                  <a:pt x="0" y="0"/>
                </a:moveTo>
                <a:lnTo>
                  <a:pt x="16564908" y="0"/>
                </a:lnTo>
                <a:lnTo>
                  <a:pt x="16564908" y="16564908"/>
                </a:lnTo>
                <a:lnTo>
                  <a:pt x="0" y="1656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992514EF-E9CA-4249-B47D-29640FE39AA3}"/>
              </a:ext>
            </a:extLst>
          </p:cNvPr>
          <p:cNvSpPr/>
          <p:nvPr userDrawn="1"/>
        </p:nvSpPr>
        <p:spPr>
          <a:xfrm>
            <a:off x="-8534400" y="-5862888"/>
            <a:ext cx="21760707" cy="19935056"/>
          </a:xfrm>
          <a:custGeom>
            <a:avLst/>
            <a:gdLst/>
            <a:ahLst/>
            <a:cxnLst/>
            <a:rect l="l" t="t" r="r" b="b"/>
            <a:pathLst>
              <a:path w="29526830" h="29526830">
                <a:moveTo>
                  <a:pt x="0" y="0"/>
                </a:moveTo>
                <a:lnTo>
                  <a:pt x="29526830" y="0"/>
                </a:lnTo>
                <a:lnTo>
                  <a:pt x="29526830" y="29526830"/>
                </a:lnTo>
                <a:lnTo>
                  <a:pt x="0" y="2952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0932FD14-02B2-433D-B50F-BBA0ABBA1DFC}"/>
              </a:ext>
            </a:extLst>
          </p:cNvPr>
          <p:cNvGrpSpPr/>
          <p:nvPr userDrawn="1"/>
        </p:nvGrpSpPr>
        <p:grpSpPr>
          <a:xfrm>
            <a:off x="13518898" y="718147"/>
            <a:ext cx="4334713" cy="621106"/>
            <a:chOff x="0" y="0"/>
            <a:chExt cx="5779617" cy="828141"/>
          </a:xfrm>
        </p:grpSpPr>
        <p:grpSp>
          <p:nvGrpSpPr>
            <p:cNvPr id="34" name="Group 5">
              <a:extLst>
                <a:ext uri="{FF2B5EF4-FFF2-40B4-BE49-F238E27FC236}">
                  <a16:creationId xmlns:a16="http://schemas.microsoft.com/office/drawing/2014/main" id="{19FEB6D3-1F91-4FA3-9786-17D88D1B16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AE993564-4ED4-4A01-95A3-B93BE0E728FF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Freeform 7">
                <a:extLst>
                  <a:ext uri="{FF2B5EF4-FFF2-40B4-BE49-F238E27FC236}">
                    <a16:creationId xmlns:a16="http://schemas.microsoft.com/office/drawing/2014/main" id="{64124EF2-AEAD-4D2C-B2C5-23BB228434D6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35" name="Group 8">
              <a:extLst>
                <a:ext uri="{FF2B5EF4-FFF2-40B4-BE49-F238E27FC236}">
                  <a16:creationId xmlns:a16="http://schemas.microsoft.com/office/drawing/2014/main" id="{2BB34548-B27D-4244-A58E-0FAF1D4FE7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47" name="Freeform 9">
                <a:extLst>
                  <a:ext uri="{FF2B5EF4-FFF2-40B4-BE49-F238E27FC236}">
                    <a16:creationId xmlns:a16="http://schemas.microsoft.com/office/drawing/2014/main" id="{0F7663D9-4013-4C9F-9C9C-41455CF1D69C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Freeform 10">
                <a:extLst>
                  <a:ext uri="{FF2B5EF4-FFF2-40B4-BE49-F238E27FC236}">
                    <a16:creationId xmlns:a16="http://schemas.microsoft.com/office/drawing/2014/main" id="{F45A11AC-A88D-4517-AF75-A08C8CF26005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9" name="Freeform 11">
                <a:extLst>
                  <a:ext uri="{FF2B5EF4-FFF2-40B4-BE49-F238E27FC236}">
                    <a16:creationId xmlns:a16="http://schemas.microsoft.com/office/drawing/2014/main" id="{F2779BA5-04A9-44D2-85A0-BCDABFFB6A8F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Freeform 12">
                <a:extLst>
                  <a:ext uri="{FF2B5EF4-FFF2-40B4-BE49-F238E27FC236}">
                    <a16:creationId xmlns:a16="http://schemas.microsoft.com/office/drawing/2014/main" id="{2C40D997-0D94-42F7-8FF9-635D09AFD0A3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1" name="Freeform 13">
                <a:extLst>
                  <a:ext uri="{FF2B5EF4-FFF2-40B4-BE49-F238E27FC236}">
                    <a16:creationId xmlns:a16="http://schemas.microsoft.com/office/drawing/2014/main" id="{9D759767-8702-4FEB-A633-CD1F3ACBF3B4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2" name="Freeform 14">
                <a:extLst>
                  <a:ext uri="{FF2B5EF4-FFF2-40B4-BE49-F238E27FC236}">
                    <a16:creationId xmlns:a16="http://schemas.microsoft.com/office/drawing/2014/main" id="{7A2F4CE0-EA9B-4F94-8261-EB12D277E0FF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Freeform 15">
                <a:extLst>
                  <a:ext uri="{FF2B5EF4-FFF2-40B4-BE49-F238E27FC236}">
                    <a16:creationId xmlns:a16="http://schemas.microsoft.com/office/drawing/2014/main" id="{41DF17C3-3128-4C56-AAE4-6ABA6CFD0009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6" name="Group 16">
              <a:extLst>
                <a:ext uri="{FF2B5EF4-FFF2-40B4-BE49-F238E27FC236}">
                  <a16:creationId xmlns:a16="http://schemas.microsoft.com/office/drawing/2014/main" id="{8EC8E79F-1B7A-44AE-96E9-2057A6B655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2A4972F-9207-4FF3-B359-2B89379248F3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B7067479-4723-4FC5-86E5-3980C4C364C0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D2A04E69-568D-47F8-8740-45FF536D7BFE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4A22F991-2EF5-40C2-B66E-11453E5593F0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41B8589B-998A-4253-97B6-A1C867D78C07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7DDB87FD-2D87-44BE-AB0F-CD439261811E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522BA807-47DC-4CBD-A184-9C6672308A5E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4A27304F-C8FA-4F23-A266-014452F2F1FF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E56175CA-CA1F-4F51-AC08-A9CDB10D8C21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349958DF-31C4-4390-A2E1-FEF77DE4C570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389A56A2-FB3E-46F1-B449-8EC94C17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0" y="456595"/>
            <a:ext cx="9344550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57" name="Freeform 3">
            <a:extLst>
              <a:ext uri="{FF2B5EF4-FFF2-40B4-BE49-F238E27FC236}">
                <a16:creationId xmlns:a16="http://schemas.microsoft.com/office/drawing/2014/main" id="{0CA88CA4-9A37-43E0-96C7-4259C1A98B42}"/>
              </a:ext>
            </a:extLst>
          </p:cNvPr>
          <p:cNvSpPr/>
          <p:nvPr userDrawn="1"/>
        </p:nvSpPr>
        <p:spPr>
          <a:xfrm>
            <a:off x="0" y="-1260399"/>
            <a:ext cx="8274515" cy="11553097"/>
          </a:xfrm>
          <a:custGeom>
            <a:avLst/>
            <a:gdLst/>
            <a:ahLst/>
            <a:cxnLst/>
            <a:rect l="l" t="t" r="r" b="b"/>
            <a:pathLst>
              <a:path w="8274515" h="11553097">
                <a:moveTo>
                  <a:pt x="0" y="0"/>
                </a:moveTo>
                <a:lnTo>
                  <a:pt x="8274515" y="0"/>
                </a:lnTo>
                <a:lnTo>
                  <a:pt x="8274515" y="11553096"/>
                </a:lnTo>
                <a:lnTo>
                  <a:pt x="0" y="11553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669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843B346-0BDA-48EC-90EA-8C0CB7CDF898}"/>
              </a:ext>
            </a:extLst>
          </p:cNvPr>
          <p:cNvSpPr/>
          <p:nvPr userDrawn="1"/>
        </p:nvSpPr>
        <p:spPr>
          <a:xfrm>
            <a:off x="4119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1C771FF6-6185-4792-A104-F45147685D95}"/>
              </a:ext>
            </a:extLst>
          </p:cNvPr>
          <p:cNvSpPr/>
          <p:nvPr userDrawn="1"/>
        </p:nvSpPr>
        <p:spPr>
          <a:xfrm>
            <a:off x="6314743" y="-2448028"/>
            <a:ext cx="21760707" cy="20821428"/>
          </a:xfrm>
          <a:custGeom>
            <a:avLst/>
            <a:gdLst/>
            <a:ahLst/>
            <a:cxnLst/>
            <a:rect l="l" t="t" r="r" b="b"/>
            <a:pathLst>
              <a:path w="16564908" h="16564908">
                <a:moveTo>
                  <a:pt x="0" y="0"/>
                </a:moveTo>
                <a:lnTo>
                  <a:pt x="16564908" y="0"/>
                </a:lnTo>
                <a:lnTo>
                  <a:pt x="16564908" y="16564908"/>
                </a:lnTo>
                <a:lnTo>
                  <a:pt x="0" y="1656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992514EF-E9CA-4249-B47D-29640FE39AA3}"/>
              </a:ext>
            </a:extLst>
          </p:cNvPr>
          <p:cNvSpPr/>
          <p:nvPr userDrawn="1"/>
        </p:nvSpPr>
        <p:spPr>
          <a:xfrm>
            <a:off x="-8534400" y="-5862888"/>
            <a:ext cx="21760707" cy="19935056"/>
          </a:xfrm>
          <a:custGeom>
            <a:avLst/>
            <a:gdLst/>
            <a:ahLst/>
            <a:cxnLst/>
            <a:rect l="l" t="t" r="r" b="b"/>
            <a:pathLst>
              <a:path w="29526830" h="29526830">
                <a:moveTo>
                  <a:pt x="0" y="0"/>
                </a:moveTo>
                <a:lnTo>
                  <a:pt x="29526830" y="0"/>
                </a:lnTo>
                <a:lnTo>
                  <a:pt x="29526830" y="29526830"/>
                </a:lnTo>
                <a:lnTo>
                  <a:pt x="0" y="2952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0932FD14-02B2-433D-B50F-BBA0ABBA1DFC}"/>
              </a:ext>
            </a:extLst>
          </p:cNvPr>
          <p:cNvGrpSpPr/>
          <p:nvPr userDrawn="1"/>
        </p:nvGrpSpPr>
        <p:grpSpPr>
          <a:xfrm>
            <a:off x="13518898" y="718147"/>
            <a:ext cx="4334713" cy="621106"/>
            <a:chOff x="0" y="0"/>
            <a:chExt cx="5779617" cy="828141"/>
          </a:xfrm>
        </p:grpSpPr>
        <p:grpSp>
          <p:nvGrpSpPr>
            <p:cNvPr id="34" name="Group 5">
              <a:extLst>
                <a:ext uri="{FF2B5EF4-FFF2-40B4-BE49-F238E27FC236}">
                  <a16:creationId xmlns:a16="http://schemas.microsoft.com/office/drawing/2014/main" id="{19FEB6D3-1F91-4FA3-9786-17D88D1B16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AE993564-4ED4-4A01-95A3-B93BE0E728FF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Freeform 7">
                <a:extLst>
                  <a:ext uri="{FF2B5EF4-FFF2-40B4-BE49-F238E27FC236}">
                    <a16:creationId xmlns:a16="http://schemas.microsoft.com/office/drawing/2014/main" id="{64124EF2-AEAD-4D2C-B2C5-23BB228434D6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35" name="Group 8">
              <a:extLst>
                <a:ext uri="{FF2B5EF4-FFF2-40B4-BE49-F238E27FC236}">
                  <a16:creationId xmlns:a16="http://schemas.microsoft.com/office/drawing/2014/main" id="{2BB34548-B27D-4244-A58E-0FAF1D4FE7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47" name="Freeform 9">
                <a:extLst>
                  <a:ext uri="{FF2B5EF4-FFF2-40B4-BE49-F238E27FC236}">
                    <a16:creationId xmlns:a16="http://schemas.microsoft.com/office/drawing/2014/main" id="{0F7663D9-4013-4C9F-9C9C-41455CF1D69C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8" name="Freeform 10">
                <a:extLst>
                  <a:ext uri="{FF2B5EF4-FFF2-40B4-BE49-F238E27FC236}">
                    <a16:creationId xmlns:a16="http://schemas.microsoft.com/office/drawing/2014/main" id="{F45A11AC-A88D-4517-AF75-A08C8CF26005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9" name="Freeform 11">
                <a:extLst>
                  <a:ext uri="{FF2B5EF4-FFF2-40B4-BE49-F238E27FC236}">
                    <a16:creationId xmlns:a16="http://schemas.microsoft.com/office/drawing/2014/main" id="{F2779BA5-04A9-44D2-85A0-BCDABFFB6A8F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Freeform 12">
                <a:extLst>
                  <a:ext uri="{FF2B5EF4-FFF2-40B4-BE49-F238E27FC236}">
                    <a16:creationId xmlns:a16="http://schemas.microsoft.com/office/drawing/2014/main" id="{2C40D997-0D94-42F7-8FF9-635D09AFD0A3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1" name="Freeform 13">
                <a:extLst>
                  <a:ext uri="{FF2B5EF4-FFF2-40B4-BE49-F238E27FC236}">
                    <a16:creationId xmlns:a16="http://schemas.microsoft.com/office/drawing/2014/main" id="{9D759767-8702-4FEB-A633-CD1F3ACBF3B4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2" name="Freeform 14">
                <a:extLst>
                  <a:ext uri="{FF2B5EF4-FFF2-40B4-BE49-F238E27FC236}">
                    <a16:creationId xmlns:a16="http://schemas.microsoft.com/office/drawing/2014/main" id="{7A2F4CE0-EA9B-4F94-8261-EB12D277E0FF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Freeform 15">
                <a:extLst>
                  <a:ext uri="{FF2B5EF4-FFF2-40B4-BE49-F238E27FC236}">
                    <a16:creationId xmlns:a16="http://schemas.microsoft.com/office/drawing/2014/main" id="{41DF17C3-3128-4C56-AAE4-6ABA6CFD0009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6" name="Group 16">
              <a:extLst>
                <a:ext uri="{FF2B5EF4-FFF2-40B4-BE49-F238E27FC236}">
                  <a16:creationId xmlns:a16="http://schemas.microsoft.com/office/drawing/2014/main" id="{8EC8E79F-1B7A-44AE-96E9-2057A6B655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2A4972F-9207-4FF3-B359-2B89379248F3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B7067479-4723-4FC5-86E5-3980C4C364C0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D2A04E69-568D-47F8-8740-45FF536D7BFE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4A22F991-2EF5-40C2-B66E-11453E5593F0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41B8589B-998A-4253-97B6-A1C867D78C07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7DDB87FD-2D87-44BE-AB0F-CD439261811E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522BA807-47DC-4CBD-A184-9C6672308A5E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4A27304F-C8FA-4F23-A266-014452F2F1FF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E56175CA-CA1F-4F51-AC08-A9CDB10D8C21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349958DF-31C4-4390-A2E1-FEF77DE4C570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389A56A2-FB3E-46F1-B449-8EC94C17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0" y="456595"/>
            <a:ext cx="9344550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grpSp>
        <p:nvGrpSpPr>
          <p:cNvPr id="58" name="Group 27">
            <a:extLst>
              <a:ext uri="{FF2B5EF4-FFF2-40B4-BE49-F238E27FC236}">
                <a16:creationId xmlns:a16="http://schemas.microsoft.com/office/drawing/2014/main" id="{ED74713C-1FA8-4FF6-81D3-2171ADC5754C}"/>
              </a:ext>
            </a:extLst>
          </p:cNvPr>
          <p:cNvGrpSpPr/>
          <p:nvPr userDrawn="1"/>
        </p:nvGrpSpPr>
        <p:grpSpPr>
          <a:xfrm>
            <a:off x="0" y="7796027"/>
            <a:ext cx="18288000" cy="2610016"/>
            <a:chOff x="0" y="0"/>
            <a:chExt cx="3091051" cy="437292"/>
          </a:xfrm>
        </p:grpSpPr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1DD3DC35-3FCA-4565-8F1C-47AB4386E1D1}"/>
                </a:ext>
              </a:extLst>
            </p:cNvPr>
            <p:cNvSpPr/>
            <p:nvPr/>
          </p:nvSpPr>
          <p:spPr>
            <a:xfrm>
              <a:off x="0" y="0"/>
              <a:ext cx="3091051" cy="437292"/>
            </a:xfrm>
            <a:custGeom>
              <a:avLst/>
              <a:gdLst/>
              <a:ahLst/>
              <a:cxnLst/>
              <a:rect l="l" t="t" r="r" b="b"/>
              <a:pathLst>
                <a:path w="3091051" h="437292">
                  <a:moveTo>
                    <a:pt x="0" y="0"/>
                  </a:moveTo>
                  <a:lnTo>
                    <a:pt x="3091051" y="0"/>
                  </a:lnTo>
                  <a:lnTo>
                    <a:pt x="3091051" y="437292"/>
                  </a:lnTo>
                  <a:lnTo>
                    <a:pt x="0" y="437292"/>
                  </a:lnTo>
                  <a:close/>
                </a:path>
              </a:pathLst>
            </a:custGeom>
            <a:blipFill>
              <a:blip r:embed="rId6"/>
              <a:stretch>
                <a:fillRect t="-215134" b="-197339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3659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s copy">
    <p:bg>
      <p:bgPr>
        <a:solidFill>
          <a:srgbClr val="160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>
            <a:extLst>
              <a:ext uri="{FF2B5EF4-FFF2-40B4-BE49-F238E27FC236}">
                <a16:creationId xmlns:a16="http://schemas.microsoft.com/office/drawing/2014/main" id="{0487B23B-773C-4BE7-A61A-E494832E8C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6" r="1216" b="5213"/>
          <a:stretch>
            <a:fillRect/>
          </a:stretch>
        </p:blipFill>
        <p:spPr>
          <a:xfrm>
            <a:off x="715" y="-204"/>
            <a:ext cx="18287285" cy="1028720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6929B7F7-6D72-41BF-A2F9-3AD54A0AADF2}"/>
              </a:ext>
            </a:extLst>
          </p:cNvPr>
          <p:cNvSpPr/>
          <p:nvPr userDrawn="1"/>
        </p:nvSpPr>
        <p:spPr>
          <a:xfrm>
            <a:off x="6314743" y="-2448028"/>
            <a:ext cx="21760707" cy="20821428"/>
          </a:xfrm>
          <a:custGeom>
            <a:avLst/>
            <a:gdLst/>
            <a:ahLst/>
            <a:cxnLst/>
            <a:rect l="l" t="t" r="r" b="b"/>
            <a:pathLst>
              <a:path w="16564908" h="16564908">
                <a:moveTo>
                  <a:pt x="0" y="0"/>
                </a:moveTo>
                <a:lnTo>
                  <a:pt x="16564908" y="0"/>
                </a:lnTo>
                <a:lnTo>
                  <a:pt x="16564908" y="16564908"/>
                </a:lnTo>
                <a:lnTo>
                  <a:pt x="0" y="1656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23241B54-3CF3-4316-866A-B64CB95F4018}"/>
              </a:ext>
            </a:extLst>
          </p:cNvPr>
          <p:cNvSpPr/>
          <p:nvPr userDrawn="1"/>
        </p:nvSpPr>
        <p:spPr>
          <a:xfrm>
            <a:off x="-8534400" y="-5862888"/>
            <a:ext cx="21760707" cy="19935056"/>
          </a:xfrm>
          <a:custGeom>
            <a:avLst/>
            <a:gdLst/>
            <a:ahLst/>
            <a:cxnLst/>
            <a:rect l="l" t="t" r="r" b="b"/>
            <a:pathLst>
              <a:path w="29526830" h="29526830">
                <a:moveTo>
                  <a:pt x="0" y="0"/>
                </a:moveTo>
                <a:lnTo>
                  <a:pt x="29526830" y="0"/>
                </a:lnTo>
                <a:lnTo>
                  <a:pt x="29526830" y="29526830"/>
                </a:lnTo>
                <a:lnTo>
                  <a:pt x="0" y="29526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2A5813-9B75-4456-BC08-465017A01F41}"/>
              </a:ext>
            </a:extLst>
          </p:cNvPr>
          <p:cNvGrpSpPr/>
          <p:nvPr userDrawn="1"/>
        </p:nvGrpSpPr>
        <p:grpSpPr>
          <a:xfrm>
            <a:off x="13518898" y="718147"/>
            <a:ext cx="4334713" cy="621106"/>
            <a:chOff x="0" y="0"/>
            <a:chExt cx="5779617" cy="82814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DC3554-0EB6-40E5-A683-E776DC2A1B4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2D150E8F-7A4C-4169-88AD-97D231BF7893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0F7F0A3C-8678-498A-A07E-97AB508F27F6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E7187EAE-430A-4595-844D-428351660A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id="{6A1388F2-3D44-46DB-96F6-6B16AB2E7741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Freeform 10">
                <a:extLst>
                  <a:ext uri="{FF2B5EF4-FFF2-40B4-BE49-F238E27FC236}">
                    <a16:creationId xmlns:a16="http://schemas.microsoft.com/office/drawing/2014/main" id="{2ABBA7CA-B067-40D6-8507-D68AA47DBE09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0B06EB1F-F122-4048-AD1D-B7F022647299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0C5A5AF9-1EAD-4439-8267-989F89F8D875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Freeform 13">
                <a:extLst>
                  <a:ext uri="{FF2B5EF4-FFF2-40B4-BE49-F238E27FC236}">
                    <a16:creationId xmlns:a16="http://schemas.microsoft.com/office/drawing/2014/main" id="{D80E7767-6EF9-4DA0-AD2B-0F43BD5FE171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Freeform 14">
                <a:extLst>
                  <a:ext uri="{FF2B5EF4-FFF2-40B4-BE49-F238E27FC236}">
                    <a16:creationId xmlns:a16="http://schemas.microsoft.com/office/drawing/2014/main" id="{AADFDA4D-F481-4742-88E9-0837481F5F14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Freeform 15">
                <a:extLst>
                  <a:ext uri="{FF2B5EF4-FFF2-40B4-BE49-F238E27FC236}">
                    <a16:creationId xmlns:a16="http://schemas.microsoft.com/office/drawing/2014/main" id="{8197C88D-BEBF-4303-80F1-5BB55219393D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8" name="Group 16">
              <a:extLst>
                <a:ext uri="{FF2B5EF4-FFF2-40B4-BE49-F238E27FC236}">
                  <a16:creationId xmlns:a16="http://schemas.microsoft.com/office/drawing/2014/main" id="{AF17E8A2-F006-4126-8EE1-968515C94F1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9" name="Freeform 17">
                <a:extLst>
                  <a:ext uri="{FF2B5EF4-FFF2-40B4-BE49-F238E27FC236}">
                    <a16:creationId xmlns:a16="http://schemas.microsoft.com/office/drawing/2014/main" id="{88299F4C-A159-48FB-8A70-1C8F176B918C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Freeform 18">
                <a:extLst>
                  <a:ext uri="{FF2B5EF4-FFF2-40B4-BE49-F238E27FC236}">
                    <a16:creationId xmlns:a16="http://schemas.microsoft.com/office/drawing/2014/main" id="{3EA3736A-06B3-4A71-A2AB-4AA37D1662EB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Freeform 19">
                <a:extLst>
                  <a:ext uri="{FF2B5EF4-FFF2-40B4-BE49-F238E27FC236}">
                    <a16:creationId xmlns:a16="http://schemas.microsoft.com/office/drawing/2014/main" id="{52337C49-9D27-4358-9A65-8EB230451C04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Freeform 20">
                <a:extLst>
                  <a:ext uri="{FF2B5EF4-FFF2-40B4-BE49-F238E27FC236}">
                    <a16:creationId xmlns:a16="http://schemas.microsoft.com/office/drawing/2014/main" id="{5F04B2BE-175F-4B2F-AC0F-E3DF8F891F55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21">
                <a:extLst>
                  <a:ext uri="{FF2B5EF4-FFF2-40B4-BE49-F238E27FC236}">
                    <a16:creationId xmlns:a16="http://schemas.microsoft.com/office/drawing/2014/main" id="{019C3958-2266-40F7-9C94-EE0F7B65AA8A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Freeform 22">
                <a:extLst>
                  <a:ext uri="{FF2B5EF4-FFF2-40B4-BE49-F238E27FC236}">
                    <a16:creationId xmlns:a16="http://schemas.microsoft.com/office/drawing/2014/main" id="{D43BCBA9-415C-4090-9A01-F246AFAB4D57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36FF33B3-3698-439A-AFB6-58F2718A79E8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5AFB44FB-FDF6-43DD-8FDE-3FE82C330907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83EB4869-5135-4EEE-B1A6-1BBAE79AF846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14F47E6A-BF98-4E4E-8384-C31196A320E4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239549133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1F45-EEDE-461D-81BA-374B1697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22803-75D0-4A8D-911D-7D6EBDA9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60D32-6E6E-46A7-8C78-C5E3586F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7B3CB-7CE4-439A-980D-CC1ED015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DF564DB-4017-4843-9CF7-B855D922DCF0}"/>
              </a:ext>
            </a:extLst>
          </p:cNvPr>
          <p:cNvSpPr/>
          <p:nvPr userDrawn="1"/>
        </p:nvSpPr>
        <p:spPr>
          <a:xfrm>
            <a:off x="0" y="-3810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9E468-BDFC-449E-9EE9-43397B4C94D5}"/>
              </a:ext>
            </a:extLst>
          </p:cNvPr>
          <p:cNvSpPr txBox="1"/>
          <p:nvPr userDrawn="1"/>
        </p:nvSpPr>
        <p:spPr>
          <a:xfrm>
            <a:off x="8032786" y="4576762"/>
            <a:ext cx="981390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TEŞEKKÜRLER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6FEF34-B9D9-4B74-9E58-11685F4B2409}"/>
              </a:ext>
            </a:extLst>
          </p:cNvPr>
          <p:cNvGrpSpPr/>
          <p:nvPr userDrawn="1"/>
        </p:nvGrpSpPr>
        <p:grpSpPr>
          <a:xfrm>
            <a:off x="6976643" y="9196504"/>
            <a:ext cx="4334713" cy="621106"/>
            <a:chOff x="0" y="0"/>
            <a:chExt cx="5779617" cy="82814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D5D178-457C-43E3-A617-241CF08CE2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828141" cy="828141"/>
              <a:chOff x="0" y="0"/>
              <a:chExt cx="1283043" cy="1283043"/>
            </a:xfrm>
          </p:grpSpPr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09FDC33F-3C85-4932-846B-6039458391C5}"/>
                  </a:ext>
                </a:extLst>
              </p:cNvPr>
              <p:cNvSpPr/>
              <p:nvPr/>
            </p:nvSpPr>
            <p:spPr>
              <a:xfrm>
                <a:off x="63500" y="63500"/>
                <a:ext cx="1156081" cy="1156081"/>
              </a:xfrm>
              <a:custGeom>
                <a:avLst/>
                <a:gdLst/>
                <a:ahLst/>
                <a:cxnLst/>
                <a:rect l="l" t="t" r="r" b="b"/>
                <a:pathLst>
                  <a:path w="1156081" h="1156081">
                    <a:moveTo>
                      <a:pt x="425450" y="590677"/>
                    </a:moveTo>
                    <a:cubicBezTo>
                      <a:pt x="473837" y="408813"/>
                      <a:pt x="418592" y="218186"/>
                      <a:pt x="286512" y="117094"/>
                    </a:cubicBezTo>
                    <a:cubicBezTo>
                      <a:pt x="106553" y="231013"/>
                      <a:pt x="2794" y="445262"/>
                      <a:pt x="40259" y="668401"/>
                    </a:cubicBezTo>
                    <a:cubicBezTo>
                      <a:pt x="52578" y="742188"/>
                      <a:pt x="79375" y="809879"/>
                      <a:pt x="116967" y="869315"/>
                    </a:cubicBezTo>
                    <a:cubicBezTo>
                      <a:pt x="257810" y="830199"/>
                      <a:pt x="381508" y="756031"/>
                      <a:pt x="425450" y="590677"/>
                    </a:cubicBezTo>
                    <a:moveTo>
                      <a:pt x="668274" y="1115695"/>
                    </a:moveTo>
                    <a:cubicBezTo>
                      <a:pt x="965327" y="1065784"/>
                      <a:pt x="1165479" y="784606"/>
                      <a:pt x="1115568" y="487680"/>
                    </a:cubicBezTo>
                    <a:cubicBezTo>
                      <a:pt x="1074166" y="240665"/>
                      <a:pt x="872617" y="60579"/>
                      <a:pt x="635127" y="35687"/>
                    </a:cubicBezTo>
                    <a:cubicBezTo>
                      <a:pt x="587121" y="30607"/>
                      <a:pt x="537591" y="32004"/>
                      <a:pt x="487680" y="40386"/>
                    </a:cubicBezTo>
                    <a:cubicBezTo>
                      <a:pt x="428498" y="50292"/>
                      <a:pt x="373253" y="69596"/>
                      <a:pt x="322961" y="96266"/>
                    </a:cubicBezTo>
                    <a:cubicBezTo>
                      <a:pt x="584708" y="185039"/>
                      <a:pt x="725424" y="320040"/>
                      <a:pt x="735203" y="458216"/>
                    </a:cubicBezTo>
                    <a:cubicBezTo>
                      <a:pt x="740029" y="543560"/>
                      <a:pt x="700278" y="605282"/>
                      <a:pt x="648208" y="655701"/>
                    </a:cubicBezTo>
                    <a:lnTo>
                      <a:pt x="1018286" y="629793"/>
                    </a:lnTo>
                    <a:cubicBezTo>
                      <a:pt x="1028827" y="629031"/>
                      <a:pt x="1032002" y="641223"/>
                      <a:pt x="1019302" y="644906"/>
                    </a:cubicBezTo>
                    <a:lnTo>
                      <a:pt x="136525" y="898017"/>
                    </a:lnTo>
                    <a:cubicBezTo>
                      <a:pt x="226314" y="1021715"/>
                      <a:pt x="366014" y="1104138"/>
                      <a:pt x="520827" y="1120267"/>
                    </a:cubicBezTo>
                    <a:cubicBezTo>
                      <a:pt x="568833" y="1125347"/>
                      <a:pt x="618363" y="1123950"/>
                      <a:pt x="668274" y="1115568"/>
                    </a:cubicBezTo>
                    <a:moveTo>
                      <a:pt x="638429" y="3175"/>
                    </a:moveTo>
                    <a:cubicBezTo>
                      <a:pt x="929259" y="33401"/>
                      <a:pt x="1155954" y="279146"/>
                      <a:pt x="1156081" y="577850"/>
                    </a:cubicBezTo>
                    <a:cubicBezTo>
                      <a:pt x="1156208" y="897128"/>
                      <a:pt x="897509" y="1155954"/>
                      <a:pt x="578231" y="1156081"/>
                    </a:cubicBezTo>
                    <a:cubicBezTo>
                      <a:pt x="258953" y="1156208"/>
                      <a:pt x="127" y="897382"/>
                      <a:pt x="0" y="578231"/>
                    </a:cubicBezTo>
                    <a:cubicBezTo>
                      <a:pt x="-127" y="259080"/>
                      <a:pt x="258572" y="127"/>
                      <a:pt x="577850" y="0"/>
                    </a:cubicBezTo>
                    <a:cubicBezTo>
                      <a:pt x="598297" y="0"/>
                      <a:pt x="618617" y="1143"/>
                      <a:pt x="638556" y="3175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4093D97F-1B97-44AF-8B0E-580C2356F98B}"/>
                  </a:ext>
                </a:extLst>
              </p:cNvPr>
              <p:cNvSpPr/>
              <p:nvPr/>
            </p:nvSpPr>
            <p:spPr>
              <a:xfrm>
                <a:off x="96146" y="96229"/>
                <a:ext cx="1090550" cy="1090624"/>
              </a:xfrm>
              <a:custGeom>
                <a:avLst/>
                <a:gdLst/>
                <a:ahLst/>
                <a:cxnLst/>
                <a:rect l="l" t="t" r="r" b="b"/>
                <a:pathLst>
                  <a:path w="1090550" h="1090624">
                    <a:moveTo>
                      <a:pt x="7613" y="635672"/>
                    </a:moveTo>
                    <a:cubicBezTo>
                      <a:pt x="19932" y="709459"/>
                      <a:pt x="46729" y="777277"/>
                      <a:pt x="84321" y="836586"/>
                    </a:cubicBezTo>
                    <a:cubicBezTo>
                      <a:pt x="225164" y="797470"/>
                      <a:pt x="348735" y="723302"/>
                      <a:pt x="392804" y="557948"/>
                    </a:cubicBezTo>
                    <a:cubicBezTo>
                      <a:pt x="441191" y="376084"/>
                      <a:pt x="385946" y="185457"/>
                      <a:pt x="253866" y="84365"/>
                    </a:cubicBezTo>
                    <a:cubicBezTo>
                      <a:pt x="73907" y="198284"/>
                      <a:pt x="-29852" y="412533"/>
                      <a:pt x="7613" y="635672"/>
                    </a:cubicBezTo>
                    <a:moveTo>
                      <a:pt x="1082922" y="455078"/>
                    </a:moveTo>
                    <a:cubicBezTo>
                      <a:pt x="1132833" y="752004"/>
                      <a:pt x="932554" y="1033182"/>
                      <a:pt x="635628" y="1082966"/>
                    </a:cubicBezTo>
                    <a:cubicBezTo>
                      <a:pt x="585717" y="1091348"/>
                      <a:pt x="536060" y="1092745"/>
                      <a:pt x="488181" y="1087665"/>
                    </a:cubicBezTo>
                    <a:cubicBezTo>
                      <a:pt x="333241" y="1071536"/>
                      <a:pt x="193668" y="989113"/>
                      <a:pt x="103752" y="865415"/>
                    </a:cubicBezTo>
                    <a:lnTo>
                      <a:pt x="986529" y="612177"/>
                    </a:lnTo>
                    <a:cubicBezTo>
                      <a:pt x="999229" y="608494"/>
                      <a:pt x="995927" y="596302"/>
                      <a:pt x="985513" y="597064"/>
                    </a:cubicBezTo>
                    <a:lnTo>
                      <a:pt x="615435" y="622972"/>
                    </a:lnTo>
                    <a:cubicBezTo>
                      <a:pt x="667632" y="572680"/>
                      <a:pt x="707256" y="510958"/>
                      <a:pt x="702430" y="425487"/>
                    </a:cubicBezTo>
                    <a:cubicBezTo>
                      <a:pt x="692651" y="287184"/>
                      <a:pt x="551935" y="152310"/>
                      <a:pt x="290188" y="63537"/>
                    </a:cubicBezTo>
                    <a:cubicBezTo>
                      <a:pt x="340480" y="36867"/>
                      <a:pt x="395725" y="17563"/>
                      <a:pt x="454907" y="7657"/>
                    </a:cubicBezTo>
                    <a:cubicBezTo>
                      <a:pt x="504818" y="-725"/>
                      <a:pt x="554475" y="-2122"/>
                      <a:pt x="602354" y="2958"/>
                    </a:cubicBezTo>
                    <a:cubicBezTo>
                      <a:pt x="839844" y="27850"/>
                      <a:pt x="1041393" y="207936"/>
                      <a:pt x="1082922" y="455078"/>
                    </a:cubicBezTo>
                  </a:path>
                </a:pathLst>
              </a:custGeom>
              <a:solidFill>
                <a:srgbClr val="C90C0F"/>
              </a:solidFill>
            </p:spPr>
          </p:sp>
        </p:grpSp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8BD5800A-151B-4F1E-92DF-0F94B934AD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7681" y="221817"/>
              <a:ext cx="1879107" cy="382761"/>
              <a:chOff x="0" y="0"/>
              <a:chExt cx="2911310" cy="593014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6BF8A9B3-6975-4575-9DF9-1608A090CB65}"/>
                  </a:ext>
                </a:extLst>
              </p:cNvPr>
              <p:cNvSpPr/>
              <p:nvPr/>
            </p:nvSpPr>
            <p:spPr>
              <a:xfrm>
                <a:off x="2447290" y="70485"/>
                <a:ext cx="40055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755">
                    <a:moveTo>
                      <a:pt x="295148" y="452755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755"/>
                    </a:lnTo>
                    <a:lnTo>
                      <a:pt x="0" y="452755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Freeform 13">
                <a:extLst>
                  <a:ext uri="{FF2B5EF4-FFF2-40B4-BE49-F238E27FC236}">
                    <a16:creationId xmlns:a16="http://schemas.microsoft.com/office/drawing/2014/main" id="{FFCCE11B-0D2D-4821-A337-14680A4D4AC5}"/>
                  </a:ext>
                </a:extLst>
              </p:cNvPr>
              <p:cNvSpPr/>
              <p:nvPr/>
            </p:nvSpPr>
            <p:spPr>
              <a:xfrm>
                <a:off x="488188" y="70485"/>
                <a:ext cx="379476" cy="458724"/>
              </a:xfrm>
              <a:custGeom>
                <a:avLst/>
                <a:gdLst/>
                <a:ahLst/>
                <a:cxnLst/>
                <a:rect l="l" t="t" r="r" b="b"/>
                <a:pathLst>
                  <a:path w="379476" h="458724">
                    <a:moveTo>
                      <a:pt x="0" y="0"/>
                    </a:moveTo>
                    <a:lnTo>
                      <a:pt x="0" y="283464"/>
                    </a:lnTo>
                    <a:cubicBezTo>
                      <a:pt x="0" y="314833"/>
                      <a:pt x="4572" y="341884"/>
                      <a:pt x="13716" y="363982"/>
                    </a:cubicBezTo>
                    <a:cubicBezTo>
                      <a:pt x="22733" y="385826"/>
                      <a:pt x="35814" y="403987"/>
                      <a:pt x="52705" y="417957"/>
                    </a:cubicBezTo>
                    <a:cubicBezTo>
                      <a:pt x="69723" y="432054"/>
                      <a:pt x="90170" y="442468"/>
                      <a:pt x="113538" y="448818"/>
                    </a:cubicBezTo>
                    <a:cubicBezTo>
                      <a:pt x="137287" y="455422"/>
                      <a:pt x="164084" y="458724"/>
                      <a:pt x="193167" y="458724"/>
                    </a:cubicBezTo>
                    <a:cubicBezTo>
                      <a:pt x="222250" y="458724"/>
                      <a:pt x="248793" y="455422"/>
                      <a:pt x="272034" y="448818"/>
                    </a:cubicBezTo>
                    <a:cubicBezTo>
                      <a:pt x="294894" y="442341"/>
                      <a:pt x="314452" y="432054"/>
                      <a:pt x="330073" y="418084"/>
                    </a:cubicBezTo>
                    <a:cubicBezTo>
                      <a:pt x="345694" y="404114"/>
                      <a:pt x="358013" y="385953"/>
                      <a:pt x="366522" y="363982"/>
                    </a:cubicBezTo>
                    <a:cubicBezTo>
                      <a:pt x="375031" y="342011"/>
                      <a:pt x="379476" y="314833"/>
                      <a:pt x="379476" y="283337"/>
                    </a:cubicBezTo>
                    <a:lnTo>
                      <a:pt x="379476" y="0"/>
                    </a:lnTo>
                    <a:lnTo>
                      <a:pt x="281813" y="0"/>
                    </a:lnTo>
                    <a:lnTo>
                      <a:pt x="281813" y="280416"/>
                    </a:lnTo>
                    <a:cubicBezTo>
                      <a:pt x="281813" y="308991"/>
                      <a:pt x="274701" y="331978"/>
                      <a:pt x="260731" y="348996"/>
                    </a:cubicBezTo>
                    <a:cubicBezTo>
                      <a:pt x="246507" y="366268"/>
                      <a:pt x="223774" y="374904"/>
                      <a:pt x="193294" y="374904"/>
                    </a:cubicBezTo>
                    <a:cubicBezTo>
                      <a:pt x="163322" y="374904"/>
                      <a:pt x="140716" y="366268"/>
                      <a:pt x="126238" y="348996"/>
                    </a:cubicBezTo>
                    <a:cubicBezTo>
                      <a:pt x="112014" y="332105"/>
                      <a:pt x="104775" y="308991"/>
                      <a:pt x="104775" y="280416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Freeform 14">
                <a:extLst>
                  <a:ext uri="{FF2B5EF4-FFF2-40B4-BE49-F238E27FC236}">
                    <a16:creationId xmlns:a16="http://schemas.microsoft.com/office/drawing/2014/main" id="{DA12D2D8-980F-4C7D-8412-2AEF02FB8F71}"/>
                  </a:ext>
                </a:extLst>
              </p:cNvPr>
              <p:cNvSpPr/>
              <p:nvPr/>
            </p:nvSpPr>
            <p:spPr>
              <a:xfrm>
                <a:off x="63500" y="70485"/>
                <a:ext cx="351409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409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409" y="0"/>
                    </a:lnTo>
                    <a:lnTo>
                      <a:pt x="351409" y="40640"/>
                    </a:lnTo>
                    <a:cubicBezTo>
                      <a:pt x="351409" y="64897"/>
                      <a:pt x="331724" y="84709"/>
                      <a:pt x="307467" y="84709"/>
                    </a:cubicBezTo>
                    <a:lnTo>
                      <a:pt x="227584" y="84709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Freeform 15">
                <a:extLst>
                  <a:ext uri="{FF2B5EF4-FFF2-40B4-BE49-F238E27FC236}">
                    <a16:creationId xmlns:a16="http://schemas.microsoft.com/office/drawing/2014/main" id="{327A7BB0-BE6A-4B2F-BE65-D535F4E1DCF0}"/>
                  </a:ext>
                </a:extLst>
              </p:cNvPr>
              <p:cNvSpPr/>
              <p:nvPr/>
            </p:nvSpPr>
            <p:spPr>
              <a:xfrm>
                <a:off x="1867662" y="70485"/>
                <a:ext cx="104648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104648" h="452755">
                    <a:moveTo>
                      <a:pt x="0" y="0"/>
                    </a:moveTo>
                    <a:lnTo>
                      <a:pt x="104648" y="0"/>
                    </a:lnTo>
                    <a:lnTo>
                      <a:pt x="104648" y="452755"/>
                    </a:lnTo>
                    <a:lnTo>
                      <a:pt x="0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Freeform 16">
                <a:extLst>
                  <a:ext uri="{FF2B5EF4-FFF2-40B4-BE49-F238E27FC236}">
                    <a16:creationId xmlns:a16="http://schemas.microsoft.com/office/drawing/2014/main" id="{1C9338D0-832D-46A6-A6FA-C2C81CCCC058}"/>
                  </a:ext>
                </a:extLst>
              </p:cNvPr>
              <p:cNvSpPr/>
              <p:nvPr/>
            </p:nvSpPr>
            <p:spPr>
              <a:xfrm>
                <a:off x="1414653" y="70358"/>
                <a:ext cx="395605" cy="453009"/>
              </a:xfrm>
              <a:custGeom>
                <a:avLst/>
                <a:gdLst/>
                <a:ahLst/>
                <a:cxnLst/>
                <a:rect l="l" t="t" r="r" b="b"/>
                <a:pathLst>
                  <a:path w="395605" h="453009">
                    <a:moveTo>
                      <a:pt x="104648" y="241808"/>
                    </a:moveTo>
                    <a:lnTo>
                      <a:pt x="108204" y="246253"/>
                    </a:lnTo>
                    <a:lnTo>
                      <a:pt x="241808" y="418465"/>
                    </a:lnTo>
                    <a:cubicBezTo>
                      <a:pt x="258826" y="440436"/>
                      <a:pt x="284480" y="453009"/>
                      <a:pt x="312293" y="453009"/>
                    </a:cubicBezTo>
                    <a:lnTo>
                      <a:pt x="395605" y="453009"/>
                    </a:lnTo>
                    <a:lnTo>
                      <a:pt x="204089" y="209423"/>
                    </a:lnTo>
                    <a:lnTo>
                      <a:pt x="201295" y="205867"/>
                    </a:lnTo>
                    <a:lnTo>
                      <a:pt x="204089" y="202311"/>
                    </a:lnTo>
                    <a:lnTo>
                      <a:pt x="361569" y="0"/>
                    </a:lnTo>
                    <a:lnTo>
                      <a:pt x="252730" y="0"/>
                    </a:lnTo>
                    <a:lnTo>
                      <a:pt x="108331" y="195072"/>
                    </a:lnTo>
                    <a:lnTo>
                      <a:pt x="104648" y="199771"/>
                    </a:lnTo>
                    <a:lnTo>
                      <a:pt x="104648" y="191643"/>
                    </a:lnTo>
                    <a:lnTo>
                      <a:pt x="104648" y="0"/>
                    </a:lnTo>
                    <a:lnTo>
                      <a:pt x="0" y="0"/>
                    </a:lnTo>
                    <a:lnTo>
                      <a:pt x="0" y="452755"/>
                    </a:lnTo>
                    <a:lnTo>
                      <a:pt x="104648" y="452755"/>
                    </a:lnTo>
                    <a:lnTo>
                      <a:pt x="104648" y="2498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Freeform 17">
                <a:extLst>
                  <a:ext uri="{FF2B5EF4-FFF2-40B4-BE49-F238E27FC236}">
                    <a16:creationId xmlns:a16="http://schemas.microsoft.com/office/drawing/2014/main" id="{2F6B93B1-7064-40D9-8654-06B3A44E38C8}"/>
                  </a:ext>
                </a:extLst>
              </p:cNvPr>
              <p:cNvSpPr/>
              <p:nvPr/>
            </p:nvSpPr>
            <p:spPr>
              <a:xfrm>
                <a:off x="964565" y="70485"/>
                <a:ext cx="38303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83032" h="452755">
                    <a:moveTo>
                      <a:pt x="104521" y="207264"/>
                    </a:moveTo>
                    <a:lnTo>
                      <a:pt x="165481" y="207264"/>
                    </a:lnTo>
                    <a:cubicBezTo>
                      <a:pt x="187452" y="207264"/>
                      <a:pt x="204089" y="201295"/>
                      <a:pt x="215138" y="189357"/>
                    </a:cubicBezTo>
                    <a:cubicBezTo>
                      <a:pt x="226060" y="177673"/>
                      <a:pt x="231648" y="162433"/>
                      <a:pt x="231648" y="144018"/>
                    </a:cubicBezTo>
                    <a:cubicBezTo>
                      <a:pt x="231648" y="125222"/>
                      <a:pt x="226314" y="109728"/>
                      <a:pt x="215646" y="98044"/>
                    </a:cubicBezTo>
                    <a:cubicBezTo>
                      <a:pt x="204851" y="86106"/>
                      <a:pt x="187960" y="80137"/>
                      <a:pt x="165481" y="80137"/>
                    </a:cubicBezTo>
                    <a:lnTo>
                      <a:pt x="104521" y="80137"/>
                    </a:lnTo>
                    <a:close/>
                    <a:moveTo>
                      <a:pt x="313690" y="452755"/>
                    </a:moveTo>
                    <a:cubicBezTo>
                      <a:pt x="282702" y="452755"/>
                      <a:pt x="253492" y="436245"/>
                      <a:pt x="237490" y="409829"/>
                    </a:cubicBezTo>
                    <a:lnTo>
                      <a:pt x="156083" y="275336"/>
                    </a:lnTo>
                    <a:lnTo>
                      <a:pt x="104521" y="275336"/>
                    </a:lnTo>
                    <a:lnTo>
                      <a:pt x="104521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86309" y="0"/>
                    </a:lnTo>
                    <a:cubicBezTo>
                      <a:pt x="234188" y="0"/>
                      <a:pt x="271653" y="12446"/>
                      <a:pt x="297815" y="37084"/>
                    </a:cubicBezTo>
                    <a:cubicBezTo>
                      <a:pt x="323977" y="61722"/>
                      <a:pt x="337058" y="95377"/>
                      <a:pt x="337058" y="137160"/>
                    </a:cubicBezTo>
                    <a:cubicBezTo>
                      <a:pt x="337058" y="158369"/>
                      <a:pt x="331343" y="179959"/>
                      <a:pt x="320167" y="201168"/>
                    </a:cubicBezTo>
                    <a:cubicBezTo>
                      <a:pt x="309118" y="221996"/>
                      <a:pt x="289687" y="239014"/>
                      <a:pt x="262128" y="251841"/>
                    </a:cubicBezTo>
                    <a:lnTo>
                      <a:pt x="256032" y="254635"/>
                    </a:lnTo>
                    <a:lnTo>
                      <a:pt x="383032" y="45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Freeform 18">
                <a:extLst>
                  <a:ext uri="{FF2B5EF4-FFF2-40B4-BE49-F238E27FC236}">
                    <a16:creationId xmlns:a16="http://schemas.microsoft.com/office/drawing/2014/main" id="{D3C8325C-1705-4798-9D1F-12B6F95FF17F}"/>
                  </a:ext>
                </a:extLst>
              </p:cNvPr>
              <p:cNvSpPr/>
              <p:nvPr/>
            </p:nvSpPr>
            <p:spPr>
              <a:xfrm>
                <a:off x="2058162" y="63500"/>
                <a:ext cx="303276" cy="466217"/>
              </a:xfrm>
              <a:custGeom>
                <a:avLst/>
                <a:gdLst/>
                <a:ahLst/>
                <a:cxnLst/>
                <a:rect l="l" t="t" r="r" b="b"/>
                <a:pathLst>
                  <a:path w="303276" h="466217">
                    <a:moveTo>
                      <a:pt x="0" y="440436"/>
                    </a:moveTo>
                    <a:lnTo>
                      <a:pt x="0" y="353695"/>
                    </a:lnTo>
                    <a:cubicBezTo>
                      <a:pt x="33274" y="369062"/>
                      <a:pt x="76200" y="384302"/>
                      <a:pt x="120523" y="384302"/>
                    </a:cubicBezTo>
                    <a:cubicBezTo>
                      <a:pt x="171577" y="384302"/>
                      <a:pt x="197485" y="366776"/>
                      <a:pt x="197485" y="333248"/>
                    </a:cubicBezTo>
                    <a:cubicBezTo>
                      <a:pt x="197485" y="293878"/>
                      <a:pt x="162687" y="289433"/>
                      <a:pt x="93218" y="259588"/>
                    </a:cubicBezTo>
                    <a:cubicBezTo>
                      <a:pt x="45847" y="238379"/>
                      <a:pt x="762" y="205613"/>
                      <a:pt x="762" y="129794"/>
                    </a:cubicBezTo>
                    <a:cubicBezTo>
                      <a:pt x="762" y="41529"/>
                      <a:pt x="68072" y="0"/>
                      <a:pt x="161290" y="0"/>
                    </a:cubicBezTo>
                    <a:cubicBezTo>
                      <a:pt x="210820" y="0"/>
                      <a:pt x="252984" y="11684"/>
                      <a:pt x="276733" y="20447"/>
                    </a:cubicBezTo>
                    <a:lnTo>
                      <a:pt x="276733" y="105029"/>
                    </a:lnTo>
                    <a:cubicBezTo>
                      <a:pt x="252984" y="94107"/>
                      <a:pt x="210947" y="81026"/>
                      <a:pt x="168656" y="81026"/>
                    </a:cubicBezTo>
                    <a:cubicBezTo>
                      <a:pt x="122809" y="81026"/>
                      <a:pt x="101346" y="97790"/>
                      <a:pt x="101346" y="127000"/>
                    </a:cubicBezTo>
                    <a:cubicBezTo>
                      <a:pt x="101346" y="157607"/>
                      <a:pt x="127254" y="167132"/>
                      <a:pt x="173863" y="184658"/>
                    </a:cubicBezTo>
                    <a:cubicBezTo>
                      <a:pt x="233807" y="214503"/>
                      <a:pt x="303276" y="227711"/>
                      <a:pt x="303276" y="329819"/>
                    </a:cubicBezTo>
                    <a:cubicBezTo>
                      <a:pt x="303276" y="418084"/>
                      <a:pt x="233045" y="466217"/>
                      <a:pt x="139065" y="466217"/>
                    </a:cubicBezTo>
                    <a:cubicBezTo>
                      <a:pt x="81407" y="466217"/>
                      <a:pt x="35560" y="456057"/>
                      <a:pt x="0" y="440690"/>
                    </a:cubicBezTo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9">
              <a:extLst>
                <a:ext uri="{FF2B5EF4-FFF2-40B4-BE49-F238E27FC236}">
                  <a16:creationId xmlns:a16="http://schemas.microsoft.com/office/drawing/2014/main" id="{6788B8E5-AB8D-4F84-9A17-252B97DF93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5722" y="224424"/>
              <a:ext cx="2833895" cy="381901"/>
              <a:chOff x="0" y="0"/>
              <a:chExt cx="4390568" cy="591680"/>
            </a:xfrm>
          </p:grpSpPr>
          <p:sp>
            <p:nvSpPr>
              <p:cNvPr id="12" name="Freeform 20">
                <a:extLst>
                  <a:ext uri="{FF2B5EF4-FFF2-40B4-BE49-F238E27FC236}">
                    <a16:creationId xmlns:a16="http://schemas.microsoft.com/office/drawing/2014/main" id="{525EFEEF-874D-4D9B-A619-83D3D12D20E8}"/>
                  </a:ext>
                </a:extLst>
              </p:cNvPr>
              <p:cNvSpPr/>
              <p:nvPr/>
            </p:nvSpPr>
            <p:spPr>
              <a:xfrm>
                <a:off x="1788795" y="69596"/>
                <a:ext cx="39890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398907" h="452628">
                    <a:moveTo>
                      <a:pt x="0" y="0"/>
                    </a:moveTo>
                    <a:lnTo>
                      <a:pt x="64770" y="0"/>
                    </a:lnTo>
                    <a:cubicBezTo>
                      <a:pt x="95504" y="0"/>
                      <a:pt x="124206" y="15875"/>
                      <a:pt x="140462" y="42037"/>
                    </a:cubicBezTo>
                    <a:lnTo>
                      <a:pt x="266700" y="244856"/>
                    </a:lnTo>
                    <a:cubicBezTo>
                      <a:pt x="280924" y="267335"/>
                      <a:pt x="297561" y="297180"/>
                      <a:pt x="307213" y="318262"/>
                    </a:cubicBezTo>
                    <a:lnTo>
                      <a:pt x="309499" y="318262"/>
                    </a:lnTo>
                    <a:cubicBezTo>
                      <a:pt x="307975" y="297942"/>
                      <a:pt x="307213" y="269494"/>
                      <a:pt x="307213" y="249301"/>
                    </a:cubicBezTo>
                    <a:lnTo>
                      <a:pt x="307213" y="0"/>
                    </a:lnTo>
                    <a:lnTo>
                      <a:pt x="398907" y="0"/>
                    </a:lnTo>
                    <a:lnTo>
                      <a:pt x="398907" y="452628"/>
                    </a:lnTo>
                    <a:lnTo>
                      <a:pt x="284226" y="452628"/>
                    </a:lnTo>
                    <a:lnTo>
                      <a:pt x="130810" y="207772"/>
                    </a:lnTo>
                    <a:cubicBezTo>
                      <a:pt x="116586" y="185293"/>
                      <a:pt x="101473" y="158369"/>
                      <a:pt x="90932" y="138049"/>
                    </a:cubicBezTo>
                    <a:lnTo>
                      <a:pt x="89408" y="138049"/>
                    </a:lnTo>
                    <a:cubicBezTo>
                      <a:pt x="90170" y="157607"/>
                      <a:pt x="91694" y="180975"/>
                      <a:pt x="91694" y="202692"/>
                    </a:cubicBezTo>
                    <a:lnTo>
                      <a:pt x="91694" y="452628"/>
                    </a:lnTo>
                    <a:lnTo>
                      <a:pt x="0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21">
                <a:extLst>
                  <a:ext uri="{FF2B5EF4-FFF2-40B4-BE49-F238E27FC236}">
                    <a16:creationId xmlns:a16="http://schemas.microsoft.com/office/drawing/2014/main" id="{2F1B9E99-B5BF-43BC-8543-B7F0980B60BF}"/>
                  </a:ext>
                </a:extLst>
              </p:cNvPr>
              <p:cNvSpPr/>
              <p:nvPr/>
            </p:nvSpPr>
            <p:spPr>
              <a:xfrm>
                <a:off x="2260473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Freeform 22">
                <a:extLst>
                  <a:ext uri="{FF2B5EF4-FFF2-40B4-BE49-F238E27FC236}">
                    <a16:creationId xmlns:a16="http://schemas.microsoft.com/office/drawing/2014/main" id="{436D8703-820B-4DC1-900A-620CA51EDFD2}"/>
                  </a:ext>
                </a:extLst>
              </p:cNvPr>
              <p:cNvSpPr/>
              <p:nvPr/>
            </p:nvSpPr>
            <p:spPr>
              <a:xfrm>
                <a:off x="3029331" y="63627"/>
                <a:ext cx="429006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29006" h="464566">
                    <a:moveTo>
                      <a:pt x="324231" y="231902"/>
                    </a:moveTo>
                    <a:cubicBezTo>
                      <a:pt x="324231" y="135890"/>
                      <a:pt x="285750" y="82169"/>
                      <a:pt x="214376" y="82169"/>
                    </a:cubicBezTo>
                    <a:cubicBezTo>
                      <a:pt x="143002" y="82169"/>
                      <a:pt x="105283" y="136652"/>
                      <a:pt x="105283" y="232664"/>
                    </a:cubicBezTo>
                    <a:cubicBezTo>
                      <a:pt x="105283" y="328676"/>
                      <a:pt x="143129" y="382397"/>
                      <a:pt x="214376" y="382397"/>
                    </a:cubicBezTo>
                    <a:cubicBezTo>
                      <a:pt x="285623" y="382397"/>
                      <a:pt x="324231" y="327914"/>
                      <a:pt x="324231" y="231902"/>
                    </a:cubicBezTo>
                    <a:moveTo>
                      <a:pt x="0" y="232664"/>
                    </a:moveTo>
                    <a:cubicBezTo>
                      <a:pt x="0" y="107569"/>
                      <a:pt x="72009" y="0"/>
                      <a:pt x="214503" y="0"/>
                    </a:cubicBezTo>
                    <a:cubicBezTo>
                      <a:pt x="356362" y="0"/>
                      <a:pt x="429006" y="103251"/>
                      <a:pt x="429006" y="231902"/>
                    </a:cubicBezTo>
                    <a:cubicBezTo>
                      <a:pt x="429006" y="356997"/>
                      <a:pt x="356362" y="464566"/>
                      <a:pt x="214503" y="464566"/>
                    </a:cubicBezTo>
                    <a:cubicBezTo>
                      <a:pt x="72009" y="464566"/>
                      <a:pt x="0" y="361315"/>
                      <a:pt x="0" y="232664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92DA6159-C13A-49C5-B167-9D7BA332C61E}"/>
                  </a:ext>
                </a:extLst>
              </p:cNvPr>
              <p:cNvSpPr/>
              <p:nvPr/>
            </p:nvSpPr>
            <p:spPr>
              <a:xfrm>
                <a:off x="2748534" y="69469"/>
                <a:ext cx="271526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271526" h="452628">
                    <a:moveTo>
                      <a:pt x="0" y="452628"/>
                    </a:moveTo>
                    <a:lnTo>
                      <a:pt x="0" y="0"/>
                    </a:lnTo>
                    <a:lnTo>
                      <a:pt x="50800" y="0"/>
                    </a:lnTo>
                    <a:cubicBezTo>
                      <a:pt x="80518" y="0"/>
                      <a:pt x="104521" y="24130"/>
                      <a:pt x="104521" y="53721"/>
                    </a:cubicBezTo>
                    <a:lnTo>
                      <a:pt x="104521" y="371094"/>
                    </a:lnTo>
                    <a:lnTo>
                      <a:pt x="271526" y="371094"/>
                    </a:lnTo>
                    <a:lnTo>
                      <a:pt x="271526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D4C093A8-90B4-4B07-87A2-A75684766FA1}"/>
                  </a:ext>
                </a:extLst>
              </p:cNvPr>
              <p:cNvSpPr/>
              <p:nvPr/>
            </p:nvSpPr>
            <p:spPr>
              <a:xfrm>
                <a:off x="3512058" y="63500"/>
                <a:ext cx="383159" cy="464693"/>
              </a:xfrm>
              <a:custGeom>
                <a:avLst/>
                <a:gdLst/>
                <a:ahLst/>
                <a:cxnLst/>
                <a:rect l="l" t="t" r="r" b="b"/>
                <a:pathLst>
                  <a:path w="383159" h="464693">
                    <a:moveTo>
                      <a:pt x="127" y="237744"/>
                    </a:moveTo>
                    <a:cubicBezTo>
                      <a:pt x="127" y="111252"/>
                      <a:pt x="69215" y="0"/>
                      <a:pt x="232791" y="0"/>
                    </a:cubicBezTo>
                    <a:cubicBezTo>
                      <a:pt x="291719" y="0"/>
                      <a:pt x="330200" y="10160"/>
                      <a:pt x="360045" y="23241"/>
                    </a:cubicBezTo>
                    <a:lnTo>
                      <a:pt x="360045" y="108331"/>
                    </a:lnTo>
                    <a:cubicBezTo>
                      <a:pt x="324358" y="91567"/>
                      <a:pt x="286639" y="82169"/>
                      <a:pt x="237871" y="82169"/>
                    </a:cubicBezTo>
                    <a:cubicBezTo>
                      <a:pt x="149860" y="82169"/>
                      <a:pt x="105537" y="137414"/>
                      <a:pt x="105537" y="237744"/>
                    </a:cubicBezTo>
                    <a:cubicBezTo>
                      <a:pt x="105537" y="335153"/>
                      <a:pt x="152019" y="384683"/>
                      <a:pt x="234950" y="384683"/>
                    </a:cubicBezTo>
                    <a:cubicBezTo>
                      <a:pt x="257556" y="384683"/>
                      <a:pt x="272034" y="381762"/>
                      <a:pt x="287274" y="376682"/>
                    </a:cubicBezTo>
                    <a:lnTo>
                      <a:pt x="287274" y="287147"/>
                    </a:lnTo>
                    <a:lnTo>
                      <a:pt x="254889" y="287147"/>
                    </a:lnTo>
                    <a:cubicBezTo>
                      <a:pt x="233807" y="287147"/>
                      <a:pt x="216662" y="270002"/>
                      <a:pt x="216662" y="248920"/>
                    </a:cubicBezTo>
                    <a:lnTo>
                      <a:pt x="216662" y="212344"/>
                    </a:lnTo>
                    <a:lnTo>
                      <a:pt x="383159" y="212344"/>
                    </a:lnTo>
                    <a:lnTo>
                      <a:pt x="383159" y="437769"/>
                    </a:lnTo>
                    <a:cubicBezTo>
                      <a:pt x="343916" y="451612"/>
                      <a:pt x="297306" y="464693"/>
                      <a:pt x="229743" y="464693"/>
                    </a:cubicBezTo>
                    <a:cubicBezTo>
                      <a:pt x="80645" y="464693"/>
                      <a:pt x="0" y="372364"/>
                      <a:pt x="0" y="237871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038A7F9D-D28F-4CCB-9870-1A6B1E589031}"/>
                  </a:ext>
                </a:extLst>
              </p:cNvPr>
              <p:cNvSpPr/>
              <p:nvPr/>
            </p:nvSpPr>
            <p:spPr>
              <a:xfrm>
                <a:off x="63500" y="69469"/>
                <a:ext cx="351282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351282" h="452755">
                    <a:moveTo>
                      <a:pt x="123063" y="452755"/>
                    </a:moveTo>
                    <a:lnTo>
                      <a:pt x="123063" y="84582"/>
                    </a:lnTo>
                    <a:lnTo>
                      <a:pt x="0" y="84582"/>
                    </a:lnTo>
                    <a:lnTo>
                      <a:pt x="0" y="0"/>
                    </a:lnTo>
                    <a:lnTo>
                      <a:pt x="351282" y="0"/>
                    </a:lnTo>
                    <a:lnTo>
                      <a:pt x="351282" y="40513"/>
                    </a:lnTo>
                    <a:cubicBezTo>
                      <a:pt x="351282" y="64770"/>
                      <a:pt x="331597" y="84455"/>
                      <a:pt x="307340" y="84455"/>
                    </a:cubicBezTo>
                    <a:lnTo>
                      <a:pt x="227584" y="84455"/>
                    </a:lnTo>
                    <a:lnTo>
                      <a:pt x="227584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4E594AAA-B5A4-48A0-897B-9DFED59AC05D}"/>
                  </a:ext>
                </a:extLst>
              </p:cNvPr>
              <p:cNvSpPr/>
              <p:nvPr/>
            </p:nvSpPr>
            <p:spPr>
              <a:xfrm>
                <a:off x="488950" y="69469"/>
                <a:ext cx="283464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452755">
                    <a:moveTo>
                      <a:pt x="0" y="452755"/>
                    </a:moveTo>
                    <a:lnTo>
                      <a:pt x="0" y="0"/>
                    </a:lnTo>
                    <a:lnTo>
                      <a:pt x="283464" y="0"/>
                    </a:lnTo>
                    <a:lnTo>
                      <a:pt x="283464" y="41021"/>
                    </a:lnTo>
                    <a:cubicBezTo>
                      <a:pt x="283464" y="65024"/>
                      <a:pt x="264033" y="84455"/>
                      <a:pt x="240030" y="84455"/>
                    </a:cubicBezTo>
                    <a:lnTo>
                      <a:pt x="104521" y="84455"/>
                    </a:lnTo>
                    <a:lnTo>
                      <a:pt x="104521" y="181864"/>
                    </a:lnTo>
                    <a:lnTo>
                      <a:pt x="256667" y="181864"/>
                    </a:lnTo>
                    <a:lnTo>
                      <a:pt x="256667" y="257429"/>
                    </a:lnTo>
                    <a:lnTo>
                      <a:pt x="104521" y="257429"/>
                    </a:lnTo>
                    <a:lnTo>
                      <a:pt x="104521" y="368173"/>
                    </a:lnTo>
                    <a:lnTo>
                      <a:pt x="283464" y="368173"/>
                    </a:lnTo>
                    <a:lnTo>
                      <a:pt x="283464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Freeform 27">
                <a:extLst>
                  <a:ext uri="{FF2B5EF4-FFF2-40B4-BE49-F238E27FC236}">
                    <a16:creationId xmlns:a16="http://schemas.microsoft.com/office/drawing/2014/main" id="{B4B00DC7-F078-4BD8-8C38-A070FF7740C5}"/>
                  </a:ext>
                </a:extLst>
              </p:cNvPr>
              <p:cNvSpPr/>
              <p:nvPr/>
            </p:nvSpPr>
            <p:spPr>
              <a:xfrm>
                <a:off x="846201" y="63627"/>
                <a:ext cx="335153" cy="464439"/>
              </a:xfrm>
              <a:custGeom>
                <a:avLst/>
                <a:gdLst/>
                <a:ahLst/>
                <a:cxnLst/>
                <a:rect l="l" t="t" r="r" b="b"/>
                <a:pathLst>
                  <a:path w="335153" h="464439">
                    <a:moveTo>
                      <a:pt x="0" y="237744"/>
                    </a:moveTo>
                    <a:cubicBezTo>
                      <a:pt x="0" y="107569"/>
                      <a:pt x="69850" y="0"/>
                      <a:pt x="218186" y="0"/>
                    </a:cubicBezTo>
                    <a:cubicBezTo>
                      <a:pt x="272669" y="0"/>
                      <a:pt x="306832" y="10922"/>
                      <a:pt x="330200" y="20320"/>
                    </a:cubicBezTo>
                    <a:lnTo>
                      <a:pt x="330200" y="106807"/>
                    </a:lnTo>
                    <a:cubicBezTo>
                      <a:pt x="308356" y="93726"/>
                      <a:pt x="274193" y="83566"/>
                      <a:pt x="229108" y="83566"/>
                    </a:cubicBezTo>
                    <a:cubicBezTo>
                      <a:pt x="149098" y="83566"/>
                      <a:pt x="105537" y="136652"/>
                      <a:pt x="105537" y="237744"/>
                    </a:cubicBezTo>
                    <a:cubicBezTo>
                      <a:pt x="105410" y="330073"/>
                      <a:pt x="153416" y="380873"/>
                      <a:pt x="231902" y="380873"/>
                    </a:cubicBezTo>
                    <a:cubicBezTo>
                      <a:pt x="276987" y="380873"/>
                      <a:pt x="308991" y="369951"/>
                      <a:pt x="335153" y="353949"/>
                    </a:cubicBezTo>
                    <a:lnTo>
                      <a:pt x="335153" y="442595"/>
                    </a:lnTo>
                    <a:cubicBezTo>
                      <a:pt x="305308" y="455676"/>
                      <a:pt x="274828" y="464439"/>
                      <a:pt x="219583" y="464439"/>
                    </a:cubicBezTo>
                    <a:cubicBezTo>
                      <a:pt x="74168" y="464439"/>
                      <a:pt x="0" y="367030"/>
                      <a:pt x="0" y="237617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Freeform 28">
                <a:extLst>
                  <a:ext uri="{FF2B5EF4-FFF2-40B4-BE49-F238E27FC236}">
                    <a16:creationId xmlns:a16="http://schemas.microsoft.com/office/drawing/2014/main" id="{3D310B2C-73EE-4605-B1ED-2FC7750D52ED}"/>
                  </a:ext>
                </a:extLst>
              </p:cNvPr>
              <p:cNvSpPr/>
              <p:nvPr/>
            </p:nvSpPr>
            <p:spPr>
              <a:xfrm>
                <a:off x="1273810" y="69469"/>
                <a:ext cx="40055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400558" h="452628">
                    <a:moveTo>
                      <a:pt x="295148" y="452628"/>
                    </a:moveTo>
                    <a:lnTo>
                      <a:pt x="295148" y="262636"/>
                    </a:lnTo>
                    <a:lnTo>
                      <a:pt x="104648" y="262636"/>
                    </a:lnTo>
                    <a:lnTo>
                      <a:pt x="104648" y="452628"/>
                    </a:lnTo>
                    <a:lnTo>
                      <a:pt x="0" y="452628"/>
                    </a:lnTo>
                    <a:lnTo>
                      <a:pt x="0" y="0"/>
                    </a:lnTo>
                    <a:lnTo>
                      <a:pt x="104648" y="0"/>
                    </a:lnTo>
                    <a:lnTo>
                      <a:pt x="104648" y="180340"/>
                    </a:lnTo>
                    <a:lnTo>
                      <a:pt x="295148" y="180340"/>
                    </a:lnTo>
                    <a:lnTo>
                      <a:pt x="295148" y="0"/>
                    </a:lnTo>
                    <a:lnTo>
                      <a:pt x="400558" y="0"/>
                    </a:lnTo>
                    <a:lnTo>
                      <a:pt x="400558" y="4526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Freeform 29">
                <a:extLst>
                  <a:ext uri="{FF2B5EF4-FFF2-40B4-BE49-F238E27FC236}">
                    <a16:creationId xmlns:a16="http://schemas.microsoft.com/office/drawing/2014/main" id="{6ABE9C5B-83EA-4770-A4FF-9807A000AC6B}"/>
                  </a:ext>
                </a:extLst>
              </p:cNvPr>
              <p:cNvSpPr/>
              <p:nvPr/>
            </p:nvSpPr>
            <p:spPr>
              <a:xfrm>
                <a:off x="3915664" y="69469"/>
                <a:ext cx="41148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452755">
                    <a:moveTo>
                      <a:pt x="152400" y="452628"/>
                    </a:moveTo>
                    <a:lnTo>
                      <a:pt x="152400" y="278384"/>
                    </a:lnTo>
                    <a:lnTo>
                      <a:pt x="0" y="0"/>
                    </a:lnTo>
                    <a:lnTo>
                      <a:pt x="87122" y="0"/>
                    </a:lnTo>
                    <a:cubicBezTo>
                      <a:pt x="104648" y="0"/>
                      <a:pt x="120650" y="9906"/>
                      <a:pt x="128524" y="25527"/>
                    </a:cubicBezTo>
                    <a:lnTo>
                      <a:pt x="212344" y="192405"/>
                    </a:lnTo>
                    <a:lnTo>
                      <a:pt x="305816" y="0"/>
                    </a:lnTo>
                    <a:lnTo>
                      <a:pt x="411480" y="0"/>
                    </a:lnTo>
                    <a:lnTo>
                      <a:pt x="258826" y="276352"/>
                    </a:lnTo>
                    <a:lnTo>
                      <a:pt x="258318" y="452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24652042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MSIPCMContentMarking" descr="{&quot;HashCode&quot;:227230681,&quot;Placement&quot;:&quot;Header&quot;,&quot;Top&quot;:0.0,&quot;Left&quot;:1357.09619,&quot;SlideWidth&quot;:1440,&quot;SlideHeight&quot;:810}">
            <a:extLst>
              <a:ext uri="{FF2B5EF4-FFF2-40B4-BE49-F238E27FC236}">
                <a16:creationId xmlns:a16="http://schemas.microsoft.com/office/drawing/2014/main" id="{8B1B9B5A-B7E0-488C-B75B-FE96B83930C0}"/>
              </a:ext>
            </a:extLst>
          </p:cNvPr>
          <p:cNvSpPr txBox="1"/>
          <p:nvPr userDrawn="1"/>
        </p:nvSpPr>
        <p:spPr>
          <a:xfrm>
            <a:off x="17235122" y="0"/>
            <a:ext cx="1052878" cy="2794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tr-TR" sz="1100">
                <a:solidFill>
                  <a:srgbClr val="0000FF"/>
                </a:solidFill>
                <a:latin typeface="Calibri" panose="020F0502020204030204" pitchFamily="34" charset="0"/>
              </a:rPr>
              <a:t>Hizmete Özel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7" r:id="rId2"/>
    <p:sldLayoutId id="2147483655" r:id="rId3"/>
    <p:sldLayoutId id="2147483659" r:id="rId4"/>
    <p:sldLayoutId id="2147483660" r:id="rId5"/>
    <p:sldLayoutId id="2147483662" r:id="rId6"/>
    <p:sldLayoutId id="2147483656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ADA4E0B6-AB97-45FF-B4FB-1F68A719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Komponent Kontrol Kulesi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5806440"/>
            <a:ext cx="8138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CBBCE6"/>
                </a:solidFill>
                <a:latin typeface="Poppins Semi-Bold"/>
              </a:rPr>
              <a:t>Filo Büyür, Envanter Hazır mı? — Seçenek D · Grup 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9C8AC0"/>
                </a:solidFill>
                <a:latin typeface="Poppins Light"/>
              </a:rPr>
              <a:t>Uçaklar için kule var, komponentler için yok: 5.000 parça için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9C8AC0"/>
                </a:solidFill>
                <a:latin typeface="Poppins Light"/>
              </a:rPr>
              <a:t>görünürlük + öngörü + aksiyon karar katmanı.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85BD0"/>
                </a:solidFill>
                <a:latin typeface="Poppins"/>
              </a:rPr>
              <a:t>1.200 → 2.000 uçak · talep bandı +%63–68 · tüm veriler sentetik/temsili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>
            <a:extLst>
              <a:ext uri="{FF2B5EF4-FFF2-40B4-BE49-F238E27FC236}">
                <a16:creationId xmlns:a16="http://schemas.microsoft.com/office/drawing/2014/main" id="{3FA9B23E-82DE-40C5-B2A6-99C5F792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Problem: Büyüme Değil, Göç — ve Süreç Alarmı Göremiyor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1965960"/>
            <a:ext cx="8229600" cy="786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oppins Semi-Bold"/>
              </a:rPr>
              <a:t>Talep: 90.016 → 146,9–150,8 bin adet/yıl (+%63–68 bandı)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İki bağımsız yöntem, şeffaf varsayımlar; nokta tahmin yok.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oppins Semi-Bold"/>
              </a:rPr>
              <a:t>Yeni nesil payı %34 → %65 — talebin üçte ikisi yer değiştiriyor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Geçmişi olmayan parçalar ana senaryo: cold-start merkez modül.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oppins Semi-Bold"/>
              </a:rPr>
              <a:t>Kategori ayrışması: Oxygen +%40, Electrical Power +%91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Tek çarpanlı plan iki uçta da yanılır; kategori × model × segment şart.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oppins Semi-Bold"/>
              </a:rPr>
              <a:t>Saha: ~9 başkanlık · 4–5 kopuk kayıt sistemi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Bozulan parça için süreç reaktif bir telefon merdiveni; her devirde veri kopuyor.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oppins Semi-Bold"/>
              </a:rPr>
              <a:t>Dürüstlük: THY 130,1 · pool 35,7 adet/uçak-yıl (3,6 kat fark)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Anomaliyi gizlemedik, mentora taşıdık; sistemde oran sabit değil, parametre.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91472" y="2121408"/>
            <a:ext cx="7900415" cy="284378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286000"/>
            <a:ext cx="749807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E85BD0"/>
                </a:solidFill>
                <a:latin typeface="Poppins Bold"/>
              </a:rPr>
              <a:t>72 PN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bugün kırmızıda — stoku toparlanma süresinden önce bitecek — 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açık siparişi YOK. 11'i uçak yerde bırakan (AOG) kritik parça.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91472" y="5276088"/>
            <a:ext cx="7900415" cy="316382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5440680"/>
            <a:ext cx="74980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2B34C"/>
                </a:solidFill>
                <a:latin typeface="Poppins Semi-Bold"/>
              </a:rPr>
              <a:t>Toplam kırmızı: 134 PN · kapatma maliyeti yalnız 0,7 M$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Fazla + ölü stok ~0,4 M$ — “şişkin envanter” miti veriyle çürüdü.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 Semi-Bold"/>
              </a:rPr>
              <a:t>Sorun para değil; azaldığını kimsenin görmemesi.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1.200 uçakta el yordamıyla tutan denge, 2.000 uçakta tutmaz.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>
            <a:off x="94069" y="4411093"/>
            <a:ext cx="2926994" cy="3758605"/>
            <a:chOff x="0" y="-19050"/>
            <a:chExt cx="1083733" cy="13916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629656" y="2919598"/>
            <a:ext cx="15198091" cy="0"/>
          </a:xfrm>
          <a:prstGeom prst="line">
            <a:avLst/>
          </a:prstGeom>
          <a:ln w="1905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1460253" y="2834896"/>
            <a:ext cx="169403" cy="16940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21076" y="4484346"/>
            <a:ext cx="2926994" cy="3707154"/>
            <a:chOff x="0" y="0"/>
            <a:chExt cx="1083733" cy="13725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99871" y="2834896"/>
            <a:ext cx="169403" cy="169403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60694" y="4484346"/>
            <a:ext cx="2926994" cy="3707154"/>
            <a:chOff x="0" y="0"/>
            <a:chExt cx="1083733" cy="137259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39489" y="2835437"/>
            <a:ext cx="169403" cy="169403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00312" y="4484346"/>
            <a:ext cx="2926994" cy="3707154"/>
            <a:chOff x="0" y="0"/>
            <a:chExt cx="1083733" cy="137259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79107" y="2834896"/>
            <a:ext cx="169403" cy="169403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239930" y="4484346"/>
            <a:ext cx="2926994" cy="3707154"/>
            <a:chOff x="0" y="0"/>
            <a:chExt cx="1083733" cy="137259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618726" y="2834896"/>
            <a:ext cx="169403" cy="169403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sp>
        <p:nvSpPr>
          <p:cNvPr id="68" name="Freeform 68"/>
          <p:cNvSpPr/>
          <p:nvPr/>
        </p:nvSpPr>
        <p:spPr>
          <a:xfrm rot="-5400000">
            <a:off x="971380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49" y="0"/>
                </a:lnTo>
                <a:lnTo>
                  <a:pt x="1147149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TextBox 69"/>
          <p:cNvSpPr txBox="1"/>
          <p:nvPr/>
        </p:nvSpPr>
        <p:spPr>
          <a:xfrm>
            <a:off x="454351" y="3608251"/>
            <a:ext cx="218120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BAĞLAN</a:t>
            </a:r>
          </a:p>
        </p:txBody>
      </p:sp>
      <p:sp>
        <p:nvSpPr>
          <p:cNvPr id="70" name="Freeform 70"/>
          <p:cNvSpPr/>
          <p:nvPr/>
        </p:nvSpPr>
        <p:spPr>
          <a:xfrm rot="-5400000">
            <a:off x="4010998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49" y="0"/>
                </a:lnTo>
                <a:lnTo>
                  <a:pt x="1147149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1" name="TextBox 71"/>
          <p:cNvSpPr txBox="1"/>
          <p:nvPr/>
        </p:nvSpPr>
        <p:spPr>
          <a:xfrm>
            <a:off x="3546082" y="3608251"/>
            <a:ext cx="2076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BİRLEŞTİR</a:t>
            </a:r>
          </a:p>
        </p:txBody>
      </p:sp>
      <p:sp>
        <p:nvSpPr>
          <p:cNvPr id="72" name="Freeform 72"/>
          <p:cNvSpPr/>
          <p:nvPr/>
        </p:nvSpPr>
        <p:spPr>
          <a:xfrm rot="-5400000">
            <a:off x="7050616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50" y="0"/>
                </a:lnTo>
                <a:lnTo>
                  <a:pt x="1147150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3" name="TextBox 73"/>
          <p:cNvSpPr txBox="1"/>
          <p:nvPr/>
        </p:nvSpPr>
        <p:spPr>
          <a:xfrm>
            <a:off x="6683144" y="3608251"/>
            <a:ext cx="1823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ÖNGÖR</a:t>
            </a:r>
          </a:p>
        </p:txBody>
      </p:sp>
      <p:sp>
        <p:nvSpPr>
          <p:cNvPr id="74" name="Freeform 74"/>
          <p:cNvSpPr/>
          <p:nvPr/>
        </p:nvSpPr>
        <p:spPr>
          <a:xfrm rot="-5400000">
            <a:off x="10090234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50" y="0"/>
                </a:lnTo>
                <a:lnTo>
                  <a:pt x="1147150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5" name="TextBox 75"/>
          <p:cNvSpPr txBox="1"/>
          <p:nvPr/>
        </p:nvSpPr>
        <p:spPr>
          <a:xfrm>
            <a:off x="9647101" y="3608251"/>
            <a:ext cx="203341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UYAR</a:t>
            </a:r>
          </a:p>
        </p:txBody>
      </p:sp>
      <p:sp>
        <p:nvSpPr>
          <p:cNvPr id="76" name="Freeform 76"/>
          <p:cNvSpPr/>
          <p:nvPr/>
        </p:nvSpPr>
        <p:spPr>
          <a:xfrm rot="-5400000">
            <a:off x="13129853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49" y="0"/>
                </a:lnTo>
                <a:lnTo>
                  <a:pt x="1147149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7" name="TextBox 77"/>
          <p:cNvSpPr txBox="1"/>
          <p:nvPr/>
        </p:nvSpPr>
        <p:spPr>
          <a:xfrm>
            <a:off x="12792033" y="3608251"/>
            <a:ext cx="1823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HAREKETE GEÇ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15279548" y="4484346"/>
            <a:ext cx="2926994" cy="3707154"/>
            <a:chOff x="0" y="0"/>
            <a:chExt cx="1083733" cy="1372591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83733" cy="1372591"/>
            </a:xfrm>
            <a:custGeom>
              <a:avLst/>
              <a:gdLst/>
              <a:ahLst/>
              <a:cxnLst/>
              <a:rect l="l" t="t" r="r" b="b"/>
              <a:pathLst>
                <a:path w="1083733" h="1372591">
                  <a:moveTo>
                    <a:pt x="76705" y="0"/>
                  </a:moveTo>
                  <a:lnTo>
                    <a:pt x="1007028" y="0"/>
                  </a:lnTo>
                  <a:cubicBezTo>
                    <a:pt x="1027372" y="0"/>
                    <a:pt x="1046882" y="8081"/>
                    <a:pt x="1061267" y="22466"/>
                  </a:cubicBezTo>
                  <a:cubicBezTo>
                    <a:pt x="1075652" y="36851"/>
                    <a:pt x="1083733" y="56362"/>
                    <a:pt x="1083733" y="76705"/>
                  </a:cubicBezTo>
                  <a:lnTo>
                    <a:pt x="1083733" y="1295886"/>
                  </a:lnTo>
                  <a:cubicBezTo>
                    <a:pt x="1083733" y="1338249"/>
                    <a:pt x="1049391" y="1372591"/>
                    <a:pt x="1007028" y="1372591"/>
                  </a:cubicBezTo>
                  <a:lnTo>
                    <a:pt x="76705" y="1372591"/>
                  </a:lnTo>
                  <a:cubicBezTo>
                    <a:pt x="34342" y="1372591"/>
                    <a:pt x="0" y="1338249"/>
                    <a:pt x="0" y="1295886"/>
                  </a:cubicBezTo>
                  <a:lnTo>
                    <a:pt x="0" y="76705"/>
                  </a:lnTo>
                  <a:cubicBezTo>
                    <a:pt x="0" y="34342"/>
                    <a:pt x="34342" y="0"/>
                    <a:pt x="76705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1083733" cy="1391641"/>
            </a:xfrm>
            <a:prstGeom prst="rect">
              <a:avLst/>
            </a:prstGeom>
          </p:spPr>
          <p:txBody>
            <a:bodyPr lIns="36136" tIns="36136" rIns="36136" bIns="36136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sp>
        <p:nvSpPr>
          <p:cNvPr id="83" name="Freeform 83"/>
          <p:cNvSpPr/>
          <p:nvPr/>
        </p:nvSpPr>
        <p:spPr>
          <a:xfrm rot="-5400000">
            <a:off x="16169471" y="2583665"/>
            <a:ext cx="1147149" cy="2294298"/>
          </a:xfrm>
          <a:custGeom>
            <a:avLst/>
            <a:gdLst/>
            <a:ahLst/>
            <a:cxnLst/>
            <a:rect l="l" t="t" r="r" b="b"/>
            <a:pathLst>
              <a:path w="1147149" h="2294298">
                <a:moveTo>
                  <a:pt x="0" y="0"/>
                </a:moveTo>
                <a:lnTo>
                  <a:pt x="1147149" y="0"/>
                </a:lnTo>
                <a:lnTo>
                  <a:pt x="1147149" y="2294299"/>
                </a:lnTo>
                <a:lnTo>
                  <a:pt x="0" y="22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4" name="TextBox 84"/>
          <p:cNvSpPr txBox="1"/>
          <p:nvPr/>
        </p:nvSpPr>
        <p:spPr>
          <a:xfrm>
            <a:off x="15831651" y="3608251"/>
            <a:ext cx="1823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PROVA ET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6658344" y="2834896"/>
            <a:ext cx="169403" cy="169403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Poppins Bold" panose="00000800000000000000" charset="0"/>
                <a:cs typeface="Poppins Bold" panose="00000800000000000000" charset="0"/>
              </a:endParaRP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07715" y="4868293"/>
            <a:ext cx="2874480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CDC ile salt-okunur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AMOS/TRAX değişmez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geri yazma yok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sıfır entegrasyon riski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064764" y="4868293"/>
            <a:ext cx="3039618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olay omurgası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tek komponent kaydı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gerçek TAT olaydan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PN + durum + konum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191060" y="4868293"/>
            <a:ext cx="2808034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ABC×XYZ segmentleri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Croston/SBA + AI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cold-start (Bayes)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mevsim katsayısı ×1,20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357424" y="4868293"/>
            <a:ext cx="2808034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kriz senaryoları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Monte Carlo + duyarlılık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bütçe optimizasyonu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çeyreklik war-game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358890" y="4868293"/>
            <a:ext cx="2808034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aksiyon merdiveni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BER · pool · phase-out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süre + maliyet puanı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AOG $/saat kıyası</a:t>
            </a:r>
          </a:p>
          <a:p>
            <a:pPr algn="ctr">
              <a:lnSpc>
                <a:spcPts val="2520"/>
              </a:lnSpc>
            </a:pPr>
            <a:endParaRPr lang="en-US" sz="1800" b="1" dirty="0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249487" y="4868293"/>
            <a:ext cx="2808034" cy="286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TTS&lt;TTR alarmı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dinamik min–max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emniyet stoğu (Poisson)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siparişsiz kırmızı: 0</a:t>
            </a:r>
          </a:p>
          <a:p>
            <a:pPr algn="ctr">
              <a:lnSpc>
                <a:spcPts val="2520"/>
              </a:lnSpc>
            </a:pPr>
            <a:endParaRPr lang="en-US" sz="1800" b="1">
              <a:solidFill>
                <a:srgbClr val="FFFFFF"/>
              </a:solidFill>
              <a:latin typeface="Poppins Bold" panose="00000800000000000000" charset="0"/>
              <a:ea typeface="Garet Bold"/>
              <a:cs typeface="Poppins Bold" panose="00000800000000000000" charset="0"/>
              <a:sym typeface="Gare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/>
            </a: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0EE0F353-4BFF-4B56-B331-A8DB49F4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0" y="456595"/>
            <a:ext cx="11756130" cy="1143000"/>
          </a:xfrm>
        </p:spPr>
        <p:txBody>
          <a:bodyPr>
            <a:normAutofit/>
          </a:bodyPr>
          <a:lstStyle/>
          <a:p>
            <a:r>
              <a:rPr lang="tr-TR" dirty="0"/>
              <a:t>Çözüm: Kontrol Kulesi — Uçtan Uca Karar Katmanı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>
            <a:off x="1604065" y="1943100"/>
            <a:ext cx="4859128" cy="3619359"/>
            <a:chOff x="0" y="0"/>
            <a:chExt cx="1266362" cy="9432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04065" y="5829159"/>
            <a:ext cx="4859128" cy="3619359"/>
            <a:chOff x="0" y="0"/>
            <a:chExt cx="1266362" cy="94325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32305" y="1943100"/>
            <a:ext cx="4859128" cy="3619359"/>
            <a:chOff x="0" y="0"/>
            <a:chExt cx="1266362" cy="94325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32305" y="5829159"/>
            <a:ext cx="4859128" cy="3619359"/>
            <a:chOff x="0" y="0"/>
            <a:chExt cx="1266362" cy="9432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502287" y="6178631"/>
            <a:ext cx="3637491" cy="29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92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/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30527" y="5952984"/>
            <a:ext cx="3637491" cy="56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92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/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98965" y="6651874"/>
            <a:ext cx="4240813" cy="296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78">
                <a:solidFill>
                  <a:srgbClr val="FFFFFF"/>
                </a:solidFill>
                <a:latin typeface="Poppins Thin"/>
                <a:ea typeface="Poppins Thin"/>
                <a:cs typeface="Poppins Thin"/>
                <a:sym typeface="Poppins Thin"/>
              </a:rPr>
              <a:t/>
            </a:r>
          </a:p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endParaRPr lang="en-US" sz="1700" spc="78">
              <a:solidFill>
                <a:srgbClr val="FFFFFF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929418" y="6901110"/>
            <a:ext cx="4403764" cy="149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spc="78">
                <a:solidFill>
                  <a:srgbClr val="FFFFFF"/>
                </a:solidFill>
                <a:latin typeface="Poppins Thin"/>
                <a:ea typeface="Poppins Thin"/>
                <a:cs typeface="Poppins Thin"/>
                <a:sym typeface="Poppins Thin"/>
              </a:rPr>
              <a:t/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04065" y="5829159"/>
            <a:ext cx="4859128" cy="3619359"/>
            <a:chOff x="0" y="0"/>
            <a:chExt cx="1266362" cy="94325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632305" y="5829159"/>
            <a:ext cx="4859128" cy="3619359"/>
            <a:chOff x="0" y="0"/>
            <a:chExt cx="1266362" cy="94325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96644" y="2294224"/>
            <a:ext cx="4240813" cy="2848046"/>
            <a:chOff x="0" y="0"/>
            <a:chExt cx="5654417" cy="3797395"/>
          </a:xfrm>
        </p:grpSpPr>
        <p:sp>
          <p:nvSpPr>
            <p:cNvPr id="51" name="TextBox 51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Kokpit</a:t>
              </a:r>
              <a:r>
                <a:rPr lang="en-US" sz="1926" b="1" dirty="0" err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/>
              </a:r>
              <a:endParaRPr lang="en-US" sz="192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132,9 M$ sermaye fotoğrafı; üç para musluğu; 72 siparişsiz kırmızı vurgusu; mimari şeması + faz yol haritası.</a:t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  <a:r>
                <a:rPr lang="en-US" sz="1700" spc="78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/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824808" y="1943100"/>
            <a:ext cx="4859128" cy="3619359"/>
            <a:chOff x="0" y="0"/>
            <a:chExt cx="1266362" cy="94325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824808" y="5829159"/>
            <a:ext cx="4859128" cy="3619359"/>
            <a:chOff x="0" y="0"/>
            <a:chExt cx="1266362" cy="94325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66362" cy="943259"/>
            </a:xfrm>
            <a:custGeom>
              <a:avLst/>
              <a:gdLst/>
              <a:ahLst/>
              <a:cxnLst/>
              <a:rect l="l" t="t" r="r" b="b"/>
              <a:pathLst>
                <a:path w="1266362" h="943259">
                  <a:moveTo>
                    <a:pt x="31865" y="0"/>
                  </a:moveTo>
                  <a:lnTo>
                    <a:pt x="1234496" y="0"/>
                  </a:lnTo>
                  <a:cubicBezTo>
                    <a:pt x="1252095" y="0"/>
                    <a:pt x="1266362" y="14267"/>
                    <a:pt x="1266362" y="31865"/>
                  </a:cubicBezTo>
                  <a:lnTo>
                    <a:pt x="1266362" y="911394"/>
                  </a:lnTo>
                  <a:cubicBezTo>
                    <a:pt x="1266362" y="928993"/>
                    <a:pt x="1252095" y="943259"/>
                    <a:pt x="1234496" y="943259"/>
                  </a:cubicBezTo>
                  <a:lnTo>
                    <a:pt x="31865" y="943259"/>
                  </a:lnTo>
                  <a:cubicBezTo>
                    <a:pt x="23414" y="943259"/>
                    <a:pt x="15309" y="939902"/>
                    <a:pt x="9333" y="933926"/>
                  </a:cubicBezTo>
                  <a:cubicBezTo>
                    <a:pt x="3357" y="927950"/>
                    <a:pt x="0" y="919845"/>
                    <a:pt x="0" y="911394"/>
                  </a:cubicBezTo>
                  <a:lnTo>
                    <a:pt x="0" y="31865"/>
                  </a:lnTo>
                  <a:cubicBezTo>
                    <a:pt x="0" y="14267"/>
                    <a:pt x="14267" y="0"/>
                    <a:pt x="31865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266362" cy="981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050020" y="2294224"/>
            <a:ext cx="4240813" cy="2848046"/>
            <a:chOff x="0" y="0"/>
            <a:chExt cx="5654417" cy="3797395"/>
          </a:xfrm>
        </p:grpSpPr>
        <p:sp>
          <p:nvSpPr>
            <p:cNvPr id="60" name="TextBox 60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Watchlist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5.000 PN risk skoru sıralı; 8 filtre; PN detayında aksiyon merdiveni (süre+maliyet) ve canlı stok-out eğrisi.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203397" y="2294224"/>
            <a:ext cx="4240813" cy="2848046"/>
            <a:chOff x="0" y="0"/>
            <a:chExt cx="5654417" cy="3797395"/>
          </a:xfrm>
        </p:grpSpPr>
        <p:sp>
          <p:nvSpPr>
            <p:cNvPr id="63" name="TextBox 63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Öngörü &amp; AI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Bant projeksiyonu; tahmin gezgini; hata analizi; cold-start canlı Bayes demosu; hurda anomali dedektörü (159 PN).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870217" y="6178631"/>
            <a:ext cx="4240813" cy="2848046"/>
            <a:chOff x="0" y="0"/>
            <a:chExt cx="5654417" cy="3797395"/>
          </a:xfrm>
        </p:grpSpPr>
        <p:sp>
          <p:nvSpPr>
            <p:cNvPr id="66" name="TextBox 66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Harita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16 yurt içi havalimanı (gerçek kontur) + İstanbul merkezli küresel ağ (9 hub); kriz katmanı; tamir akış okları.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023594" y="6178631"/>
            <a:ext cx="4240813" cy="2848046"/>
            <a:chOff x="0" y="0"/>
            <a:chExt cx="5654417" cy="3797395"/>
          </a:xfrm>
        </p:grpSpPr>
        <p:sp>
          <p:nvSpPr>
            <p:cNvPr id="69" name="TextBox 69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Senaryo &amp; Jüri Modu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Kriz kütüphanesi tek tıkla 5.000 PN yeniden hesaplar; kritiklik ağırlığı/BER/tampon kaydırıcıları canlı.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176970" y="6178631"/>
            <a:ext cx="4240813" cy="2848046"/>
            <a:chOff x="0" y="0"/>
            <a:chExt cx="5654417" cy="3797395"/>
          </a:xfrm>
        </p:grpSpPr>
        <p:sp>
          <p:nvSpPr>
            <p:cNvPr id="72" name="TextBox 72"/>
            <p:cNvSpPr txBox="1"/>
            <p:nvPr/>
          </p:nvSpPr>
          <p:spPr>
            <a:xfrm>
              <a:off x="3278" y="0"/>
              <a:ext cx="5647862" cy="38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5"/>
                </a:lnSpc>
              </a:pPr>
              <a:r>
                <a:rPr lang="en-US" sz="19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Doğrulanmış Çekirdek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648218"/>
              <a:ext cx="5654417" cy="3149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Float %97 (8.012 tahmin, 7.800 saha) · skor birincisi sahada kırmızı · backtest %0,4 · Monte Carlo uyumu %99,5 · 26 grafik · internetsiz.</a:t>
              </a:r>
            </a:p>
          </p:txBody>
        </p:sp>
      </p:grpSp>
      <p:sp>
        <p:nvSpPr>
          <p:cNvPr id="75" name="Title 74">
            <a:extLst>
              <a:ext uri="{FF2B5EF4-FFF2-40B4-BE49-F238E27FC236}">
                <a16:creationId xmlns:a16="http://schemas.microsoft.com/office/drawing/2014/main" id="{D6D58E3C-84C0-46E8-9CC0-9F447F34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Prototip: Tek Dosyalık Canlı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E7718AC1-ADD5-4499-8129-F3636A52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Yapay Zekâ: Hibrit ve Dürüst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011680"/>
            <a:ext cx="8412480" cy="768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E85BD0"/>
                </a:solidFill>
                <a:latin typeface="Poppins Bold"/>
              </a:rPr>
              <a:t>λ = istatistiksel taban × e^(ağ düzeltmesi)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MLP 128-64-32 · 54 özellik · 10.000 örnek · Poisson kaybı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3 tohumlu topluluk; en iyi epoch geri yüklenir; deterministik.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Poppins Semi-Bold"/>
              </a:rPr>
              <a:t>Parça düzeyinde talep kesikli: medyan 11 adet/yıl, %14,6 sıfır çeyrek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→ tekil parçada Croston/SBA + Poisson emniyet stoğu; ağ bugün öneri modunda.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Poppins Semi-Bold"/>
              </a:rPr>
              <a:t>Cold-start ana senaryo (talebin ~%65’i geçmişsiz parçaya kayıyor)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→ öncül analog gruptan + üretici MTBUR; gözlemle Bayes güncellemesi.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2121408"/>
            <a:ext cx="7900415" cy="2660903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286000"/>
            <a:ext cx="7498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E85BD0"/>
                </a:solidFill>
                <a:latin typeface="Poppins Bold"/>
              </a:rPr>
              <a:t>%16,3 → %0,4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Geriye dönük test: Q3 toplamı yalnız Q1–Q2 ile tahmin edildi;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mevsim katsayısı (×1,20) toplam hatayı binde dörde indirdi.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5093208"/>
            <a:ext cx="7900415" cy="307238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2578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2B34C"/>
                </a:solidFill>
                <a:latin typeface="Poppins Semi-Bold"/>
              </a:rPr>
              <a:t>Dört bağımsız doğrulama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float %97 (8.012 tahmin, 7.800 saha) · risk skoru 1.si fiilen kırmızı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BCE6"/>
                </a:solidFill>
                <a:latin typeface="Poppins Light"/>
              </a:rPr>
              <a:t>backtest %0,4 · Monte Carlo (800 deneme) kapalı formla %99,5 uyum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 Semi-Bold"/>
              </a:rPr>
              <a:t>Slider, senaryo ve optimizasyon aynı doğrulanmış çekirdekte koşar.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1">
            <a:extLst>
              <a:ext uri="{FF2B5EF4-FFF2-40B4-BE49-F238E27FC236}">
                <a16:creationId xmlns:a16="http://schemas.microsoft.com/office/drawing/2014/main" id="{2ED4C533-4AB7-3A49-D674-7EF861C21E70}"/>
              </a:ext>
            </a:extLst>
          </p:cNvPr>
          <p:cNvSpPr txBox="1">
            <a:spLocks/>
          </p:cNvSpPr>
          <p:nvPr/>
        </p:nvSpPr>
        <p:spPr>
          <a:xfrm>
            <a:off x="483800" y="456595"/>
            <a:ext cx="93445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0"/>
              </a:spcBef>
              <a:buNone/>
              <a:defRPr sz="4400" b="1">
                <a:solidFill>
                  <a:schemeClr val="bg1"/>
                </a:solidFill>
                <a:latin typeface="Poppins Bold" panose="00000800000000000000" charset="0"/>
                <a:ea typeface="+mj-ea"/>
                <a:cs typeface="Poppins Bold" panose="00000800000000000000" charset="0"/>
              </a:defRPr>
            </a:lvl1pPr>
          </a:lstStyle>
          <a:p>
            <a:r>
              <a:rPr lang="tr-TR" dirty="0"/>
              <a:t>Önceliklendirme · Kriz Dayanıklılığı · Başarı Ölçütleri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938527"/>
            <a:ext cx="5797296" cy="727862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9496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85BD0"/>
                </a:solidFill>
                <a:latin typeface="Poppins Bold"/>
              </a:rPr>
              <a:t>ÖNCE NE? (kısıtlı bütçe)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Üç musluk: 67,8 M$/yıl hurda · 23,3→39,0 M$ döngü · 52,0 M$ phase-out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Sınır eğrisi: her alım $ başına risk azaltımıyla sıralı — ilk milyonlar en dik.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oppins Semi-Bold"/>
              </a:rPr>
              <a:t>Kabiliyet yatırımı (547 PN): 12,1 M$/yıl + 4,0 M$ serbesti.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Duyarlılık: en büyük kaldıraç TAT (±%20 → 23,2–44,8 M$).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Faz 1 salt-okunur: ilk gün 72 yakalanır; kapılar metrikle.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Gayrifaal kuyruğu: 8,5 M$ tamirle 13,9 M$ değer (BER ayıklanarak).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Hurda anomalisi: 159 PN kalite/karar incelemesine.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938527"/>
            <a:ext cx="5797296" cy="727862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03120"/>
            <a:ext cx="539496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85BD0"/>
                </a:solidFill>
                <a:latin typeface="Poppins Bold"/>
              </a:rPr>
              <a:t>KRİZ = PARAMETRE ŞOKU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TTS kısalır ya da TTR uzar; stres testi motorun üstünde bir düğme.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oppins Semi-Bold"/>
              </a:rPr>
              <a:t>Motor ailesi krizi (canlı): kırmızı 134 → 477 PN.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Monte Carlo aynı senaryoda: 796 PN · 39,4 M$ ek ihtiyaç.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Kütüphane: pandemi · OEM gecikmesi · lojistik · kur şoku.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Playbook önceden yazılır; çeyreklik war-game ile prova edilir.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Kıtlık sensörü: FMV/CLP oranı (medyan 0,43) kalıcı yükselirse erken uyarı.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Dayanıklılık göstergeleri kokpitte: TTS dağılımı + kırmızı sayacı.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26111" y="1938527"/>
            <a:ext cx="5522976" cy="7278624"/>
          </a:xfrm>
          <a:prstGeom prst="roundRect">
            <a:avLst>
              <a:gd name="adj" fmla="val 5500"/>
            </a:avLst>
          </a:prstGeom>
          <a:solidFill>
            <a:srgbClr val="432663"/>
          </a:solidFill>
          <a:ln w="12700">
            <a:solidFill>
              <a:srgbClr val="6C4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0" y="2103120"/>
            <a:ext cx="512064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85BD0"/>
                </a:solidFill>
                <a:latin typeface="Poppins Bold"/>
              </a:rPr>
              <a:t>NASIL ÖLÇERİZ?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oppins Semi-Bold"/>
              </a:rPr>
              <a:t>AOG'da bekleyen uçak oranı ↓ — ana metrik (her saat gelir kaybı).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Siparişsiz kırmızı: 72 → 0 (alarm-aksiyon bağı zorunlu).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Kritik parça karşılama ≥ %97–98 · erken yakalama oranı ↑.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MAPE + öneri kabulü: faz kapıları bu eşiklerle açılır.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Bağlı sermaye guard-rail: servis, sermaye şişirerek değil TAT kısaltarak.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Expedite maliyeti ↓: erken yakalanan alarm ucuz kanaldan çözülür.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BBCE6"/>
                </a:solidFill>
                <a:latin typeface="Poppins Light"/>
              </a:rPr>
              <a:t>Hurda oranı %11,1 izlenir; BER kuralı 67,8 M$/yıl musluğun vanası.</a:t>
            </a:r>
          </a:p>
        </p:txBody>
      </p:sp>
    </p:spTree>
    <p:extLst>
      <p:ext uri="{BB962C8B-B14F-4D97-AF65-F5344CB8AC3E}">
        <p14:creationId xmlns:p14="http://schemas.microsoft.com/office/powerpoint/2010/main" val="1251616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554480"/>
            <a:ext cx="1609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Poppins Semi-Bold"/>
              </a:rPr>
              <a:t>“2033’e daha büyük bir depoyla değil; her parçanın görünür, her kararın kurallı,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Poppins Semi-Bold"/>
              </a:rPr>
              <a:t>her planın parametrik ve her krizin önceden prova edilmiş olduğu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Poppins Semi-Bold"/>
              </a:rPr>
              <a:t>bir işletim modeliyle gidilir.”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E85BD0"/>
                </a:solidFill>
                <a:latin typeface="Poppins Bold"/>
              </a:rPr>
              <a:t>Kontrol Kulesi, bu modelin yazılım hâlidir.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732520"/>
            <a:ext cx="1609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BBCE6"/>
                </a:solidFill>
                <a:latin typeface="Poppins Light"/>
              </a:rPr>
              <a:t>Canlı demo ve tüm sayıların yeniden üretimi için hazırız  ·  Grup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CE1E3FE0C01D54A87C70E2BF977E270" ma:contentTypeVersion="7" ma:contentTypeDescription="Yeni belge oluşturun." ma:contentTypeScope="" ma:versionID="29a5349e0f798aae68fe3c4020c37b51">
  <xsd:schema xmlns:xsd="http://www.w3.org/2001/XMLSchema" xmlns:xs="http://www.w3.org/2001/XMLSchema" xmlns:p="http://schemas.microsoft.com/office/2006/metadata/properties" xmlns:ns2="96915b1a-16ed-49c5-840b-d635c360daf3" targetNamespace="http://schemas.microsoft.com/office/2006/metadata/properties" ma:root="true" ma:fieldsID="3135bb095a10b3c87f1ffdea0eb2a1bf" ns2:_="">
    <xsd:import namespace="96915b1a-16ed-49c5-840b-d635c360da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915b1a-16ed-49c5-840b-d635c360da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AC10EA-245A-415B-918F-539DB0265E82}"/>
</file>

<file path=customXml/itemProps2.xml><?xml version="1.0" encoding="utf-8"?>
<ds:datastoreItem xmlns:ds="http://schemas.openxmlformats.org/officeDocument/2006/customXml" ds:itemID="{EAAF031C-E53C-4C2E-8CD5-7D8A48378DBB}">
  <ds:schemaRefs>
    <ds:schemaRef ds:uri="http://schemas.microsoft.com/office/2006/metadata/properties"/>
    <ds:schemaRef ds:uri="http://schemas.microsoft.com/office/infopath/2007/PartnerControls"/>
    <ds:schemaRef ds:uri="f283dca3-71b7-4198-b50d-6ed96f6ac6c9"/>
    <ds:schemaRef ds:uri="ee289c5a-4b87-45fa-b5f5-c39abd7e0d6e"/>
  </ds:schemaRefs>
</ds:datastoreItem>
</file>

<file path=customXml/itemProps3.xml><?xml version="1.0" encoding="utf-8"?>
<ds:datastoreItem xmlns:ds="http://schemas.openxmlformats.org/officeDocument/2006/customXml" ds:itemID="{97C8B4AE-54BB-4FA3-9025-4AC34513C7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11597</TotalTime>
  <Words>432</Words>
  <Application>Microsoft Office PowerPoint</Application>
  <PresentationFormat>Özel</PresentationFormat>
  <Paragraphs>81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4" baseType="lpstr">
      <vt:lpstr>Calibri</vt:lpstr>
      <vt:lpstr>Poppins Bold</vt:lpstr>
      <vt:lpstr>Poppins Thin</vt:lpstr>
      <vt:lpstr>Poppins</vt:lpstr>
      <vt:lpstr>Poppins Semi-Bold</vt:lpstr>
      <vt:lpstr>Arial</vt:lpstr>
      <vt:lpstr>Office Theme</vt:lpstr>
      <vt:lpstr>PowerPoint Sunusu</vt:lpstr>
      <vt:lpstr>BAŞLIK</vt:lpstr>
      <vt:lpstr>BAŞLIK</vt:lpstr>
      <vt:lpstr>Başlık</vt:lpstr>
      <vt:lpstr>BAŞLIK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Oryantasyon Sunum Şablonu</dc:title>
  <dc:creator>ELIF GUNAY - Insan Kaynaklari Mukemmeliyet Merkezi Mudurlugu</dc:creator>
  <cp:lastModifiedBy>Elif Günay</cp:lastModifiedBy>
  <cp:revision>14</cp:revision>
  <dcterms:created xsi:type="dcterms:W3CDTF">2006-08-16T00:00:00Z</dcterms:created>
  <dcterms:modified xsi:type="dcterms:W3CDTF">2026-04-22T09:22:01Z</dcterms:modified>
  <dc:identifier>DAG7TE8X8lM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fd3599-0f4f-4f44-ad97-dd2909d383ab_Enabled">
    <vt:lpwstr>true</vt:lpwstr>
  </property>
  <property fmtid="{D5CDD505-2E9C-101B-9397-08002B2CF9AE}" pid="3" name="MSIP_Label_5afd3599-0f4f-4f44-ad97-dd2909d383ab_SetDate">
    <vt:lpwstr>2026-01-06T10:54:10Z</vt:lpwstr>
  </property>
  <property fmtid="{D5CDD505-2E9C-101B-9397-08002B2CF9AE}" pid="4" name="MSIP_Label_5afd3599-0f4f-4f44-ad97-dd2909d383ab_Method">
    <vt:lpwstr>Privileged</vt:lpwstr>
  </property>
  <property fmtid="{D5CDD505-2E9C-101B-9397-08002B2CF9AE}" pid="5" name="MSIP_Label_5afd3599-0f4f-4f44-ad97-dd2909d383ab_Name">
    <vt:lpwstr>Personal</vt:lpwstr>
  </property>
  <property fmtid="{D5CDD505-2E9C-101B-9397-08002B2CF9AE}" pid="6" name="MSIP_Label_5afd3599-0f4f-4f44-ad97-dd2909d383ab_SiteId">
    <vt:lpwstr>745a1b8b-9958-4d1e-ac1c-f741f0ff4eba</vt:lpwstr>
  </property>
  <property fmtid="{D5CDD505-2E9C-101B-9397-08002B2CF9AE}" pid="7" name="MSIP_Label_5afd3599-0f4f-4f44-ad97-dd2909d383ab_ActionId">
    <vt:lpwstr>b7861972-e192-446b-bcad-1cdfbe82ddbd</vt:lpwstr>
  </property>
  <property fmtid="{D5CDD505-2E9C-101B-9397-08002B2CF9AE}" pid="8" name="MSIP_Label_5afd3599-0f4f-4f44-ad97-dd2909d383ab_ContentBits">
    <vt:lpwstr>1</vt:lpwstr>
  </property>
  <property fmtid="{D5CDD505-2E9C-101B-9397-08002B2CF9AE}" pid="9" name="ContentTypeId">
    <vt:lpwstr>0x0101002CE1E3FE0C01D54A87C70E2BF977E270</vt:lpwstr>
  </property>
</Properties>
</file>