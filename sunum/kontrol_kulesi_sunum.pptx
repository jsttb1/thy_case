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9AA8C0"/>
                </a:solidFill>
                <a:latin typeface="Arial"/>
              </a:defRPr>
            </a:pPr>
            <a:r>
              <a:rPr sz="1100" b="0" i="0" u="none" strike="noStrike">
                <a:solidFill>
                  <a:srgbClr val="9AA8C0"/>
                </a:solidFill>
                <a:latin typeface="Arial"/>
              </a:rPr>
              <a:t>Yıllık komponent talebi (adet) — kompozisyon göçü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Yeni nesil (5 model)</c:v>
                </c:pt>
              </c:strCache>
            </c:strRef>
          </c:tx>
          <c:spPr>
            <a:solidFill>
              <a:srgbClr val="4FC1B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</c:v>
                  </c:pt>
                  <c:pt idx="1">
                    <c:v>2033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30357</c:v>
                </c:pt>
                <c:pt idx="1">
                  <c:v>97741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Diğer</c:v>
                </c:pt>
              </c:strCache>
            </c:strRef>
          </c:tx>
          <c:spPr>
            <a:solidFill>
              <a:srgbClr val="5B8F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</c:v>
                  </c:pt>
                  <c:pt idx="1">
                    <c:v>2033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21098</c:v>
                </c:pt>
                <c:pt idx="1">
                  <c:v>29160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Küçülen 4 klasik</c:v>
                </c:pt>
              </c:strCache>
            </c:strRef>
          </c:tx>
          <c:spPr>
            <a:solidFill>
              <a:srgbClr val="77869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</c:v>
                  </c:pt>
                  <c:pt idx="1">
                    <c:v>2033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38561</c:v>
                </c:pt>
                <c:pt idx="1">
                  <c:v>23872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AA8C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26345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7869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9AA8C0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9AA8C0"/>
                </a:solidFill>
                <a:latin typeface="Arial"/>
              </a:defRPr>
            </a:pPr>
            <a:r>
              <a:rPr sz="1100" b="0" i="0" u="none" strike="noStrike">
                <a:solidFill>
                  <a:srgbClr val="9AA8C0"/>
                </a:solidFill>
                <a:latin typeface="Arial"/>
              </a:rPr>
              <a:t>Geriye dönük test: Q3'ü yalnız Q1–Q2 ile tahmin et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Toplam düzeyde hata (%)</c:v>
                </c:pt>
              </c:strCache>
            </c:strRef>
          </c:tx>
          <c:spPr>
            <a:solidFill>
              <a:srgbClr val="77869C">
                <a:alpha val="100000"/>
              </a:srgbClr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EAF0F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77869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7869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7869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FC1B0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Naive (Q2)</c:v>
                  </c:pt>
                  <c:pt idx="1">
                    <c:v>2Ç ortalaması</c:v>
                  </c:pt>
                  <c:pt idx="2">
                    <c:v>SBA</c:v>
                  </c:pt>
                  <c:pt idx="3">
                    <c:v>SBA × mevsim kats.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13.3</c:v>
                </c:pt>
                <c:pt idx="1">
                  <c:v>17.1</c:v>
                </c:pt>
                <c:pt idx="2">
                  <c:v>16.3</c:v>
                </c:pt>
                <c:pt idx="3">
                  <c:v>0.4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EAF0F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9AA8C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263450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7869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9AA8C0"/>
                </a:solidFill>
                <a:latin typeface="Arial"/>
              </a:defRPr>
            </a:pPr>
            <a:r>
              <a:rPr sz="1100" b="0" i="0" u="none" strike="noStrike">
                <a:solidFill>
                  <a:srgbClr val="9AA8C0"/>
                </a:solidFill>
                <a:latin typeface="Arial"/>
              </a:rPr>
              <a:t>Bütçe (M$) → önerilen MIN'e kapanan PN sayısı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Kapanan açık PN</c:v>
                </c:pt>
              </c:strCache>
            </c:strRef>
          </c:tx>
          <c:spPr>
            <a:solidFill>
              <a:srgbClr val="4FC1B0"/>
            </a:solidFill>
            <a:ln w="31750" cap="flat">
              <a:solidFill>
                <a:srgbClr val="4FC1B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4FC1B0"/>
              </a:solidFill>
              <a:ln w="9525" cap="flat">
                <a:solidFill>
                  <a:srgbClr val="4FC1B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0</c:v>
                  </c:pt>
                  <c:pt idx="1">
                    <c:v>0</c:v>
                  </c:pt>
                  <c:pt idx="2">
                    <c:v>1</c:v>
                  </c:pt>
                  <c:pt idx="3">
                    <c:v>2</c:v>
                  </c:pt>
                  <c:pt idx="4">
                    <c:v>3</c:v>
                  </c:pt>
                  <c:pt idx="5">
                    <c:v>5</c:v>
                  </c:pt>
                  <c:pt idx="6">
                    <c:v>7</c:v>
                  </c:pt>
                  <c:pt idx="7">
                    <c:v>10</c:v>
                  </c:pt>
                  <c:pt idx="8">
                    <c:v>14</c:v>
                  </c:pt>
                  <c:pt idx="9">
                    <c:v>17</c:v>
                  </c:pt>
                  <c:pt idx="10">
                    <c:v>23</c:v>
                  </c:pt>
                  <c:pt idx="11">
                    <c:v>29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9</c:v>
                </c:pt>
                <c:pt idx="3">
                  <c:v>46</c:v>
                </c:pt>
                <c:pt idx="4">
                  <c:v>105</c:v>
                </c:pt>
                <c:pt idx="5">
                  <c:v>190</c:v>
                </c:pt>
                <c:pt idx="6">
                  <c:v>301</c:v>
                </c:pt>
                <c:pt idx="7">
                  <c:v>432</c:v>
                </c:pt>
                <c:pt idx="8">
                  <c:v>600</c:v>
                </c:pt>
                <c:pt idx="9">
                  <c:v>840</c:v>
                </c:pt>
                <c:pt idx="10">
                  <c:v>1113</c:v>
                </c:pt>
                <c:pt idx="11">
                  <c:v>1441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77869C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77869C"/>
                    </a:solidFill>
                    <a:latin typeface="Arial"/>
                  </a:rPr>
                  <a:t>kümülatif bütçe (M$)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7869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26345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7869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Açılış: tek cümlede konsept — uçaklar için kule var, komponentler için yok. Sayılar ekranda: filo %67 büyürken talep bandı +%63–68. Hepsi üç resmi CSV'den hesaplandı ve yeniden üretilebilir.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 mesaj: hacim yönetilebilir, kompozisyon kırılması yönetilmez ise kriz olur. Talebin üçte ikisi geçmişi olmayan parçalara kayıyor; kategori büyümeleri iki kat ayrışıyor — tek çarpanlı plan matematiksel olarak yanlış.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Boşluğu nasıl bulduk: saha gözlemi (9 başkanlık, 4–5 kopuk sistem) + resmi stok verisiyle TTS&lt;TTR koşulunu hesaplayan ilk analiz. 72 siparişsiz kırmızı, eksik karar katmanının ölçülmüş hâlidir — sorun para değil (0,7 M$), görünürlük.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Üç katman tek çatı: dashboard, sistem mimarisi ve akıllı uyarı yaklaşımlarını tek platformda birleştiriyoruz — case'teki örnek başlıklar ilham, bizim önerimiz bütünleşik. Kritik mimari karar: hiçbir kaynağa yazmıyoruz — CDC ile okuyoruz. AMOS/TRAX yer değiştirmiyor; üstlerine karar katmanı geliyor. Fazlar takvimle değil metrikle geçilir.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tek HTML dosyası — internetsiz çalışır. Beş ekran aynı doğrulanmış çekirdekten beslenir. Jüri parametre değiştirmek isterse Senaryo sekmesindeki canlı panelden ağırlıkları oynatıyoruz; sayılar tarayıcıda yeniden hesaplanıyor.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Dürüstlük stratejisi: 4 çeyrek veriyle sinir ağı klasikleri geçemez — bunu biz söylüyoruz. Ama geriye dönük test mevsim katsayısının toplam planlamada hatayı binde dörde indirdiğini gösteriyor. AI'ın rolü: bugün öneri modunda, AMOS olay verisi bağlanınca devreye.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Jürinin “projeksiyon güvenilir mi” sorusunun cevabı bu slayt. Üç bağımsız kanıt + Monte Carlo uyumu. Hepsi geriye dönük ve yeniden üretilebilir; demo maket değil, doğrulanmış çekirdeğin ekranı.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Rubrik 5: kısıt varsa önce ne? Cevap üç katmanda: Faz 1 salt-okunur görünürlük (ilk gün 72 yakalanır); kısıtlı stok bütçesi sınır eğrisiyle harcanır (ilk milyonlar en dik); yazılım dışı en iyi yatırım kabiliyet (12,1 M$/yıl). Tornado: en büyük kaldıraç TAT.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Organizatör brief'inin üçüncü sütunu. Kriz = parametre şoku: TTS kısalır ya da TTR uzar. Senaryo kütüphanesi + tek tık stres testi + çeyreklik war-game. Motor krizi canlı: kırmızı 134→477; Monte Carlo aynı senaryoda 796 PN / 39,4 M$ diyor.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Rubrik 6: işe yaradığını nasıl anlarız. Ana metrik AOG'da bekleyen uçak oranının düşmesi — her saat doğrudan gelir kaybı. Sistemik hedef: siparişsiz kırmızı sıfır. Otomasyona geçiş MAPE + öneri kabul eşiğiyle.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Kapanış cümlesi ezber: 2033'e daha büyük depoyla değil, her parçanın görünür, her kararın kurallı, her planın parametrik, her krizin prova edilmiş olduğu bir işletim modeliyle gidilir. Üç musluk + teşekkür. Sorulara hazırız.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02920" y="818388"/>
            <a:ext cx="82296" cy="82296"/>
          </a:xfrm>
          <a:prstGeom prst="rect">
            <a:avLst/>
          </a:prstGeom>
          <a:solidFill>
            <a:srgbClr val="4FC1B0"/>
          </a:solidFill>
          <a:ln/>
        </p:spPr>
      </p:sp>
      <p:sp>
        <p:nvSpPr>
          <p:cNvPr id="4" name="Text 1"/>
          <p:cNvSpPr/>
          <p:nvPr/>
        </p:nvSpPr>
        <p:spPr>
          <a:xfrm>
            <a:off x="649224" y="704088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4FC1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 TALENT BRIDGE · FİLO BÜYÜR, ENVANTER HAZIR MI? · GRUP 9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502920" y="1234440"/>
            <a:ext cx="11155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AF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Komponent Kontrol Kulesi</a:t>
            </a:r>
            <a:endParaRPr lang="en-US" sz="4800" dirty="0"/>
          </a:p>
        </p:txBody>
      </p:sp>
      <p:sp>
        <p:nvSpPr>
          <p:cNvPr id="6" name="Text 3"/>
          <p:cNvSpPr/>
          <p:nvPr/>
        </p:nvSpPr>
        <p:spPr>
          <a:xfrm>
            <a:off x="502920" y="228600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Uçaklar için kule var, komponentler için yok. 5.000 parça numarası için görünürlük + öngörü + aksiyon katmanı — kayıt sistemlerinin üzerine, hiçbirine yazmadan.</a:t>
            </a:r>
            <a:endParaRPr lang="en-US" sz="1650" dirty="0"/>
          </a:p>
        </p:txBody>
      </p:sp>
      <p:sp>
        <p:nvSpPr>
          <p:cNvPr id="7" name="Shape 4"/>
          <p:cNvSpPr/>
          <p:nvPr/>
        </p:nvSpPr>
        <p:spPr>
          <a:xfrm>
            <a:off x="502920" y="3566160"/>
            <a:ext cx="3602736" cy="1371600"/>
          </a:xfrm>
          <a:prstGeom prst="roundRect">
            <a:avLst>
              <a:gd name="adj" fmla="val 4667"/>
            </a:avLst>
          </a:prstGeom>
          <a:solidFill>
            <a:srgbClr val="121B2E"/>
          </a:solidFill>
          <a:ln w="12700">
            <a:solidFill>
              <a:srgbClr val="26345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30936" y="3648456"/>
            <a:ext cx="3346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FC1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1.200 → 2.000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630936" y="4279392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786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uçak, 2025 → 2033 (+%67) — bakım kapasitesi hedefi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288536" y="3566160"/>
            <a:ext cx="3602736" cy="1371600"/>
          </a:xfrm>
          <a:prstGeom prst="roundRect">
            <a:avLst>
              <a:gd name="adj" fmla="val 4667"/>
            </a:avLst>
          </a:prstGeom>
          <a:solidFill>
            <a:srgbClr val="121B2E"/>
          </a:solidFill>
          <a:ln w="12700">
            <a:solidFill>
              <a:srgbClr val="26345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416552" y="3648456"/>
            <a:ext cx="3346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+%63–68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4416552" y="4279392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786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komponent talep bandı — nokta tahmin değil, bant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74152" y="3566160"/>
            <a:ext cx="3602736" cy="1371600"/>
          </a:xfrm>
          <a:prstGeom prst="roundRect">
            <a:avLst>
              <a:gd name="adj" fmla="val 4667"/>
            </a:avLst>
          </a:prstGeom>
          <a:solidFill>
            <a:srgbClr val="121B2E"/>
          </a:solidFill>
          <a:ln w="12700">
            <a:solidFill>
              <a:srgbClr val="26345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02168" y="3648456"/>
            <a:ext cx="3346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9B8C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%34 → %65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8202168" y="4279392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786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yeni nesil modellerin talep payı — büyüme değil GÖÇ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502920" y="5257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786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 9 · prototip: tek dosyalık canlı dashboard + doğrulanmış hesap çekirdeği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502920" y="6455664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786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Tüm veriler sentetik / temsili resmi case setleridir — gerçek THY/AMOS verisi değildir.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02920" y="516636"/>
            <a:ext cx="82296" cy="82296"/>
          </a:xfrm>
          <a:prstGeom prst="rect">
            <a:avLst/>
          </a:prstGeom>
          <a:solidFill>
            <a:srgbClr val="4FC1B0"/>
          </a:solidFill>
          <a:ln/>
        </p:spPr>
      </p:sp>
      <p:sp>
        <p:nvSpPr>
          <p:cNvPr id="4" name="Text 1"/>
          <p:cNvSpPr/>
          <p:nvPr/>
        </p:nvSpPr>
        <p:spPr>
          <a:xfrm>
            <a:off x="649224" y="402336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4FC1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· PROBLEMİN TANIMLANMASI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AF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Problem: büyüme değil, göç</a:t>
            </a:r>
            <a:endParaRPr lang="en-US" sz="3100" dirty="0"/>
          </a:p>
        </p:txBody>
      </p:sp>
      <p:sp>
        <p:nvSpPr>
          <p:cNvPr id="6" name="Text 3"/>
          <p:cNvSpPr/>
          <p:nvPr/>
        </p:nvSpPr>
        <p:spPr>
          <a:xfrm>
            <a:off x="502920" y="1691640"/>
            <a:ext cx="55778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Talep 90.016 → 146.882–150.775 adet/yıl (+%63–68 bandı; iki yöntem, şeffaf varsayımlar).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Asıl kırılma: yeni nesil modellerin talep payı %33,7 → %64,8 — geçmiş verisi olmayan parçalar ana senaryo hâline geliyor (cold-start).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Kategori büyümeleri ayrışıyor: Oxygen +%40 ↔ Electrical Power +%91. Tek çarpanlı plan iki ucda da yanılır; kategori × model × segment şart.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Portföyün %44'ü (2.192 PN), talebi üçte birine düşecek 4 klasik modele bağlı — 52,0 M$ stok phase-out riski altında.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Dürüstlük: THY uçağı 130,1, pool uçağı 35,7 adet/yıl üretiyor (3,6×) — anomaliyi gizlemedik, mentora taşıdık.</a:t>
            </a:r>
            <a:endParaRPr lang="en-US" sz="12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400800" y="1645920"/>
          <a:ext cx="52578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4"/>
          <p:cNvSpPr/>
          <p:nvPr/>
        </p:nvSpPr>
        <p:spPr>
          <a:xfrm>
            <a:off x="502920" y="6455664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786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Tüm veriler sentetik / temsili resmi case setleridir — gerçek THY/AMOS verisi değildir.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02920" y="516636"/>
            <a:ext cx="82296" cy="82296"/>
          </a:xfrm>
          <a:prstGeom prst="rect">
            <a:avLst/>
          </a:prstGeom>
          <a:solidFill>
            <a:srgbClr val="4FC1B0"/>
          </a:solidFill>
          <a:ln/>
        </p:spPr>
      </p:sp>
      <p:sp>
        <p:nvSpPr>
          <p:cNvPr id="4" name="Text 1"/>
          <p:cNvSpPr/>
          <p:nvPr/>
        </p:nvSpPr>
        <p:spPr>
          <a:xfrm>
            <a:off x="649224" y="402336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4FC1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· MEVCUT DURUM ANALİZİ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AF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Bugünkü süreç kendi alarmını göremiyor</a:t>
            </a:r>
            <a:endParaRPr lang="en-US" sz="3100" dirty="0"/>
          </a:p>
        </p:txBody>
      </p:sp>
      <p:sp>
        <p:nvSpPr>
          <p:cNvPr id="6" name="Shape 3"/>
          <p:cNvSpPr/>
          <p:nvPr/>
        </p:nvSpPr>
        <p:spPr>
          <a:xfrm>
            <a:off x="502920" y="1691640"/>
            <a:ext cx="1133856" cy="475488"/>
          </a:xfrm>
          <a:prstGeom prst="roundRect">
            <a:avLst>
              <a:gd name="adj" fmla="val 13462"/>
            </a:avLst>
          </a:prstGeom>
          <a:solidFill>
            <a:srgbClr val="182338"/>
          </a:solidFill>
          <a:ln w="12700">
            <a:solidFill>
              <a:srgbClr val="26345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1691640"/>
            <a:ext cx="11338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Satış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1600200" y="1691640"/>
            <a:ext cx="182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C1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746504" y="1691640"/>
            <a:ext cx="1133856" cy="475488"/>
          </a:xfrm>
          <a:prstGeom prst="roundRect">
            <a:avLst>
              <a:gd name="adj" fmla="val 13462"/>
            </a:avLst>
          </a:prstGeom>
          <a:solidFill>
            <a:srgbClr val="182338"/>
          </a:solidFill>
          <a:ln w="12700">
            <a:solidFill>
              <a:srgbClr val="26345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746504" y="1691640"/>
            <a:ext cx="11338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Planlama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2843784" y="1691640"/>
            <a:ext cx="182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C1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2990088" y="1691640"/>
            <a:ext cx="1133856" cy="475488"/>
          </a:xfrm>
          <a:prstGeom prst="roundRect">
            <a:avLst>
              <a:gd name="adj" fmla="val 13462"/>
            </a:avLst>
          </a:prstGeom>
          <a:solidFill>
            <a:srgbClr val="182338"/>
          </a:solidFill>
          <a:ln w="12700">
            <a:solidFill>
              <a:srgbClr val="26345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990088" y="1691640"/>
            <a:ext cx="11338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Satın Alma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4087368" y="1691640"/>
            <a:ext cx="182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C1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233672" y="1691640"/>
            <a:ext cx="1133856" cy="475488"/>
          </a:xfrm>
          <a:prstGeom prst="roundRect">
            <a:avLst>
              <a:gd name="adj" fmla="val 13462"/>
            </a:avLst>
          </a:prstGeom>
          <a:solidFill>
            <a:srgbClr val="182338"/>
          </a:solidFill>
          <a:ln w="12700">
            <a:solidFill>
              <a:srgbClr val="26345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233672" y="1691640"/>
            <a:ext cx="11338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Lojistik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5330952" y="1691640"/>
            <a:ext cx="182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C1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77256" y="1691640"/>
            <a:ext cx="1133856" cy="475488"/>
          </a:xfrm>
          <a:prstGeom prst="roundRect">
            <a:avLst>
              <a:gd name="adj" fmla="val 13462"/>
            </a:avLst>
          </a:prstGeom>
          <a:solidFill>
            <a:srgbClr val="182338"/>
          </a:solidFill>
          <a:ln w="12700">
            <a:solidFill>
              <a:srgbClr val="26345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477256" y="1691640"/>
            <a:ext cx="11338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Gümrük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6574536" y="1691640"/>
            <a:ext cx="182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C1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720840" y="1691640"/>
            <a:ext cx="1133856" cy="475488"/>
          </a:xfrm>
          <a:prstGeom prst="roundRect">
            <a:avLst>
              <a:gd name="adj" fmla="val 13462"/>
            </a:avLst>
          </a:prstGeom>
          <a:solidFill>
            <a:srgbClr val="182338"/>
          </a:solidFill>
          <a:ln w="12700">
            <a:solidFill>
              <a:srgbClr val="26345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720840" y="1691640"/>
            <a:ext cx="11338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Tesellüm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18120" y="1691640"/>
            <a:ext cx="182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C1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7964424" y="1691640"/>
            <a:ext cx="1133856" cy="475488"/>
          </a:xfrm>
          <a:prstGeom prst="roundRect">
            <a:avLst>
              <a:gd name="adj" fmla="val 13462"/>
            </a:avLst>
          </a:prstGeom>
          <a:solidFill>
            <a:srgbClr val="182338"/>
          </a:solidFill>
          <a:ln w="12700">
            <a:solidFill>
              <a:srgbClr val="26345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964424" y="1691640"/>
            <a:ext cx="11338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Depolar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9061704" y="1691640"/>
            <a:ext cx="182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C1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9208008" y="1691640"/>
            <a:ext cx="1133856" cy="475488"/>
          </a:xfrm>
          <a:prstGeom prst="roundRect">
            <a:avLst>
              <a:gd name="adj" fmla="val 13462"/>
            </a:avLst>
          </a:prstGeom>
          <a:solidFill>
            <a:srgbClr val="182338"/>
          </a:solidFill>
          <a:ln w="12700">
            <a:solidFill>
              <a:srgbClr val="26345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208008" y="1691640"/>
            <a:ext cx="11338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Atölyeler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10305288" y="1691640"/>
            <a:ext cx="182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C1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10451592" y="1691640"/>
            <a:ext cx="1133856" cy="475488"/>
          </a:xfrm>
          <a:prstGeom prst="roundRect">
            <a:avLst>
              <a:gd name="adj" fmla="val 13462"/>
            </a:avLst>
          </a:prstGeom>
          <a:solidFill>
            <a:srgbClr val="182338"/>
          </a:solidFill>
          <a:ln w="12700">
            <a:solidFill>
              <a:srgbClr val="263450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0451592" y="1691640"/>
            <a:ext cx="11338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Komp. Hizmetleri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502920" y="237744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Bir komponent ~9 başkanlıktan geçiyor; kayıt 4–5 kopuk sistemde (TRAX, “Mars”, ÜPK, depo/bin-raf, ayrı tool-tracking). Her devirde veri kopuyor; bozulan parça için süreç reaktif bir telefon merdiveni. (Kaynak: saha gözlemi — birincil.)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502920" y="3291840"/>
            <a:ext cx="5394960" cy="2834640"/>
          </a:xfrm>
          <a:prstGeom prst="roundRect">
            <a:avLst>
              <a:gd name="adj" fmla="val 2258"/>
            </a:avLst>
          </a:prstGeom>
          <a:solidFill>
            <a:srgbClr val="121B2E"/>
          </a:solidFill>
          <a:ln w="17780">
            <a:solidFill>
              <a:srgbClr val="6E2233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77240" y="352044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06A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72 PN</a:t>
            </a:r>
            <a:endParaRPr lang="en-US" sz="5400" dirty="0"/>
          </a:p>
        </p:txBody>
      </p:sp>
      <p:sp>
        <p:nvSpPr>
          <p:cNvPr id="35" name="Text 32"/>
          <p:cNvSpPr/>
          <p:nvPr/>
        </p:nvSpPr>
        <p:spPr>
          <a:xfrm>
            <a:off x="777240" y="4572000"/>
            <a:ext cx="4846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bugün kırmızıda (stok, toparlanma süresinden önce bitecek) ve açık siparişi YOK — 11'i AOG kritik. Alarm koşulu aylardır sağlanmış; hesaplayan bir süreç olmadığı için aksiyon doğmamış.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6172200" y="3291840"/>
            <a:ext cx="2651760" cy="1325880"/>
          </a:xfrm>
          <a:prstGeom prst="roundRect">
            <a:avLst>
              <a:gd name="adj" fmla="val 4828"/>
            </a:avLst>
          </a:prstGeom>
          <a:solidFill>
            <a:srgbClr val="121B2E"/>
          </a:solidFill>
          <a:ln w="12700">
            <a:solidFill>
              <a:srgbClr val="263450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300216" y="3374136"/>
            <a:ext cx="239572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6A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134</a:t>
            </a:r>
            <a:endParaRPr lang="en-US" sz="3000" dirty="0"/>
          </a:p>
        </p:txBody>
      </p:sp>
      <p:sp>
        <p:nvSpPr>
          <p:cNvPr id="38" name="Text 35"/>
          <p:cNvSpPr/>
          <p:nvPr/>
        </p:nvSpPr>
        <p:spPr>
          <a:xfrm>
            <a:off x="6300216" y="3981298"/>
            <a:ext cx="2395728" cy="583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786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kırmızı PN — TTS &lt; TTR (5.000 içinde)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9006840" y="3291840"/>
            <a:ext cx="2651760" cy="1325880"/>
          </a:xfrm>
          <a:prstGeom prst="roundRect">
            <a:avLst>
              <a:gd name="adj" fmla="val 4828"/>
            </a:avLst>
          </a:prstGeom>
          <a:solidFill>
            <a:srgbClr val="121B2E"/>
          </a:solidFill>
          <a:ln w="12700">
            <a:solidFill>
              <a:srgbClr val="26345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9134856" y="3374136"/>
            <a:ext cx="239572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0,7 M$</a:t>
            </a:r>
            <a:endParaRPr lang="en-US" sz="2400" dirty="0"/>
          </a:p>
        </p:txBody>
      </p:sp>
      <p:sp>
        <p:nvSpPr>
          <p:cNvPr id="41" name="Text 38"/>
          <p:cNvSpPr/>
          <p:nvPr/>
        </p:nvSpPr>
        <p:spPr>
          <a:xfrm>
            <a:off x="9134856" y="3981298"/>
            <a:ext cx="2395728" cy="583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786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tamamını kapatma maliyeti — sorun para değil</a:t>
            </a:r>
            <a:endParaRPr lang="en-US" sz="950" dirty="0"/>
          </a:p>
        </p:txBody>
      </p:sp>
      <p:sp>
        <p:nvSpPr>
          <p:cNvPr id="42" name="Shape 39"/>
          <p:cNvSpPr/>
          <p:nvPr/>
        </p:nvSpPr>
        <p:spPr>
          <a:xfrm>
            <a:off x="6172200" y="4800600"/>
            <a:ext cx="2651760" cy="1325880"/>
          </a:xfrm>
          <a:prstGeom prst="roundRect">
            <a:avLst>
              <a:gd name="adj" fmla="val 4828"/>
            </a:avLst>
          </a:prstGeom>
          <a:solidFill>
            <a:srgbClr val="121B2E"/>
          </a:solidFill>
          <a:ln w="12700">
            <a:solidFill>
              <a:srgbClr val="263450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6300216" y="4882896"/>
            <a:ext cx="239572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F0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~0,4 M$</a:t>
            </a:r>
            <a:endParaRPr lang="en-US" sz="2400" dirty="0"/>
          </a:p>
        </p:txBody>
      </p:sp>
      <p:sp>
        <p:nvSpPr>
          <p:cNvPr id="44" name="Text 41"/>
          <p:cNvSpPr/>
          <p:nvPr/>
        </p:nvSpPr>
        <p:spPr>
          <a:xfrm>
            <a:off x="6300216" y="5490058"/>
            <a:ext cx="2395728" cy="583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786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fazla + ölü stok — “şişkinlik” miti veriyle çürüdü</a:t>
            </a:r>
            <a:endParaRPr lang="en-US" sz="950" dirty="0"/>
          </a:p>
        </p:txBody>
      </p:sp>
      <p:sp>
        <p:nvSpPr>
          <p:cNvPr id="45" name="Shape 42"/>
          <p:cNvSpPr/>
          <p:nvPr/>
        </p:nvSpPr>
        <p:spPr>
          <a:xfrm>
            <a:off x="9006840" y="4800600"/>
            <a:ext cx="2651760" cy="1325880"/>
          </a:xfrm>
          <a:prstGeom prst="roundRect">
            <a:avLst>
              <a:gd name="adj" fmla="val 4828"/>
            </a:avLst>
          </a:prstGeom>
          <a:solidFill>
            <a:srgbClr val="121B2E"/>
          </a:solidFill>
          <a:ln w="12700">
            <a:solidFill>
              <a:srgbClr val="263450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9134856" y="4882896"/>
            <a:ext cx="239572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F0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120 gün</a:t>
            </a:r>
            <a:endParaRPr lang="en-US" sz="2400" dirty="0"/>
          </a:p>
        </p:txBody>
      </p:sp>
      <p:sp>
        <p:nvSpPr>
          <p:cNvPr id="47" name="Text 44"/>
          <p:cNvSpPr/>
          <p:nvPr/>
        </p:nvSpPr>
        <p:spPr>
          <a:xfrm>
            <a:off x="9134856" y="5490058"/>
            <a:ext cx="2395728" cy="583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786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medyan hayatta kalma süresi — genel tablo sağlıklı, denge kör</a:t>
            </a:r>
            <a:endParaRPr lang="en-US" sz="950" dirty="0"/>
          </a:p>
        </p:txBody>
      </p:sp>
      <p:sp>
        <p:nvSpPr>
          <p:cNvPr id="48" name="Text 45"/>
          <p:cNvSpPr/>
          <p:nvPr/>
        </p:nvSpPr>
        <p:spPr>
          <a:xfrm>
            <a:off x="502920" y="6455664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786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TTS = stok / günlük talep · TTR = tamir-tedarik süresi · Tüm veriler sentetik / temsili resmi case setleridir — gerçek THY/AMOS verisi değildir.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02920" y="516636"/>
            <a:ext cx="82296" cy="82296"/>
          </a:xfrm>
          <a:prstGeom prst="rect">
            <a:avLst/>
          </a:prstGeom>
          <a:solidFill>
            <a:srgbClr val="4FC1B0"/>
          </a:solidFill>
          <a:ln/>
        </p:spPr>
      </p:sp>
      <p:sp>
        <p:nvSpPr>
          <p:cNvPr id="4" name="Text 1"/>
          <p:cNvSpPr/>
          <p:nvPr/>
        </p:nvSpPr>
        <p:spPr>
          <a:xfrm>
            <a:off x="649224" y="402336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4FC1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· ÇÖZÜM ÖNERİLERİ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AF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Kontrol Kulesi: üç katman, salt-okunur mimari</a:t>
            </a:r>
            <a:endParaRPr lang="en-US" sz="3100" dirty="0"/>
          </a:p>
        </p:txBody>
      </p:sp>
      <p:sp>
        <p:nvSpPr>
          <p:cNvPr id="6" name="Shape 3"/>
          <p:cNvSpPr/>
          <p:nvPr/>
        </p:nvSpPr>
        <p:spPr>
          <a:xfrm>
            <a:off x="502920" y="1645920"/>
            <a:ext cx="6675120" cy="1024128"/>
          </a:xfrm>
          <a:prstGeom prst="roundRect">
            <a:avLst>
              <a:gd name="adj" fmla="val 6250"/>
            </a:avLst>
          </a:prstGeom>
          <a:solidFill>
            <a:srgbClr val="121B2E"/>
          </a:solidFill>
          <a:ln w="12700">
            <a:solidFill>
              <a:srgbClr val="26345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3232" y="1920240"/>
            <a:ext cx="475488" cy="475488"/>
          </a:xfrm>
          <a:prstGeom prst="ellipse">
            <a:avLst/>
          </a:prstGeom>
          <a:solidFill>
            <a:srgbClr val="4FC1B0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9202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371600" y="1719072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F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GÖRÜNÜRLÜK  </a:t>
            </a:r>
            <a:pPr indent="0" marL="0">
              <a:buNone/>
            </a:pPr>
            <a:r>
              <a:rPr lang="en-US" sz="1000" dirty="0">
                <a:solidFill>
                  <a:srgbClr val="4FC1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FAZ 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371600" y="2029968"/>
            <a:ext cx="5715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Tek komponent kaydı + olay-kaynaklı durum makinesi; gerçek TAT beyandan değil olay farkından. Sermaye kokpiti. İlk gün değeri: 72 siparişsiz kırmızının yakalanması.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02920" y="2816352"/>
            <a:ext cx="6675120" cy="1024128"/>
          </a:xfrm>
          <a:prstGeom prst="roundRect">
            <a:avLst>
              <a:gd name="adj" fmla="val 6250"/>
            </a:avLst>
          </a:prstGeom>
          <a:solidFill>
            <a:srgbClr val="121B2E"/>
          </a:solidFill>
          <a:ln w="12700">
            <a:solidFill>
              <a:srgbClr val="26345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13232" y="3090672"/>
            <a:ext cx="475488" cy="475488"/>
          </a:xfrm>
          <a:prstGeom prst="ellipse">
            <a:avLst/>
          </a:prstGeom>
          <a:solidFill>
            <a:srgbClr val="5B8FD6"/>
          </a:solidFill>
          <a:ln/>
        </p:spPr>
      </p:sp>
      <p:sp>
        <p:nvSpPr>
          <p:cNvPr id="13" name="Text 10"/>
          <p:cNvSpPr/>
          <p:nvPr/>
        </p:nvSpPr>
        <p:spPr>
          <a:xfrm>
            <a:off x="713232" y="30906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371600" y="2889504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F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ÖNGÖRÜ  </a:t>
            </a:r>
            <a:pPr indent="0" marL="0">
              <a:buNone/>
            </a:pPr>
            <a:r>
              <a:rPr lang="en-US" sz="1000" dirty="0">
                <a:solidFill>
                  <a:srgbClr val="5B8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FAZ 2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371600" y="3200400"/>
            <a:ext cx="5715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ABC×XYZ segmentasyonu; Croston/SBA + Poisson emniyet stoğu; filo-sürücülü bant projeksiyonu; cold-start (analog + Bayes); dinamik min-max — insan onaylı öneri modu.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02920" y="3986784"/>
            <a:ext cx="6675120" cy="1024128"/>
          </a:xfrm>
          <a:prstGeom prst="roundRect">
            <a:avLst>
              <a:gd name="adj" fmla="val 6250"/>
            </a:avLst>
          </a:prstGeom>
          <a:solidFill>
            <a:srgbClr val="121B2E"/>
          </a:solidFill>
          <a:ln w="12700">
            <a:solidFill>
              <a:srgbClr val="26345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13232" y="4261104"/>
            <a:ext cx="475488" cy="475488"/>
          </a:xfrm>
          <a:prstGeom prst="ellipse">
            <a:avLst/>
          </a:prstGeom>
          <a:solidFill>
            <a:srgbClr val="9B8CE8"/>
          </a:solidFill>
          <a:ln/>
        </p:spPr>
      </p:sp>
      <p:sp>
        <p:nvSpPr>
          <p:cNvPr id="18" name="Text 15"/>
          <p:cNvSpPr/>
          <p:nvPr/>
        </p:nvSpPr>
        <p:spPr>
          <a:xfrm>
            <a:off x="713232" y="42611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1371600" y="4059936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F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AKSİYON  </a:t>
            </a:r>
            <a:pPr indent="0" marL="0">
              <a:buNone/>
            </a:pPr>
            <a:r>
              <a:rPr lang="en-US" sz="1000" dirty="0">
                <a:solidFill>
                  <a:srgbClr val="9B8C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FAZ 2–3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371600" y="4370832"/>
            <a:ext cx="5715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TTS&lt;TTR alarmı → zorunlu aksiyon kaydı; eskalasyon merdiveni süre+maliyetle puanlanır; BER motoru, gayrifaal kuyruğu, phase-out tetikleri, pool koordinasyonu.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7406640" y="1645920"/>
            <a:ext cx="4279392" cy="3566160"/>
          </a:xfrm>
          <a:prstGeom prst="roundRect">
            <a:avLst>
              <a:gd name="adj" fmla="val 1795"/>
            </a:avLst>
          </a:prstGeom>
          <a:solidFill>
            <a:srgbClr val="182338"/>
          </a:solidFill>
          <a:ln w="12700">
            <a:solidFill>
              <a:srgbClr val="26345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635240" y="18288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4FC1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MİMARİ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7635240" y="2157984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AMOS · TRAX · “Mars” · ÜPK · depo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7635240" y="2468880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C1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▼  CDC — SALT OKUNUR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7635240" y="2779776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Olay omurgası (event-sourced)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7635240" y="3090672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C1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▼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7635240" y="3401568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Tek veri modeli (PN+durum+konum)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7635240" y="3712464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C1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▼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7635240" y="4023360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Motorlar: tahmin · min-max · alarm · senaryo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635240" y="4334256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C1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▼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7635240" y="4645152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Kontrol Kulesi ekranları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7635240" y="4882896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06A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GERİ YAZMA YOK — kaynaklara dokunulmaz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502920" y="5349240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Yazılım-dışı 4. öneri: 547 parçalık listeye atölye kabiliyeti yatırımı — 12,1 M$/yıl tasarruf + 4,0 M$ sermaye serbestisi.</a:t>
            </a:r>
            <a:endParaRPr lang="en-US" sz="1250" dirty="0"/>
          </a:p>
        </p:txBody>
      </p:sp>
      <p:sp>
        <p:nvSpPr>
          <p:cNvPr id="34" name="Text 31"/>
          <p:cNvSpPr/>
          <p:nvPr/>
        </p:nvSpPr>
        <p:spPr>
          <a:xfrm>
            <a:off x="502920" y="6455664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786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Tüm veriler sentetik / temsili resmi case setleridir — gerçek THY/AMOS verisi değildir.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02920" y="516636"/>
            <a:ext cx="82296" cy="82296"/>
          </a:xfrm>
          <a:prstGeom prst="rect">
            <a:avLst/>
          </a:prstGeom>
          <a:solidFill>
            <a:srgbClr val="4FC1B0"/>
          </a:solidFill>
          <a:ln/>
        </p:spPr>
      </p:sp>
      <p:sp>
        <p:nvSpPr>
          <p:cNvPr id="4" name="Text 1"/>
          <p:cNvSpPr/>
          <p:nvPr/>
        </p:nvSpPr>
        <p:spPr>
          <a:xfrm>
            <a:off x="649224" y="402336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4FC1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· PROTOTİP / DEMO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AF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Canlı prototip: 5 ekran, tek doğrulanmış çekirdek</a:t>
            </a:r>
            <a:endParaRPr lang="en-US" sz="31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2130552" cy="3429000"/>
          </a:xfrm>
          <a:prstGeom prst="roundRect">
            <a:avLst>
              <a:gd name="adj" fmla="val 3004"/>
            </a:avLst>
          </a:prstGeom>
          <a:solidFill>
            <a:srgbClr val="121B2E"/>
          </a:solidFill>
          <a:ln w="12700">
            <a:solidFill>
              <a:srgbClr val="26345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67512" y="1975104"/>
            <a:ext cx="100584" cy="100584"/>
          </a:xfrm>
          <a:prstGeom prst="rect">
            <a:avLst/>
          </a:prstGeom>
          <a:solidFill>
            <a:srgbClr val="4FC1B0"/>
          </a:solidFill>
          <a:ln/>
        </p:spPr>
      </p:sp>
      <p:sp>
        <p:nvSpPr>
          <p:cNvPr id="8" name="Text 5"/>
          <p:cNvSpPr/>
          <p:nvPr/>
        </p:nvSpPr>
        <p:spPr>
          <a:xfrm>
            <a:off x="832104" y="184708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C1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KOKPİT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67512" y="2377440"/>
            <a:ext cx="1828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700"/>
              </a:spcAft>
              <a:buSzPct val="100000"/>
              <a:buChar char="▪"/>
            </a:pPr>
            <a:r>
              <a:rPr lang="en-US" sz="100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132,9 M$ sermaye fotoğrafı + üç para musluğu</a:t>
            </a:r>
            <a:endParaRPr lang="en-US" sz="1000" dirty="0"/>
          </a:p>
          <a:p>
            <a:pPr marL="127000" indent="-127000">
              <a:spcAft>
                <a:spcPts val="700"/>
              </a:spcAft>
              <a:buSzPct val="100000"/>
              <a:buChar char="▪"/>
            </a:pPr>
            <a:r>
              <a:rPr lang="en-US" sz="100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 siparişsiz kırmızı vurgusu</a:t>
            </a:r>
            <a:endParaRPr lang="en-US" sz="1000" dirty="0"/>
          </a:p>
          <a:p>
            <a:pPr marL="127000" indent="-127000">
              <a:spcAft>
                <a:spcPts val="700"/>
              </a:spcAft>
              <a:buSzPct val="100000"/>
              <a:buChar char="▪"/>
            </a:pPr>
            <a:r>
              <a:rPr lang="en-US" sz="100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mimari + yol haritası + veri boşlukları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798064" y="1783080"/>
            <a:ext cx="2130552" cy="3429000"/>
          </a:xfrm>
          <a:prstGeom prst="roundRect">
            <a:avLst>
              <a:gd name="adj" fmla="val 3004"/>
            </a:avLst>
          </a:prstGeom>
          <a:solidFill>
            <a:srgbClr val="121B2E"/>
          </a:solidFill>
          <a:ln w="12700">
            <a:solidFill>
              <a:srgbClr val="26345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962656" y="1975104"/>
            <a:ext cx="100584" cy="100584"/>
          </a:xfrm>
          <a:prstGeom prst="rect">
            <a:avLst/>
          </a:prstGeom>
          <a:solidFill>
            <a:srgbClr val="E06A6A"/>
          </a:solidFill>
          <a:ln/>
        </p:spPr>
      </p:sp>
      <p:sp>
        <p:nvSpPr>
          <p:cNvPr id="12" name="Text 9"/>
          <p:cNvSpPr/>
          <p:nvPr/>
        </p:nvSpPr>
        <p:spPr>
          <a:xfrm>
            <a:off x="3127248" y="184708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6A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WATCHLIST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962656" y="2377440"/>
            <a:ext cx="1828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700"/>
              </a:spcAft>
              <a:buSzPct val="100000"/>
              <a:buChar char="▪"/>
            </a:pPr>
            <a:r>
              <a:rPr lang="en-US" sz="100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5.000 PN risk sıralı, 8 filtre</a:t>
            </a:r>
            <a:endParaRPr lang="en-US" sz="1000" dirty="0"/>
          </a:p>
          <a:p>
            <a:pPr marL="127000" indent="-127000">
              <a:spcAft>
                <a:spcPts val="700"/>
              </a:spcAft>
              <a:buSzPct val="100000"/>
              <a:buChar char="▪"/>
            </a:pPr>
            <a:r>
              <a:rPr lang="en-US" sz="100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aksiyon merdiveni (süre + maliyet)</a:t>
            </a:r>
            <a:endParaRPr lang="en-US" sz="1000" dirty="0"/>
          </a:p>
          <a:p>
            <a:pPr marL="127000" indent="-127000">
              <a:spcAft>
                <a:spcPts val="700"/>
              </a:spcAft>
              <a:buSzPct val="100000"/>
              <a:buChar char="▪"/>
            </a:pPr>
            <a:r>
              <a:rPr lang="en-US" sz="100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canlı Poisson stok-out eğrisi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093208" y="1783080"/>
            <a:ext cx="2130552" cy="3429000"/>
          </a:xfrm>
          <a:prstGeom prst="roundRect">
            <a:avLst>
              <a:gd name="adj" fmla="val 3004"/>
            </a:avLst>
          </a:prstGeom>
          <a:solidFill>
            <a:srgbClr val="121B2E"/>
          </a:solidFill>
          <a:ln w="12700">
            <a:solidFill>
              <a:srgbClr val="26345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257800" y="1975104"/>
            <a:ext cx="100584" cy="100584"/>
          </a:xfrm>
          <a:prstGeom prst="rect">
            <a:avLst/>
          </a:prstGeom>
          <a:solidFill>
            <a:srgbClr val="9B8CE8"/>
          </a:solidFill>
          <a:ln/>
        </p:spPr>
      </p:sp>
      <p:sp>
        <p:nvSpPr>
          <p:cNvPr id="16" name="Text 13"/>
          <p:cNvSpPr/>
          <p:nvPr/>
        </p:nvSpPr>
        <p:spPr>
          <a:xfrm>
            <a:off x="5422392" y="184708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B8C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ÖNGÖRÜ &amp; AI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257800" y="2377440"/>
            <a:ext cx="1828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700"/>
              </a:spcAft>
              <a:buSzPct val="100000"/>
              <a:buChar char="▪"/>
            </a:pPr>
            <a:r>
              <a:rPr lang="en-US" sz="100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ABC×XYZ + bant + göç + hurda</a:t>
            </a:r>
            <a:endParaRPr lang="en-US" sz="1000" dirty="0"/>
          </a:p>
          <a:p>
            <a:pPr marL="127000" indent="-127000">
              <a:spcAft>
                <a:spcPts val="700"/>
              </a:spcAft>
              <a:buSzPct val="100000"/>
              <a:buChar char="▪"/>
            </a:pPr>
            <a:r>
              <a:rPr lang="en-US" sz="100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tahmin gezgini + hata analizi</a:t>
            </a:r>
            <a:endParaRPr lang="en-US" sz="1000" dirty="0"/>
          </a:p>
          <a:p>
            <a:pPr marL="127000" indent="-127000">
              <a:spcAft>
                <a:spcPts val="700"/>
              </a:spcAft>
              <a:buSzPct val="100000"/>
              <a:buChar char="▪"/>
            </a:pPr>
            <a:r>
              <a:rPr lang="en-US" sz="100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cold-start canlı Bayes demosu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7388352" y="1783080"/>
            <a:ext cx="2130552" cy="3429000"/>
          </a:xfrm>
          <a:prstGeom prst="roundRect">
            <a:avLst>
              <a:gd name="adj" fmla="val 3004"/>
            </a:avLst>
          </a:prstGeom>
          <a:solidFill>
            <a:srgbClr val="121B2E"/>
          </a:solidFill>
          <a:ln w="12700">
            <a:solidFill>
              <a:srgbClr val="26345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552944" y="1975104"/>
            <a:ext cx="100584" cy="100584"/>
          </a:xfrm>
          <a:prstGeom prst="rect">
            <a:avLst/>
          </a:prstGeom>
          <a:solidFill>
            <a:srgbClr val="5B8FD6"/>
          </a:solidFill>
          <a:ln/>
        </p:spPr>
      </p:sp>
      <p:sp>
        <p:nvSpPr>
          <p:cNvPr id="20" name="Text 17"/>
          <p:cNvSpPr/>
          <p:nvPr/>
        </p:nvSpPr>
        <p:spPr>
          <a:xfrm>
            <a:off x="7717536" y="184708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8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HARİTA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7552944" y="2377440"/>
            <a:ext cx="1828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700"/>
              </a:spcAft>
              <a:buSzPct val="100000"/>
              <a:buChar char="▪"/>
            </a:pPr>
            <a:r>
              <a:rPr lang="en-US" sz="100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Türkiye: 16 havalimanı, gerçek kontur</a:t>
            </a:r>
            <a:endParaRPr lang="en-US" sz="1000" dirty="0"/>
          </a:p>
          <a:p>
            <a:pPr marL="127000" indent="-127000">
              <a:spcAft>
                <a:spcPts val="700"/>
              </a:spcAft>
              <a:buSzPct val="100000"/>
              <a:buChar char="▪"/>
            </a:pPr>
            <a:r>
              <a:rPr lang="en-US" sz="100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küresel ağ: 9 hub, İstanbul merkezli</a:t>
            </a:r>
            <a:endParaRPr lang="en-US" sz="1000" dirty="0"/>
          </a:p>
          <a:p>
            <a:pPr marL="127000" indent="-127000">
              <a:spcAft>
                <a:spcPts val="700"/>
              </a:spcAft>
              <a:buSzPct val="100000"/>
              <a:buChar char="▪"/>
            </a:pPr>
            <a:r>
              <a:rPr lang="en-US" sz="100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kriz katmanı + akış okları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9683496" y="1783080"/>
            <a:ext cx="2130552" cy="3429000"/>
          </a:xfrm>
          <a:prstGeom prst="roundRect">
            <a:avLst>
              <a:gd name="adj" fmla="val 3004"/>
            </a:avLst>
          </a:prstGeom>
          <a:solidFill>
            <a:srgbClr val="121B2E"/>
          </a:solidFill>
          <a:ln w="12700">
            <a:solidFill>
              <a:srgbClr val="26345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848088" y="1975104"/>
            <a:ext cx="100584" cy="10058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24" name="Text 21"/>
          <p:cNvSpPr/>
          <p:nvPr/>
        </p:nvSpPr>
        <p:spPr>
          <a:xfrm>
            <a:off x="10012680" y="1847088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SENARYO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9848088" y="2377440"/>
            <a:ext cx="1828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700"/>
              </a:spcAft>
              <a:buSzPct val="100000"/>
              <a:buChar char="▪"/>
            </a:pPr>
            <a:r>
              <a:rPr lang="en-US" sz="100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kriz kütüphanesi → canlı hesap</a:t>
            </a:r>
            <a:endParaRPr lang="en-US" sz="1000" dirty="0"/>
          </a:p>
          <a:p>
            <a:pPr marL="127000" indent="-127000">
              <a:spcAft>
                <a:spcPts val="700"/>
              </a:spcAft>
              <a:buSzPct val="100000"/>
              <a:buChar char="▪"/>
            </a:pPr>
            <a:r>
              <a:rPr lang="en-US" sz="100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jüri modu: parametre kaydırıcıları</a:t>
            </a:r>
            <a:endParaRPr lang="en-US" sz="1000" dirty="0"/>
          </a:p>
          <a:p>
            <a:pPr marL="127000" indent="-127000">
              <a:spcAft>
                <a:spcPts val="700"/>
              </a:spcAft>
              <a:buSzPct val="100000"/>
              <a:buChar char="▪"/>
            </a:pPr>
            <a:r>
              <a:rPr lang="en-US" sz="100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Monte Carlo + duyarlılık + optimizasyon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02920" y="5486400"/>
            <a:ext cx="5486400" cy="777240"/>
          </a:xfrm>
          <a:prstGeom prst="roundRect">
            <a:avLst>
              <a:gd name="adj" fmla="val 8235"/>
            </a:avLst>
          </a:prstGeom>
          <a:solidFill>
            <a:srgbClr val="121B2E"/>
          </a:solidFill>
          <a:ln w="12700">
            <a:solidFill>
              <a:srgbClr val="26345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30936" y="5568696"/>
            <a:ext cx="5230368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F0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Tek HTML · internetsiz · 26 grafik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630936" y="5890565"/>
            <a:ext cx="5230368" cy="3419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786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USB'den açılır; sunum salonunda ağ riski yok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6172200" y="5486400"/>
            <a:ext cx="5486400" cy="777240"/>
          </a:xfrm>
          <a:prstGeom prst="roundRect">
            <a:avLst>
              <a:gd name="adj" fmla="val 8235"/>
            </a:avLst>
          </a:prstGeom>
          <a:solidFill>
            <a:srgbClr val="121B2E"/>
          </a:solidFill>
          <a:ln w="12700">
            <a:solidFill>
              <a:srgbClr val="26345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300216" y="5568696"/>
            <a:ext cx="5230368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F0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Her sayı yeniden üretilebilir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6300216" y="5890565"/>
            <a:ext cx="5230368" cy="3419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786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python3 build_dashboard.py → aynı dosya, aynı sayılar (deterministik)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502920" y="6455664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786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Tüm veriler sentetik / temsili resmi case setleridir — gerçek THY/AMOS verisi değildir.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02920" y="516636"/>
            <a:ext cx="82296" cy="82296"/>
          </a:xfrm>
          <a:prstGeom prst="rect">
            <a:avLst/>
          </a:prstGeom>
          <a:solidFill>
            <a:srgbClr val="4FC1B0"/>
          </a:solidFill>
          <a:ln/>
        </p:spPr>
      </p:sp>
      <p:sp>
        <p:nvSpPr>
          <p:cNvPr id="4" name="Text 1"/>
          <p:cNvSpPr/>
          <p:nvPr/>
        </p:nvSpPr>
        <p:spPr>
          <a:xfrm>
            <a:off x="649224" y="402336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4FC1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· YAPAY ZEKÂ TAHMİN MOTORU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AF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Hibrit ve dürüst: istatistik zemin, öğrenme üstyapı</a:t>
            </a:r>
            <a:endParaRPr lang="en-US" sz="3100" dirty="0"/>
          </a:p>
        </p:txBody>
      </p:sp>
      <p:sp>
        <p:nvSpPr>
          <p:cNvPr id="6" name="Text 3"/>
          <p:cNvSpPr/>
          <p:nvPr/>
        </p:nvSpPr>
        <p:spPr>
          <a:xfrm>
            <a:off x="502920" y="1691640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Mimari: λ = istatistiksel taban × e^(ağ düzeltmesi) — ağ tabanı en çok ~×1,65 oynatabilir; seyrek veride savrulmayı önler.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MLP 128-64-32 · 54 özellik · 10.000 örnek · Poisson kaybı · 3 tohumlu topluluk · en iyi epoch geri yüklenir · koşudan koşuya deterministik.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PN düzeyinde talep kesikli (medyan 11 adet/yıl, %14,6 sıfır çeyrek) → Croston/SBA + Poisson emniyet stoğu; sinir ağı bugün karar YETKİSİZ (öneri modu).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▪"/>
            </a:pPr>
            <a:r>
              <a:rPr lang="en-US" sz="125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Cold-start ana senaryo: öncül analog gruptan + üretici MTBUR; gözlem geldikçe Bayes güncellemesi parçaya yakınsar (dashboard'da canlı demo).</a:t>
            </a:r>
            <a:endParaRPr lang="en-US" sz="12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309360" y="1691640"/>
          <a:ext cx="53492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4"/>
          <p:cNvSpPr/>
          <p:nvPr/>
        </p:nvSpPr>
        <p:spPr>
          <a:xfrm>
            <a:off x="6309360" y="5120640"/>
            <a:ext cx="5349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Mevsim katsayısı (×1,20) toplam hatayı %16,3 → %0,4'e indirir. PN düzeyinde fark yaratmaz (kesiklilik) — iki düzey ayrı yönetilir: parçada Croston/SBA, bütçede mevsim düzeltmesi.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502920" y="6455664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786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Tüm veriler sentetik / temsili resmi case setleridir — gerçek THY/AMOS verisi değildir.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02920" y="516636"/>
            <a:ext cx="82296" cy="82296"/>
          </a:xfrm>
          <a:prstGeom prst="rect">
            <a:avLst/>
          </a:prstGeom>
          <a:solidFill>
            <a:srgbClr val="4FC1B0"/>
          </a:solidFill>
          <a:ln/>
        </p:spPr>
      </p:sp>
      <p:sp>
        <p:nvSpPr>
          <p:cNvPr id="4" name="Text 1"/>
          <p:cNvSpPr/>
          <p:nvPr/>
        </p:nvSpPr>
        <p:spPr>
          <a:xfrm>
            <a:off x="649224" y="402336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4FC1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MAKET DEĞİL — DOĞRULAMA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AF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Aynı çekirdek, üç bağımsız kanıt</a:t>
            </a:r>
            <a:endParaRPr lang="en-US" sz="3100" dirty="0"/>
          </a:p>
        </p:txBody>
      </p:sp>
      <p:sp>
        <p:nvSpPr>
          <p:cNvPr id="6" name="Shape 3"/>
          <p:cNvSpPr/>
          <p:nvPr/>
        </p:nvSpPr>
        <p:spPr>
          <a:xfrm>
            <a:off x="502920" y="1737360"/>
            <a:ext cx="3602736" cy="3383280"/>
          </a:xfrm>
          <a:prstGeom prst="roundRect">
            <a:avLst>
              <a:gd name="adj" fmla="val 1892"/>
            </a:avLst>
          </a:prstGeom>
          <a:solidFill>
            <a:srgbClr val="121B2E"/>
          </a:solidFill>
          <a:ln w="12700">
            <a:solidFill>
              <a:srgbClr val="26345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04088" y="192024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FC1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%97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04088" y="283464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F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Float formülü sahada doğru çıktı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04088" y="3456432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Yalnız talep + TAT'tan tamir döngüsünde 8.012 adet öngördük; envanter verisi geldi: 7.800 adet. Slider ve senaryolar bu motoru kullanır.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288536" y="1737360"/>
            <a:ext cx="3602736" cy="3383280"/>
          </a:xfrm>
          <a:prstGeom prst="roundRect">
            <a:avLst>
              <a:gd name="adj" fmla="val 1892"/>
            </a:avLst>
          </a:prstGeom>
          <a:solidFill>
            <a:srgbClr val="121B2E"/>
          </a:solidFill>
          <a:ln w="12700">
            <a:solidFill>
              <a:srgbClr val="26345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489704" y="192024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06A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numara</a:t>
            </a:r>
            <a:endParaRPr lang="en-US" sz="4000" dirty="0"/>
          </a:p>
        </p:txBody>
      </p:sp>
      <p:sp>
        <p:nvSpPr>
          <p:cNvPr id="12" name="Text 9"/>
          <p:cNvSpPr/>
          <p:nvPr/>
        </p:nvSpPr>
        <p:spPr>
          <a:xfrm>
            <a:off x="4489704" y="283464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F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skorunun birincisi fiilen kırmızı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489704" y="3456432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Skor sıralamasının 1 numarası PN-101741, gerçek stok verisinde TTS 99,5 &lt; TTR 130 ile kırmızıda — üstelik biri el yordamıyla fark edip 14 adet sipariş açmış.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074152" y="1737360"/>
            <a:ext cx="3602736" cy="3383280"/>
          </a:xfrm>
          <a:prstGeom prst="roundRect">
            <a:avLst>
              <a:gd name="adj" fmla="val 1892"/>
            </a:avLst>
          </a:prstGeom>
          <a:solidFill>
            <a:srgbClr val="121B2E"/>
          </a:solidFill>
          <a:ln w="12700">
            <a:solidFill>
              <a:srgbClr val="26345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75320" y="192024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%0,4</a:t>
            </a:r>
            <a:endParaRPr lang="en-US" sz="4000" dirty="0"/>
          </a:p>
        </p:txBody>
      </p:sp>
      <p:sp>
        <p:nvSpPr>
          <p:cNvPr id="16" name="Text 13"/>
          <p:cNvSpPr/>
          <p:nvPr/>
        </p:nvSpPr>
        <p:spPr>
          <a:xfrm>
            <a:off x="8275320" y="283464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F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Görmediği çeyreği bildi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275320" y="3456432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Geriye dönük test: yılın ilk yarısıyla Q3 toplamı tahmin edildi — mevsim katsayılı model gerçek toplamı binde 4 hata ile buldu.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02920" y="5349240"/>
            <a:ext cx="11183112" cy="868680"/>
          </a:xfrm>
          <a:prstGeom prst="roundRect">
            <a:avLst>
              <a:gd name="adj" fmla="val 7368"/>
            </a:avLst>
          </a:prstGeom>
          <a:solidFill>
            <a:srgbClr val="182338"/>
          </a:solidFill>
          <a:ln w="12700">
            <a:solidFill>
              <a:srgbClr val="26345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77240" y="53492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F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Monte Carlo doğrulaması:  </a:t>
            </a:r>
            <a:pPr indent="0" marL="0">
              <a:buNone/>
            </a:pPr>
            <a:r>
              <a:rPr lang="en-US" sz="125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800 denemelik simülasyon, kapalı form Poisson hesabıyla %99,5 uyumda — belirsizlik bandıyla birlikte raporlanır (baz: 371–408 PN).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502920" y="6455664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786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Tüm veriler sentetik / temsili resmi case setleridir — gerçek THY/AMOS verisi değildir.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02920" y="516636"/>
            <a:ext cx="82296" cy="82296"/>
          </a:xfrm>
          <a:prstGeom prst="rect">
            <a:avLst/>
          </a:prstGeom>
          <a:solidFill>
            <a:srgbClr val="4FC1B0"/>
          </a:solidFill>
          <a:ln/>
        </p:spPr>
      </p:sp>
      <p:sp>
        <p:nvSpPr>
          <p:cNvPr id="4" name="Text 1"/>
          <p:cNvSpPr/>
          <p:nvPr/>
        </p:nvSpPr>
        <p:spPr>
          <a:xfrm>
            <a:off x="649224" y="402336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4FC1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· ÖNCELİKLENDİRME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AF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Kısıtlı kaynakla önce ne? Matematiksel cevap</a:t>
            </a:r>
            <a:endParaRPr lang="en-US" sz="31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02920" y="1691640"/>
          <a:ext cx="53949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3"/>
          <p:cNvSpPr/>
          <p:nvPr/>
        </p:nvSpPr>
        <p:spPr>
          <a:xfrm>
            <a:off x="502920" y="5120640"/>
            <a:ext cx="5394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 alım adımı “dolar başına risk azaltımı”yla sıralandı (kritiklik × stok-out olasılığı ÷ fiyat). Eğrinin dikliği: ilk birkaç milyon dolar kazanımın büyük bölümünü alır — tamamı 39,1 M$.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6263640" y="1691640"/>
            <a:ext cx="5394960" cy="1234440"/>
          </a:xfrm>
          <a:prstGeom prst="roundRect">
            <a:avLst>
              <a:gd name="adj" fmla="val 5185"/>
            </a:avLst>
          </a:prstGeom>
          <a:solidFill>
            <a:srgbClr val="121B2E"/>
          </a:solidFill>
          <a:ln w="12700">
            <a:solidFill>
              <a:srgbClr val="263450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391656" y="1773936"/>
            <a:ext cx="5138928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FC1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12,1 M$/yıl + 4,0 M$</a:t>
            </a:r>
            <a:endParaRPr lang="en-US" sz="2100" dirty="0"/>
          </a:p>
        </p:txBody>
      </p:sp>
      <p:sp>
        <p:nvSpPr>
          <p:cNvPr id="10" name="Text 6"/>
          <p:cNvSpPr/>
          <p:nvPr/>
        </p:nvSpPr>
        <p:spPr>
          <a:xfrm>
            <a:off x="6391656" y="2333549"/>
            <a:ext cx="5138928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786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kabiliyet yatırımı (547 PN listesi): yıllık tamir tasarrufu + bir defalık sermaye serbestisi — bugünkü dış harcama 33,6 M$/yıl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6263640" y="3108960"/>
            <a:ext cx="5394960" cy="1234440"/>
          </a:xfrm>
          <a:prstGeom prst="roundRect">
            <a:avLst>
              <a:gd name="adj" fmla="val 5185"/>
            </a:avLst>
          </a:prstGeom>
          <a:solidFill>
            <a:srgbClr val="121B2E"/>
          </a:solidFill>
          <a:ln w="12700">
            <a:solidFill>
              <a:srgbClr val="263450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91656" y="3191256"/>
            <a:ext cx="5138928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23,2 – 44,8 M$</a:t>
            </a:r>
            <a:endParaRPr lang="en-US" sz="2100" dirty="0"/>
          </a:p>
        </p:txBody>
      </p:sp>
      <p:sp>
        <p:nvSpPr>
          <p:cNvPr id="13" name="Text 9"/>
          <p:cNvSpPr/>
          <p:nvPr/>
        </p:nvSpPr>
        <p:spPr>
          <a:xfrm>
            <a:off x="6391656" y="3750869"/>
            <a:ext cx="5138928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786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duyarlılık (tornado): 2033 açığı maliyetini en çok TEDARİK SÜRELERİ oynatır (±%20) — “TAT'ın her günü sermayedir”in sayısal kanıtı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6263640" y="4526280"/>
            <a:ext cx="5394960" cy="1234440"/>
          </a:xfrm>
          <a:prstGeom prst="roundRect">
            <a:avLst>
              <a:gd name="adj" fmla="val 5185"/>
            </a:avLst>
          </a:prstGeom>
          <a:solidFill>
            <a:srgbClr val="121B2E"/>
          </a:solidFill>
          <a:ln w="12700">
            <a:solidFill>
              <a:srgbClr val="263450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391656" y="4608576"/>
            <a:ext cx="5138928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AF0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Faz 1: salt-okunur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6391656" y="5168189"/>
            <a:ext cx="5138928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786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ilk adım yazılım riski almaz: birleşik kayıt + alarm raporu; ilk teslimat gününde 72 siparişsiz kırmızı yakalanır — kapılar takvim değil metrik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502920" y="6455664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786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Tüm veriler sentetik / temsili resmi case setleridir — gerçek THY/AMOS verisi değildir.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02920" y="516636"/>
            <a:ext cx="82296" cy="82296"/>
          </a:xfrm>
          <a:prstGeom prst="rect">
            <a:avLst/>
          </a:prstGeom>
          <a:solidFill>
            <a:srgbClr val="4FC1B0"/>
          </a:solidFill>
          <a:ln/>
        </p:spPr>
      </p:sp>
      <p:sp>
        <p:nvSpPr>
          <p:cNvPr id="4" name="Text 1"/>
          <p:cNvSpPr/>
          <p:nvPr/>
        </p:nvSpPr>
        <p:spPr>
          <a:xfrm>
            <a:off x="649224" y="402336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4FC1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VİZYON · KRİZLERE HAZIRLIK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AF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Kriz, modelde bir parametre şokudur</a:t>
            </a:r>
            <a:endParaRPr lang="en-US" sz="3100" dirty="0"/>
          </a:p>
        </p:txBody>
      </p:sp>
      <p:sp>
        <p:nvSpPr>
          <p:cNvPr id="6" name="Shape 3"/>
          <p:cNvSpPr/>
          <p:nvPr/>
        </p:nvSpPr>
        <p:spPr>
          <a:xfrm>
            <a:off x="502920" y="1691640"/>
            <a:ext cx="5577840" cy="731520"/>
          </a:xfrm>
          <a:prstGeom prst="roundRect">
            <a:avLst>
              <a:gd name="adj" fmla="val 8750"/>
            </a:avLst>
          </a:prstGeom>
          <a:solidFill>
            <a:srgbClr val="121B2E"/>
          </a:solidFill>
          <a:ln w="12700">
            <a:solidFill>
              <a:srgbClr val="26345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85800" y="175564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MOTOR AİLESİ KRİZİ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685800" y="2020824"/>
            <a:ext cx="5257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yeni nesil talep ×1,5 · dış TAT ×1,3 — 2033 filosunun %64'ü 5 modelde: yoğunlaşma verim kadar risk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02920" y="2532888"/>
            <a:ext cx="5577840" cy="731520"/>
          </a:xfrm>
          <a:prstGeom prst="roundRect">
            <a:avLst>
              <a:gd name="adj" fmla="val 8750"/>
            </a:avLst>
          </a:prstGeom>
          <a:solidFill>
            <a:srgbClr val="121B2E"/>
          </a:solidFill>
          <a:ln w="12700">
            <a:solidFill>
              <a:srgbClr val="26345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2596896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PANDEMİ TİPİ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85800" y="2862072"/>
            <a:ext cx="5257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talep şoku + tamir kapasitesi kaybı (TTR ×1,5)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02920" y="3374136"/>
            <a:ext cx="5577840" cy="731520"/>
          </a:xfrm>
          <a:prstGeom prst="roundRect">
            <a:avLst>
              <a:gd name="adj" fmla="val 8750"/>
            </a:avLst>
          </a:prstGeom>
          <a:solidFill>
            <a:srgbClr val="121B2E"/>
          </a:solidFill>
          <a:ln w="12700">
            <a:solidFill>
              <a:srgbClr val="26345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3438144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OEM GECİKMESİ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685800" y="3703320"/>
            <a:ext cx="5257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klasikler geç emekli: phase-out tetikleri kendiliğinden yavaşlar — takvim planı çökerdi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02920" y="4215384"/>
            <a:ext cx="5577840" cy="731520"/>
          </a:xfrm>
          <a:prstGeom prst="roundRect">
            <a:avLst>
              <a:gd name="adj" fmla="val 8750"/>
            </a:avLst>
          </a:prstGeom>
          <a:solidFill>
            <a:srgbClr val="121B2E"/>
          </a:solidFill>
          <a:ln w="12700">
            <a:solidFill>
              <a:srgbClr val="26345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85800" y="427939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LOJİSTİK KRİZİ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685800" y="4544568"/>
            <a:ext cx="5257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dış TAT + satın alma kuyrukları uzar (270 gün hatırlatması)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502920" y="5056632"/>
            <a:ext cx="5577840" cy="731520"/>
          </a:xfrm>
          <a:prstGeom prst="roundRect">
            <a:avLst>
              <a:gd name="adj" fmla="val 8750"/>
            </a:avLst>
          </a:prstGeom>
          <a:solidFill>
            <a:srgbClr val="121B2E"/>
          </a:solidFill>
          <a:ln w="12700">
            <a:solidFill>
              <a:srgbClr val="26345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85800" y="51206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KUR ŞOKU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685800" y="5385816"/>
            <a:ext cx="5257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parçalar USD: FMV/CLP sensörü + nakit koruma modunda BER eşiği bilinçli kaydırılır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400800" y="1691640"/>
            <a:ext cx="5257800" cy="1371600"/>
          </a:xfrm>
          <a:prstGeom prst="roundRect">
            <a:avLst>
              <a:gd name="adj" fmla="val 4667"/>
            </a:avLst>
          </a:prstGeom>
          <a:solidFill>
            <a:srgbClr val="121B2E"/>
          </a:solidFill>
          <a:ln w="12700">
            <a:solidFill>
              <a:srgbClr val="26345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528816" y="1773936"/>
            <a:ext cx="5001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6A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134 → 477</a:t>
            </a:r>
            <a:endParaRPr lang="en-US" sz="3000" dirty="0"/>
          </a:p>
        </p:txBody>
      </p:sp>
      <p:sp>
        <p:nvSpPr>
          <p:cNvPr id="23" name="Text 20"/>
          <p:cNvSpPr/>
          <p:nvPr/>
        </p:nvSpPr>
        <p:spPr>
          <a:xfrm>
            <a:off x="6528816" y="2404872"/>
            <a:ext cx="50017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786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krizinde kırmızı PN (canlı stres testi, 5.000 PN yeniden hesap)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6400800" y="3246120"/>
            <a:ext cx="5257800" cy="1371600"/>
          </a:xfrm>
          <a:prstGeom prst="roundRect">
            <a:avLst>
              <a:gd name="adj" fmla="val 4667"/>
            </a:avLst>
          </a:prstGeom>
          <a:solidFill>
            <a:srgbClr val="121B2E"/>
          </a:solidFill>
          <a:ln w="12700">
            <a:solidFill>
              <a:srgbClr val="26345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528816" y="3328416"/>
            <a:ext cx="5001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796 PN · 39,4 M$</a:t>
            </a:r>
            <a:endParaRPr lang="en-US" sz="2100" dirty="0"/>
          </a:p>
        </p:txBody>
      </p:sp>
      <p:sp>
        <p:nvSpPr>
          <p:cNvPr id="26" name="Text 23"/>
          <p:cNvSpPr/>
          <p:nvPr/>
        </p:nvSpPr>
        <p:spPr>
          <a:xfrm>
            <a:off x="6528816" y="3959352"/>
            <a:ext cx="50017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786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Monte Carlo aynı senaryoda: tedarik penceresini çıkaramayacak PN ve ek ihtiyaç (P90: 41,4 M$)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6400800" y="4800600"/>
            <a:ext cx="5257800" cy="1280160"/>
          </a:xfrm>
          <a:prstGeom prst="roundRect">
            <a:avLst>
              <a:gd name="adj" fmla="val 5000"/>
            </a:avLst>
          </a:prstGeom>
          <a:solidFill>
            <a:srgbClr val="121B2E"/>
          </a:solidFill>
          <a:ln w="12700">
            <a:solidFill>
              <a:srgbClr val="26345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528816" y="4882896"/>
            <a:ext cx="50017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AF0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Çeyreklik war-game</a:t>
            </a:r>
            <a:endParaRPr lang="en-US" sz="1700" dirty="0"/>
          </a:p>
        </p:txBody>
      </p:sp>
      <p:sp>
        <p:nvSpPr>
          <p:cNvPr id="29" name="Text 26"/>
          <p:cNvSpPr/>
          <p:nvPr/>
        </p:nvSpPr>
        <p:spPr>
          <a:xfrm>
            <a:off x="6528816" y="5466283"/>
            <a:ext cx="5001768" cy="563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786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 çeyrek bir senaryo canlı koşulur; playbook (tahsis kuralları, ön yetkiler) krizden ÖNCE yazılır — kriz anında ilk kez düşünülmez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502920" y="6455664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786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Tüm veriler sentetik / temsili resmi case setleridir — gerçek THY/AMOS verisi değildir.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02920" y="516636"/>
            <a:ext cx="82296" cy="82296"/>
          </a:xfrm>
          <a:prstGeom prst="rect">
            <a:avLst/>
          </a:prstGeom>
          <a:solidFill>
            <a:srgbClr val="4FC1B0"/>
          </a:solidFill>
          <a:ln/>
        </p:spPr>
      </p:sp>
      <p:sp>
        <p:nvSpPr>
          <p:cNvPr id="4" name="Text 1"/>
          <p:cNvSpPr/>
          <p:nvPr/>
        </p:nvSpPr>
        <p:spPr>
          <a:xfrm>
            <a:off x="649224" y="402336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4FC1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· BAŞARI KRİTERLERİ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502920" y="566928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AF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Çalıştığını nasıl anlarız?</a:t>
            </a:r>
            <a:endParaRPr lang="en-US" sz="31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2670048" cy="1874520"/>
          </a:xfrm>
          <a:prstGeom prst="roundRect">
            <a:avLst>
              <a:gd name="adj" fmla="val 3415"/>
            </a:avLst>
          </a:prstGeom>
          <a:solidFill>
            <a:srgbClr val="121B2E"/>
          </a:solidFill>
          <a:ln w="12700">
            <a:solidFill>
              <a:srgbClr val="26345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67512" y="1929384"/>
            <a:ext cx="23408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C1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AOG uçak oranı ↓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67512" y="2624328"/>
            <a:ext cx="2340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parça kaynaklı AOG saati ve yerde bekleyen uçak yüzdesi — ANA METRİK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355848" y="1783080"/>
            <a:ext cx="2670048" cy="1874520"/>
          </a:xfrm>
          <a:prstGeom prst="roundRect">
            <a:avLst>
              <a:gd name="adj" fmla="val 3415"/>
            </a:avLst>
          </a:prstGeom>
          <a:solidFill>
            <a:srgbClr val="121B2E"/>
          </a:solidFill>
          <a:ln w="12700">
            <a:solidFill>
              <a:srgbClr val="26345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520440" y="1929384"/>
            <a:ext cx="23408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6A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72 → 0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3520440" y="2624328"/>
            <a:ext cx="2340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siparişsiz kırmızı: alarm-aksiyon bağı zorunlu; “alarm var sipariş yok” imkânsızlaşır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208776" y="1783080"/>
            <a:ext cx="2670048" cy="1874520"/>
          </a:xfrm>
          <a:prstGeom prst="roundRect">
            <a:avLst>
              <a:gd name="adj" fmla="val 3415"/>
            </a:avLst>
          </a:prstGeom>
          <a:solidFill>
            <a:srgbClr val="121B2E"/>
          </a:solidFill>
          <a:ln w="12700">
            <a:solidFill>
              <a:srgbClr val="26345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373368" y="1929384"/>
            <a:ext cx="23408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AF0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≥ %97–98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6373368" y="2624328"/>
            <a:ext cx="2340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kritik parça karşılama oranı (fill rate) — servis hedefi kritiklikle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9061704" y="1783080"/>
            <a:ext cx="2670048" cy="1874520"/>
          </a:xfrm>
          <a:prstGeom prst="roundRect">
            <a:avLst>
              <a:gd name="adj" fmla="val 3415"/>
            </a:avLst>
          </a:prstGeom>
          <a:solidFill>
            <a:srgbClr val="121B2E"/>
          </a:solidFill>
          <a:ln w="12700">
            <a:solidFill>
              <a:srgbClr val="26345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226296" y="1929384"/>
            <a:ext cx="23408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AF0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Erken yakalama ↑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9226296" y="2624328"/>
            <a:ext cx="2340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stok bitişlerinin tedarik süresi DOLMADAN yakalanma oranı — alarm kalitesi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02920" y="3886200"/>
            <a:ext cx="2670048" cy="1874520"/>
          </a:xfrm>
          <a:prstGeom prst="roundRect">
            <a:avLst>
              <a:gd name="adj" fmla="val 3415"/>
            </a:avLst>
          </a:prstGeom>
          <a:solidFill>
            <a:srgbClr val="121B2E"/>
          </a:solidFill>
          <a:ln w="12700">
            <a:solidFill>
              <a:srgbClr val="26345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67512" y="4032504"/>
            <a:ext cx="23408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B8C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MAPE + kabul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667512" y="4727448"/>
            <a:ext cx="2340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tahmin doğruluğu ve öneri kabul oranı — faz kapıları bu eşiklerle açılır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3355848" y="3886200"/>
            <a:ext cx="2670048" cy="1874520"/>
          </a:xfrm>
          <a:prstGeom prst="roundRect">
            <a:avLst>
              <a:gd name="adj" fmla="val 3415"/>
            </a:avLst>
          </a:prstGeom>
          <a:solidFill>
            <a:srgbClr val="121B2E"/>
          </a:solidFill>
          <a:ln w="12700">
            <a:solidFill>
              <a:srgbClr val="26345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520440" y="4032504"/>
            <a:ext cx="23408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Guard-rail: 23,3 M$</a:t>
            </a:r>
            <a:endParaRPr lang="en-US" sz="1700" dirty="0"/>
          </a:p>
        </p:txBody>
      </p:sp>
      <p:sp>
        <p:nvSpPr>
          <p:cNvPr id="23" name="Text 20"/>
          <p:cNvSpPr/>
          <p:nvPr/>
        </p:nvSpPr>
        <p:spPr>
          <a:xfrm>
            <a:off x="3520440" y="4727448"/>
            <a:ext cx="2340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bağlı sermaye ve devir hızı: servis, sermaye şişirerek değil TAT kısaltarak korunur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208776" y="3886200"/>
            <a:ext cx="2670048" cy="1874520"/>
          </a:xfrm>
          <a:prstGeom prst="roundRect">
            <a:avLst>
              <a:gd name="adj" fmla="val 3415"/>
            </a:avLst>
          </a:prstGeom>
          <a:solidFill>
            <a:srgbClr val="121B2E"/>
          </a:solidFill>
          <a:ln w="12700">
            <a:solidFill>
              <a:srgbClr val="26345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373368" y="4032504"/>
            <a:ext cx="23408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AF0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Expedite ↓</a:t>
            </a:r>
            <a:endParaRPr lang="en-US" sz="1700" dirty="0"/>
          </a:p>
        </p:txBody>
      </p:sp>
      <p:sp>
        <p:nvSpPr>
          <p:cNvPr id="26" name="Text 23"/>
          <p:cNvSpPr/>
          <p:nvPr/>
        </p:nvSpPr>
        <p:spPr>
          <a:xfrm>
            <a:off x="6373368" y="4727448"/>
            <a:ext cx="2340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erken yakalanan alarm ucuz kanaldan çözülür; acil kargo harcaması düşer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9061704" y="3886200"/>
            <a:ext cx="2670048" cy="1874520"/>
          </a:xfrm>
          <a:prstGeom prst="roundRect">
            <a:avLst>
              <a:gd name="adj" fmla="val 3415"/>
            </a:avLst>
          </a:prstGeom>
          <a:solidFill>
            <a:srgbClr val="121B2E"/>
          </a:solidFill>
          <a:ln w="12700">
            <a:solidFill>
              <a:srgbClr val="26345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226296" y="4032504"/>
            <a:ext cx="23408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AF0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Scrap izlenir</a:t>
            </a:r>
            <a:endParaRPr lang="en-US" sz="1700" dirty="0"/>
          </a:p>
        </p:txBody>
      </p:sp>
      <p:sp>
        <p:nvSpPr>
          <p:cNvPr id="29" name="Text 26"/>
          <p:cNvSpPr/>
          <p:nvPr/>
        </p:nvSpPr>
        <p:spPr>
          <a:xfrm>
            <a:off x="9226296" y="4727448"/>
            <a:ext cx="2340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oran %11,1 + anomali dedektörü (159 PN); BER kuralı 67,8 M$/yıl musluğun vanası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502920" y="6455664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786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Tüm veriler sentetik / temsili resmi case setleridir — gerçek THY/AMOS verisi değildir.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02920" y="818388"/>
            <a:ext cx="82296" cy="82296"/>
          </a:xfrm>
          <a:prstGeom prst="rect">
            <a:avLst/>
          </a:prstGeom>
          <a:solidFill>
            <a:srgbClr val="4FC1B0"/>
          </a:solidFill>
          <a:ln/>
        </p:spPr>
      </p:sp>
      <p:sp>
        <p:nvSpPr>
          <p:cNvPr id="4" name="Text 1"/>
          <p:cNvSpPr/>
          <p:nvPr/>
        </p:nvSpPr>
        <p:spPr>
          <a:xfrm>
            <a:off x="649224" y="704088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4FC1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KAPANIŞ · VİZYON 2033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502920" y="1325880"/>
            <a:ext cx="111556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i="1" dirty="0">
                <a:solidFill>
                  <a:srgbClr val="EAF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“2033'e daha büyük bir depoyla değil; her parçanın görünür, her kararın kurallı, her planın parametrik ve her krizin önceden prova edilmiş olduğu bir işletim modeliyle gidilir.”</a:t>
            </a:r>
            <a:endParaRPr lang="en-US" sz="2300" dirty="0"/>
          </a:p>
        </p:txBody>
      </p:sp>
      <p:sp>
        <p:nvSpPr>
          <p:cNvPr id="6" name="Text 3"/>
          <p:cNvSpPr/>
          <p:nvPr/>
        </p:nvSpPr>
        <p:spPr>
          <a:xfrm>
            <a:off x="502920" y="306324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C1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Kontrol Kulesi, bu modelin yazılım hâlidir.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502920" y="3794760"/>
            <a:ext cx="3602736" cy="1417320"/>
          </a:xfrm>
          <a:prstGeom prst="roundRect">
            <a:avLst>
              <a:gd name="adj" fmla="val 4516"/>
            </a:avLst>
          </a:prstGeom>
          <a:solidFill>
            <a:srgbClr val="121B2E"/>
          </a:solidFill>
          <a:ln w="12700">
            <a:solidFill>
              <a:srgbClr val="26345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30936" y="3877056"/>
            <a:ext cx="334670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67,8 M$/yıl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30936" y="4531766"/>
            <a:ext cx="3346704" cy="6236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786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hurda ikame musluğu — BER kuralıyla vanaya bağlanır (2033: 113,6 M$)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288536" y="3794760"/>
            <a:ext cx="3602736" cy="1417320"/>
          </a:xfrm>
          <a:prstGeom prst="roundRect">
            <a:avLst>
              <a:gd name="adj" fmla="val 4516"/>
            </a:avLst>
          </a:prstGeom>
          <a:solidFill>
            <a:srgbClr val="121B2E"/>
          </a:solidFill>
          <a:ln w="12700">
            <a:solidFill>
              <a:srgbClr val="26345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416552" y="3877056"/>
            <a:ext cx="334670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B8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23,3 → 39,0 M$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4416552" y="4531766"/>
            <a:ext cx="3346704" cy="6236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786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tamir döngüsü sermayesi — TAT programı + kabiliyetle sınırlanır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74152" y="3794760"/>
            <a:ext cx="3602736" cy="1417320"/>
          </a:xfrm>
          <a:prstGeom prst="roundRect">
            <a:avLst>
              <a:gd name="adj" fmla="val 4516"/>
            </a:avLst>
          </a:prstGeom>
          <a:solidFill>
            <a:srgbClr val="121B2E"/>
          </a:solidFill>
          <a:ln w="12700">
            <a:solidFill>
              <a:srgbClr val="26345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02168" y="3877056"/>
            <a:ext cx="334670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B8C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52,0 M$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8202168" y="4531766"/>
            <a:ext cx="3346704" cy="6236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786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phase-out stoğu — takvimle değil sinyalle eritilir (last-time-buy tetikleri)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502920" y="557784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A8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Teşekkürler — canlı demo ve tüm sayıların yeniden üretimi için hazırız.  ·  Grup 9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502920" y="6455664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7869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Tüm veriler sentetik / temsili resmi case setleridir — gerçek THY/AMOS verisi değildir.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2026-07-23T12:52:51Z</dcterms:created>
  <dcterms:modified xsi:type="dcterms:W3CDTF">2026-07-23T12:52:51Z</dcterms:modified>
</cp:coreProperties>
</file>