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8C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AA8C0"/>
                </a:solidFill>
                <a:latin typeface="Arial"/>
              </a:rPr>
              <a:t>Yıllık komponent talebi (adet) — kompozisyon göçü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Yeni nesil (5 model)</c:v>
                </c:pt>
              </c:strCache>
            </c:strRef>
          </c:tx>
          <c:spPr>
            <a:solidFill>
              <a:srgbClr val="4FC1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30357</c:v>
                </c:pt>
                <c:pt idx="1">
                  <c:v>97741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Diğer</c:v>
                </c:pt>
              </c:strCache>
            </c:strRef>
          </c:tx>
          <c:spPr>
            <a:solidFill>
              <a:srgbClr val="5B8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2033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21098</c:v>
                </c:pt>
                <c:pt idx="1">
                  <c:v>29160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Küçülen 4 klasik</c:v>
                </c:pt>
              </c:strCache>
            </c:strRef>
          </c:tx>
          <c:spPr>
            <a:solidFill>
              <a:srgbClr val="7786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2033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38561</c:v>
                </c:pt>
                <c:pt idx="1">
                  <c:v>23872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45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6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AA8C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8C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AA8C0"/>
                </a:solidFill>
                <a:latin typeface="Arial"/>
              </a:rPr>
              <a:t>Geriye dönük test: Q3'ü yalnız Q1–Q2 ile tahmin 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Toplam düzeyde hata (%)</c:v>
                </c:pt>
              </c:strCache>
            </c:strRef>
          </c:tx>
          <c:spPr>
            <a:solidFill>
              <a:srgbClr val="77869C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0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786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786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786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1B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(Q2)</c:v>
                  </c:pt>
                  <c:pt idx="1">
                    <c:v>2Ç ortalaması</c:v>
                  </c:pt>
                  <c:pt idx="2">
                    <c:v>SBA</c:v>
                  </c:pt>
                  <c:pt idx="3">
                    <c:v>SBA × mevsim kats.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13.3</c:v>
                </c:pt>
                <c:pt idx="1">
                  <c:v>17.1</c:v>
                </c:pt>
                <c:pt idx="2">
                  <c:v>16.3</c:v>
                </c:pt>
                <c:pt idx="3">
                  <c:v>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AF0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AA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45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6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8C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AA8C0"/>
                </a:solidFill>
                <a:latin typeface="Arial"/>
              </a:rPr>
              <a:t>Bütçe (M$) → önerilen MIN'e kapanan PN sayısı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Kapanan açık PN</c:v>
                </c:pt>
              </c:strCache>
            </c:strRef>
          </c:tx>
          <c:spPr>
            <a:solidFill>
              <a:srgbClr val="4FC1B0"/>
            </a:solidFill>
            <a:ln w="31750" cap="flat">
              <a:solidFill>
                <a:srgbClr val="4FC1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C1B0"/>
              </a:solidFill>
              <a:ln w="9525" cap="flat">
                <a:solidFill>
                  <a:srgbClr val="4FC1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0</c:v>
                  </c:pt>
                  <c:pt idx="2">
                    <c:v>1</c:v>
                  </c:pt>
                  <c:pt idx="3">
                    <c:v>2</c:v>
                  </c:pt>
                  <c:pt idx="4">
                    <c:v>3</c:v>
                  </c:pt>
                  <c:pt idx="5">
                    <c:v>5</c:v>
                  </c:pt>
                  <c:pt idx="6">
                    <c:v>7</c:v>
                  </c:pt>
                  <c:pt idx="7">
                    <c:v>10</c:v>
                  </c:pt>
                  <c:pt idx="8">
                    <c:v>14</c:v>
                  </c:pt>
                  <c:pt idx="9">
                    <c:v>17</c:v>
                  </c:pt>
                  <c:pt idx="10">
                    <c:v>23</c:v>
                  </c:pt>
                  <c:pt idx="11">
                    <c:v>29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9</c:v>
                </c:pt>
                <c:pt idx="3">
                  <c:v>46</c:v>
                </c:pt>
                <c:pt idx="4">
                  <c:v>105</c:v>
                </c:pt>
                <c:pt idx="5">
                  <c:v>190</c:v>
                </c:pt>
                <c:pt idx="6">
                  <c:v>301</c:v>
                </c:pt>
                <c:pt idx="7">
                  <c:v>432</c:v>
                </c:pt>
                <c:pt idx="8">
                  <c:v>600</c:v>
                </c:pt>
                <c:pt idx="9">
                  <c:v>840</c:v>
                </c:pt>
                <c:pt idx="10">
                  <c:v>1113</c:v>
                </c:pt>
                <c:pt idx="11">
                  <c:v>1441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77869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77869C"/>
                    </a:solidFill>
                    <a:latin typeface="Arial"/>
                  </a:rPr>
                  <a:t>kümülatif bütçe (M$)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786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4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6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tek cümlede konsept — uçaklar için kule var, komponentler için yok. Sayılar ekranda: filo %67 büyürken talep bandı +%63–68. Hepsi üç resmi CSV'den hesaplandı ve yeniden üretilebilir.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mesaj: hacim yönetilebilir, kompozisyon kırılması yönetilmez ise kriz olur. Talebin üçte ikisi geçmişi olmayan parçalara kayıyor; kategori büyümeleri iki kat ayrışıyor — tek çarpanlı plan matematiksel olarak yanlış.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Boşluğu nasıl bulduk: saha gözlemi (9 başkanlık, 4–5 kopuk sistem) + resmi stok verisiyle TTS&lt;TTR koşulunu hesaplayan ilk analiz. 72 siparişsiz kırmızı, eksik karar katmanının ölçülmüş hâlidir — sorun para değil (0,7 M$), görünürlük.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katman tek çatı: Seçenek D, A+B+C'yi kapsar. Kritik mimari karar: hiçbir kaynağa yazmıyoruz — CDC ile okuyoruz. AMOS/TRAX yer değiştirmiyor; üstlerine karar katmanı geliyor. Fazlar takvimle değil metrikle geçilir.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tek HTML dosyası — internetsiz çalışır. Beş ekran aynı doğrulanmış çekirdekten beslenir. Jüri parametre değiştirmek isterse Senaryo sekmesindeki canlı panelden ağırlıkları oynatıyoruz; sayılar tarayıcıda yeniden hesaplanıyor.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Dürüstlük stratejisi: 4 çeyrek veriyle sinir ağı klasikleri geçemez — bunu biz söylüyoruz. Ama geriye dönük test mevsim katsayısının toplam planlamada hatayı binde dörde indirdiğini gösteriyor. AI'ın rolü: bugün öneri modunda, AMOS olay verisi bağlanınca devreye.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Jürinin “projeksiyon güvenilir mi” sorusunun cevabı bu slayt. Üç bağımsız kanıt + Monte Carlo uyumu. Hepsi geriye dönük ve yeniden üretilebilir; demo maket değil, doğrulanmış çekirdeğin ekranı.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Rubrik 5: kısıt varsa önce ne? Cevap üç katmanda: Faz 1 salt-okunur görünürlük (ilk gün 72 yakalanır); kısıtlı stok bütçesi sınır eğrisiyle harcanır (ilk milyonlar en dik); yazılım dışı en iyi yatırım kabiliyet (12,1 M$/yıl). Tornado: en büyük kaldıraç 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Organizatör brief'inin üçüncü sütunu. Kriz = parametre şoku: TTS kısalır ya da TTR uzar. Senaryo kütüphanesi + tek tık stres testi + çeyreklik war-game. Motor krizi canlı: kırmızı 134→477; Monte Carlo aynı senaryoda 796 PN / 39,4 M$ 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Rubrik 6: işe yaradığını nasıl anlarız. Ana metrik AOG'da bekleyen uçak oranının düşmesi — her saat doğrudan gelir kaybı. Sistemik hedef: siparişsiz kırmızı sıfır. Otomasyona geçiş MAPE + öneri kabul eşiğiyle.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cümlesi ezber: 2033'e daha büyük depoyla değil, her parçanın görünür, her kararın kurallı, her planın parametrik, her krizin prova edilmiş olduğu bir işletim modeliyle gidilir. Üç musluk + teşekkür. Sorulara hazırız.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818388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7040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TALENT BRIDGE · FİLO BÜYÜR, ENVANTER HAZIR MI? · SEÇENEK 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 Kontrol Kulesi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02920" y="22860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Uçaklar için kule var, komponentler için yok. 5.000 parça numarası için görünürlük + öngörü + aksiyon katmanı — kayıt sistemlerinin üzerine, hiçbirine yazmadan.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02920" y="3566160"/>
            <a:ext cx="3602736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3648456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1.200 → 2.000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30936" y="4279392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uçak, 2025 → 2033 (+%67) — bakım kapasitesi hedefi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8536" y="3566160"/>
            <a:ext cx="3602736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6552" y="3648456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+%63–68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416552" y="4279392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 talep bandı — nokta tahmin değil, bant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74152" y="3566160"/>
            <a:ext cx="3602736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3648456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8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%34 → %65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02168" y="4279392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nesil modellerin talep payı — büyüme değil GÖÇ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 3 · prototip: tek dosyalık canlı dashboard + doğrulanmış hesap çekirdeği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PROBLEMİN TANIMLANMASI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büyüme değil, göç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 90.016 → 146.882–150.775 adet/yıl (+%63–68 bandı; iki yöntem, şeffaf varsayımlar).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Asıl kırılma: yeni nesil modellerin talep payı %33,7 → %64,8 — geçmiş verisi olmayan parçalar ana senaryo hâline geliyor (cold-start).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büyümeleri ayrışıyor: Oxygen +%40 ↔ Electrical Power +%91. Tek çarpanlı plan iki ucda da yanılır; kategori × model × segment şart.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Portföyün %44'ü (2.192 PN), talebi üçte birine düşecek 4 klasik modele bağlı — 52,0 M$ stok phase-out riski altında.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Dürüstlük: THY uçağı 130,1, pool uçağı 35,7 adet/yıl üretiyor (3,6×) — anomaliyi gizlemedik, mentora taşıdık.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0" y="1645920"/>
          <a:ext cx="5257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MEVCUT DURUM ANALİZİ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süreç kendi alarmını göremiyor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Satış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00200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46504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46504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Planlama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43784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90088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90088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Satın Alma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87368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33672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33672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Lojistik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330952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77256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77256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Gümrük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74536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20840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0840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Tesellüm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818120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64424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64424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Depolar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061704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208008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08008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Atölyeler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305288" y="1691640"/>
            <a:ext cx="18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451592" y="1691640"/>
            <a:ext cx="1133856" cy="475488"/>
          </a:xfrm>
          <a:prstGeom prst="roundRect">
            <a:avLst>
              <a:gd name="adj" fmla="val 13462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451592" y="169164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Komp. Hizmetleri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23774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komponent ~9 başkanlıktan geçiyor; kayıt 4–5 kopuk sistemde (TRAX, “Mars”, ÜPK, depo/bin-raf, ayrı tool-tracking). Her devirde veri kopuyor; bozulan parça için süreç reaktif bir telefon merdiveni. (Kaynak: saha gözlemi — birincil.)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02920" y="3291840"/>
            <a:ext cx="5394960" cy="2834640"/>
          </a:xfrm>
          <a:prstGeom prst="roundRect">
            <a:avLst>
              <a:gd name="adj" fmla="val 2258"/>
            </a:avLst>
          </a:prstGeom>
          <a:solidFill>
            <a:srgbClr val="121B2E"/>
          </a:solidFill>
          <a:ln w="17780">
            <a:solidFill>
              <a:srgbClr val="6E22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" y="35204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PN</a:t>
            </a:r>
            <a:endParaRPr lang="en-US" sz="5400" dirty="0"/>
          </a:p>
        </p:txBody>
      </p:sp>
      <p:sp>
        <p:nvSpPr>
          <p:cNvPr id="35" name="Text 32"/>
          <p:cNvSpPr/>
          <p:nvPr/>
        </p:nvSpPr>
        <p:spPr>
          <a:xfrm>
            <a:off x="777240" y="45720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kırmızıda (stok, toparlanma süresinden önce bitecek) ve açık siparişi YOK — 11'i AOG kritik. Alarm koşulu aylardır sağlanmış; hesaplayan bir süreç olmadığı için aksiyon doğmamış.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172200" y="3291840"/>
            <a:ext cx="265176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0216" y="3374136"/>
            <a:ext cx="23957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6300216" y="3981298"/>
            <a:ext cx="2395728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kırmızı PN — TTS &lt; TTR (5.000 içinde)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006840" y="3291840"/>
            <a:ext cx="265176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34856" y="3374136"/>
            <a:ext cx="23957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 M$</a:t>
            </a:r>
            <a:endParaRPr lang="en-US" sz="2400" dirty="0"/>
          </a:p>
        </p:txBody>
      </p:sp>
      <p:sp>
        <p:nvSpPr>
          <p:cNvPr id="41" name="Text 38"/>
          <p:cNvSpPr/>
          <p:nvPr/>
        </p:nvSpPr>
        <p:spPr>
          <a:xfrm>
            <a:off x="9134856" y="3981298"/>
            <a:ext cx="2395728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tamamını kapatma maliyeti — sorun para değil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172200" y="4800600"/>
            <a:ext cx="265176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00216" y="4882896"/>
            <a:ext cx="23957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~0,4 M$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300216" y="5490058"/>
            <a:ext cx="2395728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fazla + ölü stok — “şişkinlik” miti veriyle çürüdü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006840" y="4800600"/>
            <a:ext cx="265176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34856" y="4882896"/>
            <a:ext cx="23957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gün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9134856" y="5490058"/>
            <a:ext cx="2395728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medyan hayatta kalma süresi — genel tablo sağlıklı, denge kör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TTS = stok / günlük talep · TTR = tamir-tedarik süresi · 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ÇÖZÜM ÖNERİLERİ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Kulesi: üç katman, salt-okunur mimari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6675120" cy="1024128"/>
          </a:xfrm>
          <a:prstGeom prst="roundRect">
            <a:avLst>
              <a:gd name="adj" fmla="val 62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920240"/>
            <a:ext cx="475488" cy="475488"/>
          </a:xfrm>
          <a:prstGeom prst="ellipse">
            <a:avLst/>
          </a:prstGeom>
          <a:solidFill>
            <a:srgbClr val="4FC1B0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71907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GÖRÜNÜRLÜK  </a:t>
            </a:r>
            <a:pPr indent="0" marL="0">
              <a:buNone/>
            </a:pPr>
            <a:r>
              <a:rPr lang="en-US" sz="100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02996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komponent kaydı + olay-kaynaklı durum makinesi; gerçek TAT beyandan değil olay farkından. Sermaye kokpiti. İlk gün değeri: 72 siparişsiz kırmızının yakalanması.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816352"/>
            <a:ext cx="6675120" cy="1024128"/>
          </a:xfrm>
          <a:prstGeom prst="roundRect">
            <a:avLst>
              <a:gd name="adj" fmla="val 62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3090672"/>
            <a:ext cx="475488" cy="475488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288950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ÖNGÖRÜ  </a:t>
            </a:r>
            <a:pPr indent="0" marL="0">
              <a:buNone/>
            </a:pPr>
            <a:r>
              <a:rPr lang="en-US" sz="1000" dirty="0">
                <a:solidFill>
                  <a:srgbClr val="5B8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71600" y="3200400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ABC×XYZ segmentasyonu; Croston/SBA + Poisson emniyet stoğu; filo-sürücülü bant projeksiyonu; cold-start (analog + Bayes); dinamik min-max — insan onaylı öneri modu.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986784"/>
            <a:ext cx="6675120" cy="1024128"/>
          </a:xfrm>
          <a:prstGeom prst="roundRect">
            <a:avLst>
              <a:gd name="adj" fmla="val 62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" y="4261104"/>
            <a:ext cx="475488" cy="475488"/>
          </a:xfrm>
          <a:prstGeom prst="ellipse">
            <a:avLst/>
          </a:prstGeom>
          <a:solidFill>
            <a:srgbClr val="9B8CE8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1600" y="405993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AKSİYON  </a:t>
            </a:r>
            <a:pPr indent="0" marL="0">
              <a:buNone/>
            </a:pPr>
            <a:r>
              <a:rPr lang="en-US" sz="1000" dirty="0">
                <a:solidFill>
                  <a:srgbClr val="9B8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 2–3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71600" y="4370832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TTS&lt;TTR alarmı → zorunlu aksiyon kaydı; eskalasyon merdiveni süre+maliyetle puanlanır; BER motoru, gayrifaal kuyruğu, phase-out tetikleri, pool koordinasyonu.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06640" y="1645920"/>
            <a:ext cx="4279392" cy="3566160"/>
          </a:xfrm>
          <a:prstGeom prst="roundRect">
            <a:avLst>
              <a:gd name="adj" fmla="val 1795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3524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MİMARİ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35240" y="21579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AMOS · TRAX · “Mars” · ÜPK · depo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635240" y="2468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CDC — SALT OKUNUR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635240" y="27797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Olay omurgası (event-sourced)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35240" y="3090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35240" y="34015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veri modeli (PN+durum+konum)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35240" y="37124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635240" y="40233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Motorlar: tahmin · min-max · alarm · senaryo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35240" y="43342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635240" y="4645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Kulesi ekranları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635240" y="4882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GERİ YAZMA YOK — kaynaklara dokunulmaz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02920" y="53492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Yazılım-dışı 4. öneri: 547 parçalık listeye atölye kabiliyeti yatırımı — 12,1 M$/yıl tasarruf + 4,0 M$ sermaye serbestisi.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PROTOTİP / DEMO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prototip: 5 ekran, tek doğrulanmış çekirdek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2130552" cy="3429000"/>
          </a:xfrm>
          <a:prstGeom prst="roundRect">
            <a:avLst>
              <a:gd name="adj" fmla="val 3004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975104"/>
            <a:ext cx="100584" cy="100584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KOKPİT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" y="237744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132,9 M$ sermaye fotoğrafı + üç para musluğu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siparişsiz kırmızı vurgusu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 + yol haritası + veri boşlukları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98064" y="1783080"/>
            <a:ext cx="2130552" cy="3429000"/>
          </a:xfrm>
          <a:prstGeom prst="roundRect">
            <a:avLst>
              <a:gd name="adj" fmla="val 3004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62656" y="1975104"/>
            <a:ext cx="100584" cy="100584"/>
          </a:xfrm>
          <a:prstGeom prst="rect">
            <a:avLst/>
          </a:prstGeom>
          <a:solidFill>
            <a:srgbClr val="E06A6A"/>
          </a:solidFill>
          <a:ln/>
        </p:spPr>
      </p:sp>
      <p:sp>
        <p:nvSpPr>
          <p:cNvPr id="12" name="Text 9"/>
          <p:cNvSpPr/>
          <p:nvPr/>
        </p:nvSpPr>
        <p:spPr>
          <a:xfrm>
            <a:off x="3127248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WATCHLIST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62656" y="237744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5.000 PN risk sıralı, 8 filtre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aksiyon merdiveni (süre + maliyet)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Poisson stok-out eğrisi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93208" y="1783080"/>
            <a:ext cx="2130552" cy="3429000"/>
          </a:xfrm>
          <a:prstGeom prst="roundRect">
            <a:avLst>
              <a:gd name="adj" fmla="val 3004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1975104"/>
            <a:ext cx="100584" cy="100584"/>
          </a:xfrm>
          <a:prstGeom prst="rect">
            <a:avLst/>
          </a:prstGeom>
          <a:solidFill>
            <a:srgbClr val="9B8CE8"/>
          </a:solidFill>
          <a:ln/>
        </p:spPr>
      </p:sp>
      <p:sp>
        <p:nvSpPr>
          <p:cNvPr id="16" name="Text 13"/>
          <p:cNvSpPr/>
          <p:nvPr/>
        </p:nvSpPr>
        <p:spPr>
          <a:xfrm>
            <a:off x="5422392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8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ÖNGÖRÜ &amp; AI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57800" y="237744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ABC×XYZ + bant + göç + hurda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tahmin gezgini + hata analizi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canlı Bayes demosu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88352" y="1783080"/>
            <a:ext cx="2130552" cy="3429000"/>
          </a:xfrm>
          <a:prstGeom prst="roundRect">
            <a:avLst>
              <a:gd name="adj" fmla="val 3004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52944" y="1975104"/>
            <a:ext cx="100584" cy="100584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20" name="Text 17"/>
          <p:cNvSpPr/>
          <p:nvPr/>
        </p:nvSpPr>
        <p:spPr>
          <a:xfrm>
            <a:off x="7717536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HARİTA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52944" y="237744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Türkiye: 16 havalimanı, gerçek kontur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küresel ağ: 9 hub, İstanbul merkezli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kriz katmanı + akış okları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683496" y="1783080"/>
            <a:ext cx="2130552" cy="3429000"/>
          </a:xfrm>
          <a:prstGeom prst="roundRect">
            <a:avLst>
              <a:gd name="adj" fmla="val 3004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48088" y="1975104"/>
            <a:ext cx="100584" cy="1005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1"/>
          <p:cNvSpPr/>
          <p:nvPr/>
        </p:nvSpPr>
        <p:spPr>
          <a:xfrm>
            <a:off x="10012680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SENARYO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848088" y="237744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kriz kütüphanesi → canlı hesap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 modu: parametre kaydırıcıları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+ duyarlılık + optimizasyon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5486400"/>
            <a:ext cx="5486400" cy="777240"/>
          </a:xfrm>
          <a:prstGeom prst="roundRect">
            <a:avLst>
              <a:gd name="adj" fmla="val 823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" y="5568696"/>
            <a:ext cx="5230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 HTML · internetsiz · 26 grafik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" y="5890565"/>
            <a:ext cx="52303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USB'den açılır; sunum salonunda ağ riski yok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72200" y="5486400"/>
            <a:ext cx="5486400" cy="777240"/>
          </a:xfrm>
          <a:prstGeom prst="roundRect">
            <a:avLst>
              <a:gd name="adj" fmla="val 823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0216" y="5568696"/>
            <a:ext cx="5230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 sayı yeniden üretilebilir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300216" y="5890565"/>
            <a:ext cx="52303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build_dashboard.py → aynı dosya, aynı sayılar (deterministik)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YAPAY ZEKÂ TAHMİN MOTORU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Hibrit ve dürüst: istatistik zemin, öğrenme üstyapı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Mimari: λ = istatistiksel taban × e^(ağ düzeltmesi) — ağ tabanı en çok ~×1,65 oynatabilir; seyrek veride savrulmayı önler.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128-64-32 · 54 özellik · 10.000 örnek · Poisson kaybı · 3 tohumlu topluluk · en iyi epoch geri yüklenir · koşudan koşuya deterministik.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düzeyinde talep kesikli (medyan 11 adet/yıl, %14,6 sıfır çeyrek) → Croston/SBA + Poisson emniyet stoğu; sinir ağı bugün karar YETKİSİZ (öneri modu).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ana senaryo: öncül analog gruptan + üretici MTBUR; gözlem geldikçe Bayes güncellemesi parçaya yakınsar (dashboard'da canlı demo).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09360" y="1691640"/>
          <a:ext cx="5349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51206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Mevsim katsayısı (×1,20) toplam hatayı %16,3 → %0,4'e indirir. PN düzeyinde fark yaratmaz (kesiklilik) — iki düzey ayrı yönetilir: parçada Croston/SBA, bütçede mevsim düzeltmesi.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MAKET DEĞİL — DOĞRULAMA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çekirdek, üç bağımsız kanıt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3602736" cy="3383280"/>
          </a:xfrm>
          <a:prstGeom prst="roundRect">
            <a:avLst>
              <a:gd name="adj" fmla="val 1892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%97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04088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formülü sahada doğru çıktı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" y="34564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 talep + TAT'tan tamir döngüsünde 8.012 adet öngördük; envanter verisi geldi: 7.800 adet. Slider ve senaryolar bu motoru kullanır.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88536" y="1737360"/>
            <a:ext cx="3602736" cy="3383280"/>
          </a:xfrm>
          <a:prstGeom prst="roundRect">
            <a:avLst>
              <a:gd name="adj" fmla="val 1892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9704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numara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489704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skorunun birincisi fiilen kırmızı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89704" y="34564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sıralamasının 1 numarası PN-101741, gerçek stok verisinde TTS 99,5 &lt; TTR 130 ile kırmızıda — üstelik biri el yordamıyla fark edip 14 adet sipariş açmış.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74152" y="1737360"/>
            <a:ext cx="3602736" cy="3383280"/>
          </a:xfrm>
          <a:prstGeom prst="roundRect">
            <a:avLst>
              <a:gd name="adj" fmla="val 1892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%0,4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275320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Görmediği çeyreği bildi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75320" y="34564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Geriye dönük test: yılın ilk yarısıyla Q3 toplamı tahmin edildi — mevsim katsayılı model gerçek toplamı binde 4 hata ile buldu.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7368"/>
            </a:avLst>
          </a:prstGeom>
          <a:solidFill>
            <a:srgbClr val="182338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doğrulaması:  </a:t>
            </a:r>
            <a:pPr indent="0" marL="0">
              <a:buNone/>
            </a:pPr>
            <a:r>
              <a:rPr lang="en-US" sz="12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denemelik simülasyon, kapalı form Poisson hesabıyla %99,5 uyumda — belirsizlik bandıyla birlikte raporlanır (baz: 371–408 PN).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ÖNCELİKLENDİRME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Kısıtlı kaynakla önce ne? Matematiksel cevap</a:t>
            </a:r>
            <a:endParaRPr lang="en-US" sz="3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9164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5120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alım adımı “dolar başına risk azaltımı”yla sıralandı (kritiklik × stok-out olasılığı ÷ fiyat). Eğrinin dikliği: ilk birkaç milyon dolar kazanımın büyük bölümünü alır — tamamı 39,1 M$.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63640" y="16916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91656" y="1773936"/>
            <a:ext cx="513892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12,1 M$/yıl + 4,0 M$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391656" y="2333549"/>
            <a:ext cx="51389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kabiliyet yatırımı (547 PN listesi): yıllık tamir tasarrufu + bir defalık sermaye serbestisi — bugünkü dış harcama 33,6 M$/yıl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263640" y="31089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91656" y="3191256"/>
            <a:ext cx="513892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23,2 – 44,8 M$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391656" y="3750869"/>
            <a:ext cx="51389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duyarlılık (tornado): 2033 açığı maliyetini en çok TEDARİK SÜRELERİ oynatır (±%20) — “TAT'ın her günü sermayedir”in sayısal kanıtı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63640" y="4526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91656" y="4608576"/>
            <a:ext cx="513892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 1: salt-okunur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391656" y="5168189"/>
            <a:ext cx="51389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ilk adım yazılım riski almaz: birleşik kayıt + alarm raporu; ilk teslimat gününde 72 siparişsiz kırmızı yakalanır — kapılar takvim değil metrik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VİZYON · KRİZLERE HAZIRLIK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Kriz, modelde bir parametre şokudur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5778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755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 AİLESİ KRİZİ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02082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nesil talep ×1,5 · dış TAT ×1,3 — 2033 filosunun %64'ü 5 modelde: yoğunlaşma verim kadar risk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532888"/>
            <a:ext cx="55778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596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PANDEMİ TİPİ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286207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 şoku + tamir kapasitesi kaybı (TTR ×1,5)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3374136"/>
            <a:ext cx="55778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4381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OEM GECİKMESİ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370332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klasikler geç emekli: phase-out tetikleri kendiliğinden yavaşlar — takvim planı çökerdi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4215384"/>
            <a:ext cx="55778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2793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LOJİSTİK KRİZİ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5800" y="454456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dış TAT + satın alma kuyrukları uzar (270 gün hatırlatması)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5056632"/>
            <a:ext cx="55778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 ŞOKU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" y="538581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parçalar USD: FMV/CLP sensörü + nakit koruma modunda BER eşiği bilinçli kaydırılır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00800" y="169164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28816" y="1773936"/>
            <a:ext cx="5001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→ 477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528816" y="2404872"/>
            <a:ext cx="5001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krizinde kırmızı PN (canlı stres testi, 5.000 PN yeniden hesap)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00800" y="324612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28816" y="3328416"/>
            <a:ext cx="5001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796 PN · 39,4 M$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6528816" y="3959352"/>
            <a:ext cx="5001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aynı senaryoda: tedarik penceresini çıkaramayacak PN ve ek ihtiyaç (P90: 41,4 M$)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00800" y="48006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28816" y="4882896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Çeyreklik war-game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528816" y="5466283"/>
            <a:ext cx="5001768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çeyrek bir senaryo canlı koşulur; playbook (tahsis kuralları, ön yetkiler) krizden ÖNCE yazılır — kriz anında ilk kez düşünülmez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516636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40233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BAŞARI KRİTERLERİ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Çalıştığını nasıl anlarız?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92938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AOG uçak oranı ↓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262432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parça kaynaklı AOG saati ve yerde bekleyen uçak yüzdesi — ANA METRİK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0440" y="192938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→ 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520440" y="262432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siparişsiz kırmızı: alarm-aksiyon bağı zorunlu; “alarm var sipariş yok” imkânsızlaşır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08776" y="178308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192938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%97–98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73368" y="262432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 parça karşılama oranı (fill rate) — servis hedefi kritiklikle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61704" y="178308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26296" y="192938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Erken yakalama ↑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226296" y="262432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bitişlerinin tedarik süresi DOLMADAN yakalanma oranı — alarm kalitesi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38862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" y="403250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8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 + kabul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7512" y="472744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tahmin doğruluğu ve öneri kabul oranı — faz kapıları bu eşiklerle açılır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55848" y="38862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0440" y="403250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Guard-rail: 23,3 M$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520440" y="472744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bağlı sermaye ve devir hızı: servis, sermaye şişirerek değil TAT kısaltarak korunur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08776" y="38862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73368" y="403250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Expedite ↓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373368" y="472744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 yakalanan alarm ucuz kanaldan çözülür; acil kargo harcaması düşer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61704" y="3886200"/>
            <a:ext cx="2670048" cy="1874520"/>
          </a:xfrm>
          <a:prstGeom prst="roundRect">
            <a:avLst>
              <a:gd name="adj" fmla="val 3415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26296" y="4032504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 izlenir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226296" y="472744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 %11,1 + anomali dedektörü (159 PN); BER kuralı 67,8 M$/yıl musluğun vanası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818388"/>
            <a:ext cx="82296" cy="82296"/>
          </a:xfrm>
          <a:prstGeom prst="rect">
            <a:avLst/>
          </a:prstGeom>
          <a:solidFill>
            <a:srgbClr val="4FC1B0"/>
          </a:solidFill>
          <a:ln/>
        </p:spPr>
      </p:sp>
      <p:sp>
        <p:nvSpPr>
          <p:cNvPr id="4" name="Text 1"/>
          <p:cNvSpPr/>
          <p:nvPr/>
        </p:nvSpPr>
        <p:spPr>
          <a:xfrm>
            <a:off x="649224" y="7040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C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KAPANIŞ · VİZYON 2033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11155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“2033'e daha büyük bir depoyla değil; her parçanın görünür, her kararın kurallı, her planın parametrik ve her krizin önceden prova edilmiş olduğu bir işletim modeliyle gidilir.”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Kulesi, bu modelin yazılım hâlidir.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794760"/>
            <a:ext cx="3602736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3877056"/>
            <a:ext cx="334670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67,8 M$/yıl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0936" y="4531766"/>
            <a:ext cx="3346704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hurda ikame musluğu — BER kuralıyla vanaya bağlanır (2033: 113,6 M$)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8536" y="3794760"/>
            <a:ext cx="3602736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6552" y="3877056"/>
            <a:ext cx="334670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23,3 → 39,0 M$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16552" y="4531766"/>
            <a:ext cx="3346704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tamir döngüsü sermayesi — TAT programı + kabiliyetle sınırlanır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74152" y="3794760"/>
            <a:ext cx="3602736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2700">
            <a:solidFill>
              <a:srgbClr val="2634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3877056"/>
            <a:ext cx="334670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8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52,0 M$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02168" y="4531766"/>
            <a:ext cx="3346704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phase-out stoğu — takvimle değil sinyalle eritilir (last-time-buy tetikleri)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55778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 — canlı demo ve tüm sayıların yeniden üretimi için hazırız.  ·  Grup 3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Tüm veriler sentetik / temsili resmi case setleridir — gerçek THY/AMOS verisi değildir.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2026-07-22T20:53:56Z</dcterms:created>
  <dcterms:modified xsi:type="dcterms:W3CDTF">2026-07-22T20:53:56Z</dcterms:modified>
</cp:coreProperties>
</file>